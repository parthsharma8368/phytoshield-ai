
<file path=[Content_Types].xml><?xml version="1.0" encoding="utf-8"?>
<Types xmlns="http://schemas.openxmlformats.org/package/2006/content-types">
  <Default Extension="png" ContentType="image/png"/>
  <Default Extension="rels" ContentType="application/vnd.openxmlformats-package.relationships+xml"/>
  <Default Extension="xlsx" ContentType="application/vnd.openxmlformats-officedocument.spreadsheetml.sheet"/>
  <Default Extension="xml" ContentType="application/xml"/>
  <Override PartName="/docProps/app.xml" ContentType="application/vnd.openxmlformats-officedocument.extended-properties+xml"/>
  <Override PartName="/docProps/core.xml" ContentType="application/vnd.openxmlformats-package.core-properties+xml"/>
  <Override PartName="/ppt/charts/chart1.xml" ContentType="application/vnd.openxmlformats-officedocument.drawingml.chart+xml"/>
  <Override PartName="/ppt/charts/chart2.xml" ContentType="application/vnd.openxmlformats-officedocument.drawingml.chart+xml"/>
  <Override PartName="/ppt/charts/chart3.xml" ContentType="application/vnd.openxmlformats-officedocument.drawingml.chart+xml"/>
  <Override PartName="/ppt/charts/chart4.xml" ContentType="application/vnd.openxmlformats-officedocument.drawingml.chart+xml"/>
  <Override PartName="/ppt/charts/chart5.xml" ContentType="application/vnd.openxmlformats-officedocument.drawingml.chart+xml"/>
  <Override PartName="/ppt/charts/chart6.xml" ContentType="application/vnd.openxmlformats-officedocument.drawingml.chart+xml"/>
  <Override PartName="/ppt/media/image-14-1.jpg" ContentType="image/jpg"/>
  <Override PartName="/ppt/media/image-14-2.jpg" ContentType="image/jpg"/>
  <Override PartName="/ppt/media/image-15-1.jpg" ContentType="image/jpg"/>
  <Override PartName="/ppt/media/image-16-1.jpg" ContentType="image/jpg"/>
  <Override PartName="/ppt/media/image-25-1.jpg" ContentType="image/jpg"/>
  <Override PartName="/ppt/media/image-3-1.jpg" ContentType="image/jpg"/>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extended-properties" Target="docProps/app.xml"/><Relationship Id="rId2" Type="http://schemas.openxmlformats.org/package/2006/relationships/metadata/core-properties" Target="docProps/core.xml"/><Relationship Id="rId3"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Lst>
  <p:notesMasterIdLst>
    <p:notesMasterId r:id="rId33"/>
  </p:notesMasterIdLst>
  <p:sldSz cx="9144000" cy="5143500"/>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Introduction" id="{515df7a2-c350-77ec-5b2e-c5bcb2c9c92b}">
          <p14:sldIdLst>
            <p14:sldId id="256"/>
            <p14:sldId id="257"/>
            <p14:sldId id="258"/>
          </p14:sldIdLst>
        </p14:section>
        <p14:section name="Data" id="{95f80436-9b4f-8176-cda1-73ccb8938b72}">
          <p14:sldIdLst>
            <p14:sldId id="259"/>
            <p14:sldId id="260"/>
            <p14:sldId id="261"/>
            <p14:sldId id="262"/>
          </p14:sldIdLst>
        </p14:section>
        <p14:section name="Model" id="{c18a3ab9-2c48-7221-dca2-c06dc49b79ab}">
          <p14:sldIdLst>
            <p14:sldId id="263"/>
            <p14:sldId id="264"/>
            <p14:sldId id="265"/>
            <p14:sldId id="266"/>
          </p14:sldIdLst>
        </p14:section>
        <p14:section name="System" id="{d1b7e97b-90e2-13f6-6df6-69dda123bcb6}">
          <p14:sldIdLst>
            <p14:sldId id="267"/>
            <p14:sldId id="268"/>
            <p14:sldId id="269"/>
            <p14:sldId id="270"/>
            <p14:sldId id="271"/>
          </p14:sldIdLst>
        </p14:section>
        <p14:section name="Results" id="{0812c7f9-7553-2db8-a166-809b39d0f47b}">
          <p14:sldIdLst>
            <p14:sldId id="272"/>
            <p14:sldId id="273"/>
          </p14:sldIdLst>
        </p14:section>
        <p14:section name="Explainability" id="{c1d6022c-5753-df49-74b7-6f7e3e17e1d6}">
          <p14:sldIdLst>
            <p14:sldId id="274"/>
            <p14:sldId id="275"/>
            <p14:sldId id="276"/>
            <p14:sldId id="277"/>
            <p14:sldId id="278"/>
          </p14:sldIdLst>
        </p14:section>
        <p14:section name="Evaluation" id="{9bcfaafb-f746-d1d1-0889-8b1ded271426}">
          <p14:sldIdLst>
            <p14:sldId id="279"/>
            <p14:sldId id="280"/>
            <p14:sldId id="281"/>
            <p14:sldId id="282"/>
            <p14:sldId id="283"/>
          </p14:sldIdLst>
        </p14:section>
        <p14:section name="Wrap-up" id="{944f4128-4744-e02f-892e-3d00e6bdd2f3}">
          <p14:sldIdLst>
            <p14:sldId id="284"/>
            <p14:sldId id="285"/>
            <p14:sldId id="286"/>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slide" Target="slides/slide28.xml"/><Relationship Id="rId30" Type="http://schemas.openxmlformats.org/officeDocument/2006/relationships/slide" Target="slides/slide29.xml"/><Relationship Id="rId31" Type="http://schemas.openxmlformats.org/officeDocument/2006/relationships/slide" Target="slides/slide30.xml"/><Relationship Id="rId32" Type="http://schemas.openxmlformats.org/officeDocument/2006/relationships/slide" Target="slides/slide31.xml"/><Relationship Id="rId33" Type="http://schemas.openxmlformats.org/officeDocument/2006/relationships/notesMaster" Target="notesMasters/notesMaster1.xml"/><Relationship Id="rId34" Type="http://schemas.openxmlformats.org/officeDocument/2006/relationships/presProps" Target="presProps.xml"/><Relationship Id="rId35" Type="http://schemas.openxmlformats.org/officeDocument/2006/relationships/viewProps" Target="viewProps.xml"/><Relationship Id="rId36" Type="http://schemas.openxmlformats.org/officeDocument/2006/relationships/theme" Target="theme/theme1.xml"/><Relationship Id="rId37" Type="http://schemas.openxmlformats.org/officeDocument/2006/relationships/tableStyles" Target="tableStyles.xml"/></Relationships>
</file>

<file path=ppt/charts/_rels/chart1.xml.rels><?xml version='1.0' encoding='UTF-8' standalone='yes'?>
<Relationships xmlns="http://schemas.openxmlformats.org/package/2006/relationships"><Relationship Id="rId1" Type="http://schemas.openxmlformats.org/officeDocument/2006/relationships/package" Target="../embeddings/Microsoft_Excel_Worksheet1.xlsx"/></Relationships>
</file>

<file path=ppt/charts/_rels/chart2.xml.rels><?xml version='1.0' encoding='UTF-8' standalone='yes'?>
<Relationships xmlns="http://schemas.openxmlformats.org/package/2006/relationships"><Relationship Id="rId1" Type="http://schemas.openxmlformats.org/officeDocument/2006/relationships/package" Target="../embeddings/Microsoft_Excel_Worksheet2.xlsx"/></Relationships>
</file>

<file path=ppt/charts/_rels/chart3.xml.rels><?xml version='1.0' encoding='UTF-8' standalone='yes'?>
<Relationships xmlns="http://schemas.openxmlformats.org/package/2006/relationships"><Relationship Id="rId1" Type="http://schemas.openxmlformats.org/officeDocument/2006/relationships/package" Target="../embeddings/Microsoft_Excel_Worksheet3.xlsx"/></Relationships>
</file>

<file path=ppt/charts/_rels/chart4.xml.rels><?xml version='1.0' encoding='UTF-8' standalone='yes'?>
<Relationships xmlns="http://schemas.openxmlformats.org/package/2006/relationships"><Relationship Id="rId1" Type="http://schemas.openxmlformats.org/officeDocument/2006/relationships/package" Target="../embeddings/Microsoft_Excel_Worksheet4.xlsx"/></Relationships>
</file>

<file path=ppt/charts/_rels/chart5.xml.rels><?xml version='1.0' encoding='UTF-8' standalone='yes'?>
<Relationships xmlns="http://schemas.openxmlformats.org/package/2006/relationships"><Relationship Id="rId1" Type="http://schemas.openxmlformats.org/officeDocument/2006/relationships/package" Target="../embeddings/Microsoft_Excel_Worksheet5.xlsx"/></Relationships>
</file>

<file path=ppt/charts/_rels/chart6.xml.rels><?xml version='1.0' encoding='UTF-8' standalone='yes'?>
<Relationships xmlns="http://schemas.openxmlformats.org/package/2006/relationships"><Relationship Id="rId1" Type="http://schemas.openxmlformats.org/officeDocument/2006/relationships/package" Target="../embeddings/Microsoft_Excel_Worksheet6.xlsx"/></Relationships>
</file>

<file path=ppt/charts/chart1.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300" b="0" i="0" u="none" strike="noStrike">
                <a:solidFill>
                  <a:srgbClr val="13261C"/>
                </a:solidFill>
                <a:latin typeface="Arial"/>
              </a:defRPr>
            </a:pPr>
            <a:r>
              <a:rPr sz="1300" b="0" i="0" u="none" strike="noStrike">
                <a:solidFill>
                  <a:srgbClr val="13261C"/>
                </a:solidFill>
                <a:latin typeface="Arial"/>
              </a:rPr>
              <a:t>41,276 files in the download</a:t>
            </a:r>
          </a:p>
        </c:rich>
      </c:tx>
      <c:layout/>
      <c:overlay val="0"/>
    </c:title>
    <c:autoTitleDeleted val="0"/>
    <c:plotArea>
      <c:layout/>
      <c:doughnutChart>
        <c:varyColors val="1"/>
        <c:ser>
          <c:idx val="0"/>
          <c:order val="0"/>
          <c:tx>
            <c:strRef>
              <c:f>Sheet1!$B$1</c:f>
              <c:strCache>
                <c:ptCount val="1"/>
                <c:pt idx="0">
                  <c:v>Files</c:v>
                </c:pt>
              </c:strCache>
            </c:strRef>
          </c:tx>
          <c:spPr>
            <a:solidFill>
              <a:schemeClr val="accent1"/>
            </a:solidFill>
            <a:ln w="9525" cap="flat">
              <a:solidFill>
                <a:srgbClr val="F9F9F9"/>
              </a:solidFill>
              <a:prstDash val="solid"/>
              <a:round/>
            </a:ln>
            <a:effectLst/>
          </c:spPr>
          <c:dPt>
            <c:idx val="0"/>
            <c:bubble3D val="0"/>
            <c:spPr>
              <a:solidFill>
                <a:srgbClr val="1F8A5B"/>
              </a:solidFill>
              <a:effectLst/>
            </c:spPr>
          </c:dPt>
          <c:dPt>
            <c:idx val="1"/>
            <c:bubble3D val="0"/>
            <c:spPr>
              <a:solidFill>
                <a:srgbClr val="C94A36"/>
              </a:solidFill>
              <a:effectLst/>
            </c:spPr>
          </c:dPt>
          <c:dLbls>
            <c:dLbl>
              <c:idx val="0"/>
              <c:numFmt formatCode="0%" sourceLinked="0"/>
              <c:spPr/>
              <c:txPr>
                <a:bodyPr/>
                <a:lstStyle/>
                <a:p>
                  <a:pPr>
                    <a:defRPr sz="1300" b="0" i="0" u="none" strike="noStrike">
                      <a:solidFill>
                        <a:srgbClr val="FFFFFF"/>
                      </a:solidFill>
                      <a:latin typeface="Arial"/>
                    </a:defRPr>
                  </a:pPr>
                </a:p>
              </c:txPr>
              <c:showLegendKey val="0"/>
              <c:showVal val="0"/>
              <c:showCatName val="0"/>
              <c:showSerName val="0"/>
              <c:showPercent val="1"/>
              <c:showBubbleSize val="0"/>
            </c:dLbl>
            <c:dLbl>
              <c:idx val="1"/>
              <c:numFmt formatCode="0%" sourceLinked="0"/>
              <c:spPr/>
              <c:txPr>
                <a:bodyPr/>
                <a:lstStyle/>
                <a:p>
                  <a:pPr>
                    <a:defRPr sz="1300" b="0" i="0" u="none" strike="noStrike">
                      <a:solidFill>
                        <a:srgbClr val="FFFFFF"/>
                      </a:solidFill>
                      <a:latin typeface="Arial"/>
                    </a:defRPr>
                  </a:pPr>
                </a:p>
              </c:txPr>
              <c:showLegendKey val="0"/>
              <c:showVal val="0"/>
              <c:showCatName val="0"/>
              <c:showSerName val="0"/>
              <c:showPercent val="1"/>
              <c:showBubbleSize val="0"/>
            </c:dLbl>
            <c:numFmt formatCode="0%" sourceLinked="0"/>
            <c:txPr>
              <a:bodyPr/>
              <a:lstStyle/>
              <a:p>
                <a:pPr>
                  <a:defRPr sz="1800" b="0" i="0" u="none" strike="noStrike">
                    <a:solidFill>
                      <a:srgbClr val="000000"/>
                    </a:solidFill>
                    <a:latin typeface="Arial"/>
                  </a:defRPr>
                </a:pPr>
              </a:p>
            </c:txPr>
            <c:showLegendKey val="0"/>
            <c:showVal val="0"/>
            <c:showCatName val="1"/>
            <c:showSerName val="0"/>
            <c:showPercent val="1"/>
            <c:showBubbleSize val="0"/>
            <c:showLeaderLines val="0"/>
          </c:dLbls>
          <c:cat>
            <c:strRef>
              <c:f>Sheet1!$A$2:$A$3</c:f>
              <c:strCache>
                <c:ptCount val="2"/>
                <c:pt idx="0">
                  <c:v>Unique images</c:v>
                </c:pt>
                <c:pt idx="1">
                  <c:v>Byte-identical duplicates</c:v>
                </c:pt>
              </c:strCache>
            </c:strRef>
          </c:cat>
          <c:val>
            <c:numRef>
              <c:f>Sheet1!$B$2:$B$3</c:f>
              <c:numCache>
                <c:ptCount val="2"/>
                <c:pt idx="0">
                  <c:v>20624</c:v>
                </c:pt>
                <c:pt idx="1">
                  <c:v>20652</c:v>
                </c:pt>
              </c:numCache>
            </c:numRef>
          </c:val>
        </c:ser>
        <c:firstSliceAng val="0"/>
        <c:holeSize val="58"/>
      </c:doughnutChart>
      <c:spPr>
        <a:noFill/>
        <a:ln>
          <a:noFill/>
        </a:ln>
        <a:effectLst/>
      </c:spPr>
    </c:plotArea>
    <c:legend>
      <c:legendPos val="b"/>
      <c:overlay val="0"/>
      <c:txPr>
        <a:bodyPr/>
        <a:lstStyle/>
        <a:p>
          <a:pPr>
            <a:defRPr sz="1200">
              <a:solidFill>
                <a:srgbClr val="13261C"/>
              </a:solidFill>
            </a:defRPr>
          </a:pPr>
          <a:endParaRPr lang="en-US"/>
        </a:p>
      </c:txPr>
    </c:legend>
    <c:plotVisOnly val="1"/>
    <c:dispBlanksAs val="span"/>
  </c:chart>
  <c:spPr>
    <a:noFill/>
    <a:ln>
      <a:noFill/>
    </a:ln>
    <a:effectLst/>
  </c:spPr>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400" b="0" i="0" u="none" strike="noStrike">
                <a:solidFill>
                  <a:srgbClr val="13261C"/>
                </a:solidFill>
                <a:latin typeface="Arial"/>
              </a:defRPr>
            </a:pPr>
            <a:r>
              <a:rPr sz="1400" b="0" i="0" u="none" strike="noStrike">
                <a:solidFill>
                  <a:srgbClr val="13261C"/>
                </a:solidFill>
                <a:latin typeface="Arial"/>
              </a:rPr>
              <a:t>Images per split</a:t>
            </a:r>
          </a:p>
        </c:rich>
      </c:tx>
      <c:layout/>
      <c:overlay val="0"/>
    </c:title>
    <c:autoTitleDeleted val="0"/>
    <c:plotArea>
      <c:layout/>
      <c:barChart>
        <c:barDir val="col"/>
        <c:grouping val="clustered"/>
        <c:varyColors val="0"/>
        <c:ser>
          <c:idx val="0"/>
          <c:order val="0"/>
          <c:tx>
            <c:strRef>
              <c:f>Sheet1!$B$1</c:f>
              <c:strCache>
                <c:ptCount val="1"/>
                <c:pt idx="0">
                  <c:v>Images</c:v>
                </c:pt>
              </c:strCache>
            </c:strRef>
          </c:tx>
          <c:spPr>
            <a:solidFill>
              <a:srgbClr val="1F8A5B"/>
            </a:solidFill>
            <a:effectLst/>
          </c:spPr>
          <c:invertIfNegative val="0"/>
          <c:dLbls>
            <c:numFmt formatCode="#,##0" sourceLinked="0"/>
            <c:txPr>
              <a:bodyPr/>
              <a:lstStyle/>
              <a:p>
                <a:pPr>
                  <a:defRPr b="0" i="0" strike="noStrike" sz="1200" u="none">
                    <a:solidFill>
                      <a:srgbClr val="13261C"/>
                    </a:solidFill>
                    <a:latin typeface="Arial"/>
                  </a:defRPr>
                </a:pPr>
              </a:p>
            </c:txPr>
            <c:showLegendKey val="0"/>
            <c:showVal val="1"/>
            <c:showCatName val="0"/>
            <c:showSerName val="0"/>
            <c:showPercent val="0"/>
            <c:showBubbleSize val="0"/>
            <c:showLeaderLines val="0"/>
          </c:dLbls>
          <c:dPt>
            <c:idx val="0"/>
            <c:invertIfNegative val="0"/>
            <c:bubble3D val="0"/>
            <c:spPr>
              <a:solidFill>
                <a:srgbClr val="1F8A5B"/>
              </a:solidFill>
              <a:effectLst/>
            </c:spPr>
          </c:dPt>
          <c:dPt>
            <c:idx val="1"/>
            <c:invertIfNegative val="0"/>
            <c:bubble3D val="0"/>
            <c:spPr>
              <a:solidFill>
                <a:srgbClr val="2F7DA8"/>
              </a:solidFill>
              <a:effectLst/>
            </c:spPr>
          </c:dPt>
          <c:dPt>
            <c:idx val="2"/>
            <c:invertIfNegative val="0"/>
            <c:bubble3D val="0"/>
            <c:spPr>
              <a:solidFill>
                <a:srgbClr val="D99A16"/>
              </a:solidFill>
              <a:effectLst/>
            </c:spPr>
          </c:dPt>
          <c:cat>
            <c:multiLvlStrRef>
              <c:f>Sheet1!$A$2:$A$4</c:f>
              <c:multiLvlStrCache>
                <c:ptCount val="3"/>
                <c:lvl>
                  <c:pt idx="0">
                    <c:v>Train</c:v>
                  </c:pt>
                  <c:pt idx="1">
                    <c:v>Validation</c:v>
                  </c:pt>
                  <c:pt idx="2">
                    <c:v>Test</c:v>
                  </c:pt>
                </c:lvl>
              </c:multiLvlStrCache>
            </c:multiLvlStrRef>
          </c:cat>
          <c:val>
            <c:numRef>
              <c:f>Sheet1!$B$2:$B$4</c:f>
              <c:numCache>
                <c:formatCode>General</c:formatCode>
                <c:ptCount val="3"/>
                <c:pt idx="0">
                  <c:v>14430</c:v>
                </c:pt>
                <c:pt idx="1">
                  <c:v>3087</c:v>
                </c:pt>
                <c:pt idx="2">
                  <c:v>3107</c:v>
                </c:pt>
              </c:numCache>
            </c:numRef>
          </c:val>
        </c:ser>
        <c:dLbls>
          <c:numFmt formatCode="#,##0" sourceLinked="0"/>
          <c:txPr>
            <a:bodyPr/>
            <a:lstStyle/>
            <a:p>
              <a:pPr>
                <a:defRPr b="0" i="0" strike="noStrike" sz="1200" u="none">
                  <a:solidFill>
                    <a:srgbClr val="13261C"/>
                  </a:solidFill>
                  <a:latin typeface="Arial"/>
                </a:defRPr>
              </a:pPr>
            </a:p>
          </c:txPr>
          <c:showLegendKey val="0"/>
          <c:showVal val="1"/>
          <c:showCatName val="0"/>
          <c:showSerName val="0"/>
          <c:showPercent val="0"/>
          <c:showBubbleSize val="0"/>
          <c:showLeaderLines val="0"/>
        </c:dLbls>
        <c:gapWidth val="150"/>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200" b="0" i="0" u="none" strike="noStrike">
                <a:solidFill>
                  <a:srgbClr val="13261C"/>
                </a:solidFill>
                <a:latin typeface="Arial"/>
              </a:defRPr>
            </a:pPr>
            <a:endParaRPr lang="en-US"/>
          </a:p>
        </c:txPr>
        <c:crossAx val="2094734552"/>
        <c:crosses val="autoZero"/>
        <c:auto val="1"/>
        <c:lblAlgn val="ctr"/>
        <c:noMultiLvlLbl val="1"/>
      </c:catAx>
      <c:valAx>
        <c:axId val="2094734552"/>
        <c:scaling>
          <c:orientation val="minMax"/>
        </c:scaling>
        <c:delete val="1"/>
        <c:axPos val="l"/>
        <c:numFmt formatCode="General" sourceLinked="0"/>
        <c:majorTickMark val="out"/>
        <c:minorTickMark val="none"/>
        <c:tickLblPos val="nextTo"/>
        <c:spPr>
          <a:ln w="12700" cap="flat">
            <a:solidFill>
              <a:srgbClr val="888888"/>
            </a:solidFill>
            <a:prstDash val="solid"/>
            <a:round/>
          </a:ln>
        </c:spPr>
        <c:txPr>
          <a:bodyPr/>
          <a:lstStyle/>
          <a:p>
            <a:pPr>
              <a:defRPr sz="1200" b="0" i="0" u="none" strike="noStrike">
                <a:solidFill>
                  <a:srgbClr val="000000"/>
                </a:solidFill>
                <a:latin typeface="Arial"/>
              </a:defRPr>
            </a:pPr>
            <a:endParaRPr lang="en-US"/>
          </a:p>
        </c:txPr>
        <c:crossAx val="2094734554"/>
        <c:crosses val="autoZero"/>
        <c:crossBetween val="between"/>
      </c:valAx>
      <c:spPr>
        <a:noFill/>
        <a:ln>
          <a:noFill/>
        </a:ln>
        <a:effectLst/>
      </c:spPr>
    </c:plotArea>
    <c:plotVisOnly val="1"/>
    <c:dispBlanksAs val="span"/>
  </c:chart>
  <c:spPr>
    <a:noFill/>
    <a:ln>
      <a:noFill/>
    </a:ln>
    <a:effectLst/>
  </c:spPr>
  <c:externalData r:id="rId1">
    <c:autoUpdate val="0"/>
  </c:externalData>
</c:chartSpace>
</file>

<file path=ppt/charts/chart3.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200" b="0" i="0" u="none" strike="noStrike">
                <a:solidFill>
                  <a:srgbClr val="13261C"/>
                </a:solidFill>
                <a:latin typeface="Arial"/>
              </a:defRPr>
            </a:pPr>
            <a:r>
              <a:rPr sz="1200" b="0" i="0" u="none" strike="noStrike">
                <a:solidFill>
                  <a:srgbClr val="13261C"/>
                </a:solidFill>
                <a:latin typeface="Arial"/>
              </a:rPr>
              <a:t>GFLOPs per image (lower = cheaper)</a:t>
            </a:r>
          </a:p>
        </c:rich>
      </c:tx>
      <c:layout/>
      <c:overlay val="0"/>
    </c:title>
    <c:autoTitleDeleted val="0"/>
    <c:plotArea>
      <c:layout/>
      <c:barChart>
        <c:barDir val="bar"/>
        <c:grouping val="clustered"/>
        <c:varyColors val="0"/>
        <c:ser>
          <c:idx val="0"/>
          <c:order val="0"/>
          <c:tx>
            <c:strRef>
              <c:f>Sheet1!$B$1</c:f>
              <c:strCache>
                <c:ptCount val="1"/>
                <c:pt idx="0">
                  <c:v>GFLOPs</c:v>
                </c:pt>
              </c:strCache>
            </c:strRef>
          </c:tx>
          <c:spPr>
            <a:solidFill>
              <a:srgbClr val="6B7F75"/>
            </a:solidFill>
            <a:effectLst/>
          </c:spPr>
          <c:invertIfNegative val="0"/>
          <c:dLbls>
            <c:numFmt formatCode="0.00" sourceLinked="0"/>
            <c:txPr>
              <a:bodyPr/>
              <a:lstStyle/>
              <a:p>
                <a:pPr>
                  <a:defRPr b="0" i="0" strike="noStrike" sz="1200" u="none">
                    <a:solidFill>
                      <a:srgbClr val="13261C"/>
                    </a:solidFill>
                    <a:latin typeface="Arial"/>
                  </a:defRPr>
                </a:pPr>
              </a:p>
            </c:txPr>
            <c:showLegendKey val="0"/>
            <c:showVal val="1"/>
            <c:showCatName val="0"/>
            <c:showSerName val="0"/>
            <c:showPercent val="0"/>
            <c:showBubbleSize val="0"/>
            <c:showLeaderLines val="0"/>
          </c:dLbls>
          <c:dPt>
            <c:idx val="0"/>
            <c:invertIfNegative val="0"/>
            <c:bubble3D val="0"/>
            <c:spPr>
              <a:solidFill>
                <a:srgbClr val="6B7F75"/>
              </a:solidFill>
              <a:effectLst/>
            </c:spPr>
          </c:dPt>
          <c:dPt>
            <c:idx val="1"/>
            <c:invertIfNegative val="0"/>
            <c:bubble3D val="0"/>
            <c:spPr>
              <a:solidFill>
                <a:srgbClr val="1F8A5B"/>
              </a:solidFill>
              <a:effectLst/>
            </c:spPr>
          </c:dPt>
          <c:dPt>
            <c:idx val="2"/>
            <c:invertIfNegative val="0"/>
            <c:bubble3D val="0"/>
            <c:spPr>
              <a:solidFill>
                <a:srgbClr val="6B7F75"/>
              </a:solidFill>
              <a:effectLst/>
            </c:spPr>
          </c:dPt>
          <c:dPt>
            <c:idx val="3"/>
            <c:invertIfNegative val="0"/>
            <c:bubble3D val="0"/>
            <c:spPr>
              <a:solidFill>
                <a:srgbClr val="6B7F75"/>
              </a:solidFill>
              <a:effectLst/>
            </c:spPr>
          </c:dPt>
          <c:cat>
            <c:multiLvlStrRef>
              <c:f>Sheet1!$A$2:$A$5</c:f>
              <c:multiLvlStrCache>
                <c:ptCount val="4"/>
                <c:lvl>
                  <c:pt idx="0">
                    <c:v>MobileNetV3-Large</c:v>
                  </c:pt>
                  <c:pt idx="1">
                    <c:v>EfficientNet-B0</c:v>
                  </c:pt>
                  <c:pt idx="2">
                    <c:v>DenseNet-121</c:v>
                  </c:pt>
                  <c:pt idx="3">
                    <c:v>ResNet-50</c:v>
                  </c:pt>
                </c:lvl>
              </c:multiLvlStrCache>
            </c:multiLvlStrRef>
          </c:cat>
          <c:val>
            <c:numRef>
              <c:f>Sheet1!$B$2:$B$5</c:f>
              <c:numCache>
                <c:formatCode>General</c:formatCode>
                <c:ptCount val="4"/>
                <c:pt idx="0">
                  <c:v>0.22</c:v>
                </c:pt>
                <c:pt idx="1">
                  <c:v>0.38</c:v>
                </c:pt>
                <c:pt idx="2">
                  <c:v>2.83</c:v>
                </c:pt>
                <c:pt idx="3">
                  <c:v>4.09</c:v>
                </c:pt>
              </c:numCache>
            </c:numRef>
          </c:val>
        </c:ser>
        <c:dLbls>
          <c:numFmt formatCode="0.00" sourceLinked="0"/>
          <c:txPr>
            <a:bodyPr/>
            <a:lstStyle/>
            <a:p>
              <a:pPr>
                <a:defRPr b="0" i="0" strike="noStrike" sz="1200" u="none">
                  <a:solidFill>
                    <a:srgbClr val="13261C"/>
                  </a:solidFill>
                  <a:latin typeface="Arial"/>
                </a:defRPr>
              </a:pPr>
            </a:p>
          </c:txPr>
          <c:showLegendKey val="0"/>
          <c:showVal val="1"/>
          <c:showCatName val="0"/>
          <c:showSerName val="0"/>
          <c:showPercent val="0"/>
          <c:showBubbleSize val="0"/>
          <c:showLeaderLines val="0"/>
        </c:dLbls>
        <c:gapWidth val="150"/>
        <c:overlap val="0"/>
        <c:axId val="2094734554"/>
        <c:axId val="2094734552"/>
        <c:axId val="2094734556"/>
      </c:barChart>
      <c:catAx>
        <c:axId val="2094734554"/>
        <c:scaling>
          <c:orientation val="maxMin"/>
        </c:scaling>
        <c:delete val="0"/>
        <c:axPos val="l"/>
        <c:numFmt formatCode="General" sourceLinked="1"/>
        <c:majorTickMark val="out"/>
        <c:minorTickMark val="none"/>
        <c:tickLblPos val="nextTo"/>
        <c:spPr>
          <a:ln w="12700" cap="flat">
            <a:solidFill>
              <a:srgbClr val="888888"/>
            </a:solidFill>
            <a:prstDash val="solid"/>
            <a:round/>
          </a:ln>
        </c:spPr>
        <c:txPr>
          <a:bodyPr/>
          <a:lstStyle/>
          <a:p>
            <a:pPr>
              <a:defRPr sz="1100" b="0" i="0" u="none" strike="noStrike">
                <a:solidFill>
                  <a:srgbClr val="13261C"/>
                </a:solidFill>
                <a:latin typeface="Arial"/>
              </a:defRPr>
            </a:pPr>
            <a:endParaRPr lang="en-US"/>
          </a:p>
        </c:txPr>
        <c:crossAx val="2094734552"/>
        <c:crosses val="autoZero"/>
        <c:auto val="1"/>
        <c:lblAlgn val="ctr"/>
        <c:noMultiLvlLbl val="1"/>
      </c:catAx>
      <c:valAx>
        <c:axId val="2094734552"/>
        <c:scaling>
          <c:orientation val="minMax"/>
        </c:scaling>
        <c:delete val="1"/>
        <c:axPos val="b"/>
        <c:numFmt formatCode="General" sourceLinked="0"/>
        <c:majorTickMark val="out"/>
        <c:minorTickMark val="none"/>
        <c:tickLblPos val="low"/>
        <c:spPr>
          <a:ln w="12700" cap="flat">
            <a:solidFill>
              <a:srgbClr val="888888"/>
            </a:solidFill>
            <a:prstDash val="solid"/>
            <a:round/>
          </a:ln>
        </c:spPr>
        <c:txPr>
          <a:bodyPr/>
          <a:lstStyle/>
          <a:p>
            <a:pPr>
              <a:defRPr sz="1200" b="0" i="0" u="none" strike="noStrike">
                <a:solidFill>
                  <a:srgbClr val="000000"/>
                </a:solidFill>
                <a:latin typeface="Arial"/>
              </a:defRPr>
            </a:pPr>
            <a:endParaRPr lang="en-US"/>
          </a:p>
        </c:txPr>
        <c:crossAx val="2094734554"/>
        <c:crosses val="autoZero"/>
        <c:crossBetween val="between"/>
      </c:valAx>
      <c:spPr>
        <a:noFill/>
        <a:ln>
          <a:noFill/>
        </a:ln>
        <a:effectLst/>
      </c:spPr>
    </c:plotArea>
    <c:plotVisOnly val="1"/>
    <c:dispBlanksAs val="span"/>
  </c:chart>
  <c:spPr>
    <a:noFill/>
    <a:ln>
      <a:noFill/>
    </a:ln>
    <a:effectLst/>
  </c:spPr>
  <c:externalData r:id="rId1">
    <c:autoUpdate val="0"/>
  </c:externalData>
</c:chartSpace>
</file>

<file path=ppt/charts/chart4.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200" b="0" i="0" u="none" strike="noStrike">
                <a:solidFill>
                  <a:srgbClr val="13261C"/>
                </a:solidFill>
                <a:latin typeface="Arial"/>
              </a:defRPr>
            </a:pPr>
            <a:r>
              <a:rPr sz="1200" b="0" i="0" u="none" strike="noStrike">
                <a:solidFill>
                  <a:srgbClr val="13261C"/>
                </a:solidFill>
                <a:latin typeface="Arial"/>
              </a:rPr>
              <a:t>Seconds until each part appears</a:t>
            </a:r>
          </a:p>
        </c:rich>
      </c:tx>
      <c:layout/>
      <c:overlay val="0"/>
    </c:title>
    <c:autoTitleDeleted val="0"/>
    <c:plotArea>
      <c:layout/>
      <c:barChart>
        <c:barDir val="bar"/>
        <c:grouping val="clustered"/>
        <c:varyColors val="0"/>
        <c:ser>
          <c:idx val="0"/>
          <c:order val="0"/>
          <c:tx>
            <c:strRef>
              <c:f>Sheet1!$B$1</c:f>
              <c:strCache>
                <c:ptCount val="1"/>
                <c:pt idx="0">
                  <c:v>Seconds</c:v>
                </c:pt>
              </c:strCache>
            </c:strRef>
          </c:tx>
          <c:spPr>
            <a:solidFill>
              <a:srgbClr val="2F7DA8"/>
            </a:solidFill>
            <a:effectLst/>
          </c:spPr>
          <c:invertIfNegative val="0"/>
          <c:dLbls>
            <c:numFmt formatCode="0.0&quot; s&quot;" sourceLinked="0"/>
            <c:txPr>
              <a:bodyPr/>
              <a:lstStyle/>
              <a:p>
                <a:pPr>
                  <a:defRPr b="0" i="0" strike="noStrike" sz="1300" u="none">
                    <a:solidFill>
                      <a:srgbClr val="13261C"/>
                    </a:solidFill>
                    <a:latin typeface="Arial"/>
                  </a:defRPr>
                </a:pPr>
              </a:p>
            </c:txPr>
            <c:showLegendKey val="0"/>
            <c:showVal val="1"/>
            <c:showCatName val="0"/>
            <c:showSerName val="0"/>
            <c:showPercent val="0"/>
            <c:showBubbleSize val="0"/>
            <c:showLeaderLines val="0"/>
          </c:dLbls>
          <c:dPt>
            <c:idx val="0"/>
            <c:invertIfNegative val="0"/>
            <c:bubble3D val="0"/>
            <c:spPr>
              <a:solidFill>
                <a:srgbClr val="2F7DA8"/>
              </a:solidFill>
              <a:effectLst/>
            </c:spPr>
          </c:dPt>
          <c:dPt>
            <c:idx val="1"/>
            <c:invertIfNegative val="0"/>
            <c:bubble3D val="0"/>
            <c:spPr>
              <a:solidFill>
                <a:srgbClr val="D99A16"/>
              </a:solidFill>
              <a:effectLst/>
            </c:spPr>
          </c:dPt>
          <c:dPt>
            <c:idx val="2"/>
            <c:invertIfNegative val="0"/>
            <c:bubble3D val="0"/>
            <c:spPr>
              <a:solidFill>
                <a:srgbClr val="1F8A5B"/>
              </a:solidFill>
              <a:effectLst/>
            </c:spPr>
          </c:dPt>
          <c:cat>
            <c:multiLvlStrRef>
              <c:f>Sheet1!$A$2:$A$4</c:f>
              <c:multiLvlStrCache>
                <c:ptCount val="3"/>
                <c:lvl>
                  <c:pt idx="0">
                    <c:v>Guidance (LLM)</c:v>
                  </c:pt>
                  <c:pt idx="1">
                    <c:v>Explanations + metrics</c:v>
                  </c:pt>
                  <c:pt idx="2">
                    <c:v>Diagnosis</c:v>
                  </c:pt>
                </c:lvl>
              </c:multiLvlStrCache>
            </c:multiLvlStrRef>
          </c:cat>
          <c:val>
            <c:numRef>
              <c:f>Sheet1!$B$2:$B$4</c:f>
              <c:numCache>
                <c:formatCode>General</c:formatCode>
                <c:ptCount val="3"/>
                <c:pt idx="0">
                  <c:v>5.1</c:v>
                </c:pt>
                <c:pt idx="1">
                  <c:v>3.2</c:v>
                </c:pt>
                <c:pt idx="2">
                  <c:v>0.4</c:v>
                </c:pt>
              </c:numCache>
            </c:numRef>
          </c:val>
        </c:ser>
        <c:dLbls>
          <c:numFmt formatCode="0.0&quot; s&quot;" sourceLinked="0"/>
          <c:txPr>
            <a:bodyPr/>
            <a:lstStyle/>
            <a:p>
              <a:pPr>
                <a:defRPr b="0" i="0" strike="noStrike" sz="1300" u="none">
                  <a:solidFill>
                    <a:srgbClr val="13261C"/>
                  </a:solidFill>
                  <a:latin typeface="Arial"/>
                </a:defRPr>
              </a:pPr>
            </a:p>
          </c:txPr>
          <c:showLegendKey val="0"/>
          <c:showVal val="1"/>
          <c:showCatName val="0"/>
          <c:showSerName val="0"/>
          <c:showPercent val="0"/>
          <c:showBubbleSize val="0"/>
          <c:showLeaderLines val="0"/>
        </c:dLbls>
        <c:gapWidth val="150"/>
        <c:overlap val="0"/>
        <c:axId val="2094734554"/>
        <c:axId val="2094734552"/>
        <c:axId val="2094734556"/>
      </c:barChart>
      <c:catAx>
        <c:axId val="2094734554"/>
        <c:scaling>
          <c:orientation val="minMax"/>
        </c:scaling>
        <c:delete val="0"/>
        <c:axPos val="l"/>
        <c:numFmt formatCode="General" sourceLinked="1"/>
        <c:majorTickMark val="out"/>
        <c:minorTickMark val="none"/>
        <c:tickLblPos val="nextTo"/>
        <c:spPr>
          <a:ln w="12700" cap="flat">
            <a:solidFill>
              <a:srgbClr val="888888"/>
            </a:solidFill>
            <a:prstDash val="solid"/>
            <a:round/>
          </a:ln>
        </c:spPr>
        <c:txPr>
          <a:bodyPr/>
          <a:lstStyle/>
          <a:p>
            <a:pPr>
              <a:defRPr sz="1200" b="0" i="0" u="none" strike="noStrike">
                <a:solidFill>
                  <a:srgbClr val="13261C"/>
                </a:solidFill>
                <a:latin typeface="Arial"/>
              </a:defRPr>
            </a:pPr>
            <a:endParaRPr lang="en-US"/>
          </a:p>
        </c:txPr>
        <c:crossAx val="2094734552"/>
        <c:crosses val="autoZero"/>
        <c:auto val="1"/>
        <c:lblAlgn val="ctr"/>
        <c:noMultiLvlLbl val="1"/>
      </c:catAx>
      <c:valAx>
        <c:axId val="2094734552"/>
        <c:scaling>
          <c:orientation val="minMax"/>
          <c:max val="6.5"/>
        </c:scaling>
        <c:delete val="1"/>
        <c:axPos val="b"/>
        <c:numFmt formatCode="General" sourceLinked="0"/>
        <c:majorTickMark val="out"/>
        <c:minorTickMark val="none"/>
        <c:tickLblPos val="low"/>
        <c:spPr>
          <a:ln w="12700" cap="flat">
            <a:solidFill>
              <a:srgbClr val="888888"/>
            </a:solidFill>
            <a:prstDash val="solid"/>
            <a:round/>
          </a:ln>
        </c:spPr>
        <c:txPr>
          <a:bodyPr/>
          <a:lstStyle/>
          <a:p>
            <a:pPr>
              <a:defRPr sz="1200" b="0" i="0" u="none" strike="noStrike">
                <a:solidFill>
                  <a:srgbClr val="000000"/>
                </a:solidFill>
                <a:latin typeface="Arial"/>
              </a:defRPr>
            </a:pPr>
            <a:endParaRPr lang="en-US"/>
          </a:p>
        </c:txPr>
        <c:crossAx val="2094734554"/>
        <c:crosses val="autoZero"/>
        <c:crossBetween val="between"/>
      </c:valAx>
      <c:spPr>
        <a:noFill/>
        <a:ln>
          <a:noFill/>
        </a:ln>
        <a:effectLst/>
      </c:spPr>
    </c:plotArea>
    <c:plotVisOnly val="1"/>
    <c:dispBlanksAs val="span"/>
  </c:chart>
  <c:spPr>
    <a:noFill/>
    <a:ln>
      <a:noFill/>
    </a:ln>
    <a:effectLst/>
  </c:spPr>
  <c:externalData r:id="rId1">
    <c:autoUpdate val="0"/>
  </c:externalData>
</c:chartSpace>
</file>

<file path=ppt/charts/chart5.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300" b="0" i="0" u="none" strike="noStrike">
                <a:solidFill>
                  <a:srgbClr val="13261C"/>
                </a:solidFill>
                <a:latin typeface="Arial"/>
              </a:defRPr>
            </a:pPr>
            <a:r>
              <a:rPr sz="1300" b="0" i="0" u="none" strike="noStrike">
                <a:solidFill>
                  <a:srgbClr val="13261C"/>
                </a:solidFill>
                <a:latin typeface="Arial"/>
              </a:rPr>
              <a:t>Deletion AUC (lower = more faithful)</a:t>
            </a:r>
          </a:p>
        </c:rich>
      </c:tx>
      <c:layout/>
      <c:overlay val="0"/>
    </c:title>
    <c:autoTitleDeleted val="0"/>
    <c:plotArea>
      <c:layout/>
      <c:barChart>
        <c:barDir val="bar"/>
        <c:grouping val="clustered"/>
        <c:varyColors val="0"/>
        <c:ser>
          <c:idx val="0"/>
          <c:order val="0"/>
          <c:tx>
            <c:strRef>
              <c:f>Sheet1!$B$1</c:f>
              <c:strCache>
                <c:ptCount val="1"/>
                <c:pt idx="0">
                  <c:v>Deletion AUC</c:v>
                </c:pt>
              </c:strCache>
            </c:strRef>
          </c:tx>
          <c:spPr>
            <a:solidFill>
              <a:srgbClr val="1F8A5B"/>
            </a:solidFill>
            <a:effectLst/>
          </c:spPr>
          <c:invertIfNegative val="0"/>
          <c:dLbls>
            <c:numFmt formatCode="0.000" sourceLinked="0"/>
            <c:txPr>
              <a:bodyPr/>
              <a:lstStyle/>
              <a:p>
                <a:pPr>
                  <a:defRPr b="0" i="0" strike="noStrike" sz="1100" u="none">
                    <a:solidFill>
                      <a:srgbClr val="13261C"/>
                    </a:solidFill>
                    <a:latin typeface="Arial"/>
                  </a:defRPr>
                </a:pPr>
              </a:p>
            </c:txPr>
            <c:showLegendKey val="0"/>
            <c:showVal val="1"/>
            <c:showCatName val="0"/>
            <c:showSerName val="0"/>
            <c:showPercent val="0"/>
            <c:showBubbleSize val="0"/>
            <c:showLeaderLines val="0"/>
          </c:dLbls>
          <c:dPt>
            <c:idx val="0"/>
            <c:invertIfNegative val="0"/>
            <c:bubble3D val="0"/>
            <c:spPr>
              <a:solidFill>
                <a:srgbClr val="1F8A5B"/>
              </a:solidFill>
              <a:effectLst/>
            </c:spPr>
          </c:dPt>
          <c:dPt>
            <c:idx val="1"/>
            <c:invertIfNegative val="0"/>
            <c:bubble3D val="0"/>
            <c:spPr>
              <a:solidFill>
                <a:srgbClr val="1F8A5B"/>
              </a:solidFill>
              <a:effectLst/>
            </c:spPr>
          </c:dPt>
          <c:dPt>
            <c:idx val="2"/>
            <c:invertIfNegative val="0"/>
            <c:bubble3D val="0"/>
            <c:spPr>
              <a:solidFill>
                <a:srgbClr val="1F8A5B"/>
              </a:solidFill>
              <a:effectLst/>
            </c:spPr>
          </c:dPt>
          <c:dPt>
            <c:idx val="3"/>
            <c:invertIfNegative val="0"/>
            <c:bubble3D val="0"/>
            <c:spPr>
              <a:solidFill>
                <a:srgbClr val="6B7F75"/>
              </a:solidFill>
              <a:effectLst/>
            </c:spPr>
          </c:dPt>
          <c:dPt>
            <c:idx val="4"/>
            <c:invertIfNegative val="0"/>
            <c:bubble3D val="0"/>
            <c:spPr>
              <a:solidFill>
                <a:srgbClr val="6B7F75"/>
              </a:solidFill>
              <a:effectLst/>
            </c:spPr>
          </c:dPt>
          <c:dPt>
            <c:idx val="5"/>
            <c:invertIfNegative val="0"/>
            <c:bubble3D val="0"/>
            <c:spPr>
              <a:solidFill>
                <a:srgbClr val="6B7F75"/>
              </a:solidFill>
              <a:effectLst/>
            </c:spPr>
          </c:dPt>
          <c:dPt>
            <c:idx val="6"/>
            <c:invertIfNegative val="0"/>
            <c:bubble3D val="0"/>
            <c:spPr>
              <a:solidFill>
                <a:srgbClr val="D99A16"/>
              </a:solidFill>
              <a:effectLst/>
            </c:spPr>
          </c:dPt>
          <c:dPt>
            <c:idx val="7"/>
            <c:invertIfNegative val="0"/>
            <c:bubble3D val="0"/>
            <c:spPr>
              <a:solidFill>
                <a:srgbClr val="C94A36"/>
              </a:solidFill>
              <a:effectLst/>
            </c:spPr>
          </c:dPt>
          <c:cat>
            <c:multiLvlStrRef>
              <c:f>Sheet1!$A$2:$A$9</c:f>
              <c:multiLvlStrCache>
                <c:ptCount val="8"/>
                <c:lvl>
                  <c:pt idx="0">
                    <c:v>Grad-CAM</c:v>
                  </c:pt>
                  <c:pt idx="1">
                    <c:v>Grad-CAM++</c:v>
                  </c:pt>
                  <c:pt idx="2">
                    <c:v>SHAP</c:v>
                  </c:pt>
                  <c:pt idx="3">
                    <c:v>LIME</c:v>
                  </c:pt>
                  <c:pt idx="4">
                    <c:v>SmoothGrad</c:v>
                  </c:pt>
                  <c:pt idx="5">
                    <c:v>Saliency</c:v>
                  </c:pt>
                  <c:pt idx="6">
                    <c:v>Random</c:v>
                  </c:pt>
                  <c:pt idx="7">
                    <c:v>Integrated Gradients</c:v>
                  </c:pt>
                </c:lvl>
              </c:multiLvlStrCache>
            </c:multiLvlStrRef>
          </c:cat>
          <c:val>
            <c:numRef>
              <c:f>Sheet1!$B$2:$B$9</c:f>
              <c:numCache>
                <c:formatCode>General</c:formatCode>
                <c:ptCount val="8"/>
                <c:pt idx="0">
                  <c:v>0.207</c:v>
                </c:pt>
                <c:pt idx="1">
                  <c:v>0.209</c:v>
                </c:pt>
                <c:pt idx="2">
                  <c:v>0.274</c:v>
                </c:pt>
                <c:pt idx="3">
                  <c:v>0.304</c:v>
                </c:pt>
                <c:pt idx="4">
                  <c:v>0.312</c:v>
                </c:pt>
                <c:pt idx="5">
                  <c:v>0.318</c:v>
                </c:pt>
                <c:pt idx="6">
                  <c:v>0.326</c:v>
                </c:pt>
                <c:pt idx="7">
                  <c:v>0.376</c:v>
                </c:pt>
              </c:numCache>
            </c:numRef>
          </c:val>
        </c:ser>
        <c:dLbls>
          <c:numFmt formatCode="0.000" sourceLinked="0"/>
          <c:txPr>
            <a:bodyPr/>
            <a:lstStyle/>
            <a:p>
              <a:pPr>
                <a:defRPr b="0" i="0" strike="noStrike" sz="1100" u="none">
                  <a:solidFill>
                    <a:srgbClr val="13261C"/>
                  </a:solidFill>
                  <a:latin typeface="Arial"/>
                </a:defRPr>
              </a:pPr>
            </a:p>
          </c:txPr>
          <c:showLegendKey val="0"/>
          <c:showVal val="1"/>
          <c:showCatName val="0"/>
          <c:showSerName val="0"/>
          <c:showPercent val="0"/>
          <c:showBubbleSize val="0"/>
          <c:showLeaderLines val="0"/>
        </c:dLbls>
        <c:gapWidth val="150"/>
        <c:overlap val="0"/>
        <c:axId val="2094734554"/>
        <c:axId val="2094734552"/>
        <c:axId val="2094734556"/>
      </c:barChart>
      <c:catAx>
        <c:axId val="2094734554"/>
        <c:scaling>
          <c:orientation val="maxMin"/>
        </c:scaling>
        <c:delete val="0"/>
        <c:axPos val="l"/>
        <c:numFmt formatCode="General" sourceLinked="1"/>
        <c:majorTickMark val="out"/>
        <c:minorTickMark val="none"/>
        <c:tickLblPos val="nextTo"/>
        <c:spPr>
          <a:ln w="12700" cap="flat">
            <a:solidFill>
              <a:srgbClr val="888888"/>
            </a:solidFill>
            <a:prstDash val="solid"/>
            <a:round/>
          </a:ln>
        </c:spPr>
        <c:txPr>
          <a:bodyPr/>
          <a:lstStyle/>
          <a:p>
            <a:pPr>
              <a:defRPr sz="1100" b="0" i="0" u="none" strike="noStrike">
                <a:solidFill>
                  <a:srgbClr val="13261C"/>
                </a:solidFill>
                <a:latin typeface="Arial"/>
              </a:defRPr>
            </a:pPr>
            <a:endParaRPr lang="en-US"/>
          </a:p>
        </c:txPr>
        <c:crossAx val="2094734552"/>
        <c:crosses val="autoZero"/>
        <c:auto val="1"/>
        <c:lblAlgn val="ctr"/>
        <c:noMultiLvlLbl val="1"/>
      </c:catAx>
      <c:valAx>
        <c:axId val="2094734552"/>
        <c:scaling>
          <c:orientation val="minMax"/>
        </c:scaling>
        <c:delete val="1"/>
        <c:axPos val="b"/>
        <c:numFmt formatCode="General" sourceLinked="0"/>
        <c:majorTickMark val="out"/>
        <c:minorTickMark val="none"/>
        <c:tickLblPos val="low"/>
        <c:spPr>
          <a:ln w="12700" cap="flat">
            <a:solidFill>
              <a:srgbClr val="888888"/>
            </a:solidFill>
            <a:prstDash val="solid"/>
            <a:round/>
          </a:ln>
        </c:spPr>
        <c:txPr>
          <a:bodyPr/>
          <a:lstStyle/>
          <a:p>
            <a:pPr>
              <a:defRPr sz="1200" b="0" i="0" u="none" strike="noStrike">
                <a:solidFill>
                  <a:srgbClr val="000000"/>
                </a:solidFill>
                <a:latin typeface="Arial"/>
              </a:defRPr>
            </a:pPr>
            <a:endParaRPr lang="en-US"/>
          </a:p>
        </c:txPr>
        <c:crossAx val="2094734554"/>
        <c:crosses val="autoZero"/>
        <c:crossBetween val="between"/>
      </c:valAx>
      <c:spPr>
        <a:noFill/>
        <a:ln>
          <a:noFill/>
        </a:ln>
        <a:effectLst/>
      </c:spPr>
    </c:plotArea>
    <c:plotVisOnly val="1"/>
    <c:dispBlanksAs val="span"/>
  </c:chart>
  <c:spPr>
    <a:noFill/>
    <a:ln>
      <a:noFill/>
    </a:ln>
    <a:effectLst/>
  </c:spPr>
  <c:externalData r:id="rId1">
    <c:autoUpdate val="0"/>
  </c:externalData>
</c:chartSpace>
</file>

<file path=ppt/charts/chart6.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300" b="0" i="0" u="none" strike="noStrike">
                <a:solidFill>
                  <a:srgbClr val="13261C"/>
                </a:solidFill>
                <a:latin typeface="Arial"/>
              </a:defRPr>
            </a:pPr>
            <a:r>
              <a:rPr sz="1300" b="0" i="0" u="none" strike="noStrike">
                <a:solidFill>
                  <a:srgbClr val="13261C"/>
                </a:solidFill>
                <a:latin typeface="Arial"/>
              </a:rPr>
              <a:t>Test accuracy (%) after changing every image</a:t>
            </a:r>
          </a:p>
        </c:rich>
      </c:tx>
      <c:layout/>
      <c:overlay val="0"/>
    </c:title>
    <c:autoTitleDeleted val="0"/>
    <c:plotArea>
      <c:layout/>
      <c:barChart>
        <c:barDir val="bar"/>
        <c:grouping val="clustered"/>
        <c:varyColors val="0"/>
        <c:ser>
          <c:idx val="0"/>
          <c:order val="0"/>
          <c:tx>
            <c:strRef>
              <c:f>Sheet1!$B$1</c:f>
              <c:strCache>
                <c:ptCount val="1"/>
                <c:pt idx="0">
                  <c:v>Accuracy</c:v>
                </c:pt>
              </c:strCache>
            </c:strRef>
          </c:tx>
          <c:spPr>
            <a:solidFill>
              <a:srgbClr val="1F8A5B"/>
            </a:solidFill>
            <a:effectLst/>
          </c:spPr>
          <c:invertIfNegative val="0"/>
          <c:dLbls>
            <c:numFmt formatCode="0.0" sourceLinked="0"/>
            <c:txPr>
              <a:bodyPr/>
              <a:lstStyle/>
              <a:p>
                <a:pPr>
                  <a:defRPr b="0" i="0" strike="noStrike" sz="1100" u="none">
                    <a:solidFill>
                      <a:srgbClr val="13261C"/>
                    </a:solidFill>
                    <a:latin typeface="Arial"/>
                  </a:defRPr>
                </a:pPr>
              </a:p>
            </c:txPr>
            <c:showLegendKey val="0"/>
            <c:showVal val="1"/>
            <c:showCatName val="0"/>
            <c:showSerName val="0"/>
            <c:showPercent val="0"/>
            <c:showBubbleSize val="0"/>
            <c:showLeaderLines val="0"/>
          </c:dLbls>
          <c:dPt>
            <c:idx val="0"/>
            <c:invertIfNegative val="0"/>
            <c:bubble3D val="0"/>
            <c:spPr>
              <a:solidFill>
                <a:srgbClr val="1F8A5B"/>
              </a:solidFill>
              <a:effectLst/>
            </c:spPr>
          </c:dPt>
          <c:dPt>
            <c:idx val="1"/>
            <c:invertIfNegative val="0"/>
            <c:bubble3D val="0"/>
            <c:spPr>
              <a:solidFill>
                <a:srgbClr val="1F8A5B"/>
              </a:solidFill>
              <a:effectLst/>
            </c:spPr>
          </c:dPt>
          <c:dPt>
            <c:idx val="2"/>
            <c:invertIfNegative val="0"/>
            <c:bubble3D val="0"/>
            <c:spPr>
              <a:solidFill>
                <a:srgbClr val="1F8A5B"/>
              </a:solidFill>
              <a:effectLst/>
            </c:spPr>
          </c:dPt>
          <c:dPt>
            <c:idx val="3"/>
            <c:invertIfNegative val="0"/>
            <c:bubble3D val="0"/>
            <c:spPr>
              <a:solidFill>
                <a:srgbClr val="1F8A5B"/>
              </a:solidFill>
              <a:effectLst/>
            </c:spPr>
          </c:dPt>
          <c:dPt>
            <c:idx val="4"/>
            <c:invertIfNegative val="0"/>
            <c:bubble3D val="0"/>
            <c:spPr>
              <a:solidFill>
                <a:srgbClr val="1F8A5B"/>
              </a:solidFill>
              <a:effectLst/>
            </c:spPr>
          </c:dPt>
          <c:dPt>
            <c:idx val="5"/>
            <c:invertIfNegative val="0"/>
            <c:bubble3D val="0"/>
            <c:spPr>
              <a:solidFill>
                <a:srgbClr val="D99A16"/>
              </a:solidFill>
              <a:effectLst/>
            </c:spPr>
          </c:dPt>
          <c:dPt>
            <c:idx val="6"/>
            <c:invertIfNegative val="0"/>
            <c:bubble3D val="0"/>
            <c:spPr>
              <a:solidFill>
                <a:srgbClr val="C94A36"/>
              </a:solidFill>
              <a:effectLst/>
            </c:spPr>
          </c:dPt>
          <c:dPt>
            <c:idx val="7"/>
            <c:invertIfNegative val="0"/>
            <c:bubble3D val="0"/>
            <c:spPr>
              <a:solidFill>
                <a:srgbClr val="C94A36"/>
              </a:solidFill>
              <a:effectLst/>
            </c:spPr>
          </c:dPt>
          <c:cat>
            <c:multiLvlStrRef>
              <c:f>Sheet1!$A$2:$A$9</c:f>
              <c:multiLvlStrCache>
                <c:ptCount val="8"/>
                <c:lvl>
                  <c:pt idx="0">
                    <c:v>Clean</c:v>
                  </c:pt>
                  <c:pt idx="1">
                    <c:v>Brightness ×0.5</c:v>
                  </c:pt>
                  <c:pt idx="2">
                    <c:v>Brightness ×1.5</c:v>
                  </c:pt>
                  <c:pt idx="3">
                    <c:v>JPEG quality 15</c:v>
                  </c:pt>
                  <c:pt idx="4">
                    <c:v>25% occluded</c:v>
                  </c:pt>
                  <c:pt idx="5">
                    <c:v>Background removed</c:v>
                  </c:pt>
                  <c:pt idx="6">
                    <c:v>Gaussian noise</c:v>
                  </c:pt>
                  <c:pt idx="7">
                    <c:v>Gaussian blur</c:v>
                  </c:pt>
                </c:lvl>
              </c:multiLvlStrCache>
            </c:multiLvlStrRef>
          </c:cat>
          <c:val>
            <c:numRef>
              <c:f>Sheet1!$B$2:$B$9</c:f>
              <c:numCache>
                <c:formatCode>General</c:formatCode>
                <c:ptCount val="8"/>
                <c:pt idx="0">
                  <c:v>98.1</c:v>
                </c:pt>
                <c:pt idx="1">
                  <c:v>96.1</c:v>
                </c:pt>
                <c:pt idx="2">
                  <c:v>94</c:v>
                </c:pt>
                <c:pt idx="3">
                  <c:v>87.8</c:v>
                </c:pt>
                <c:pt idx="4">
                  <c:v>86.9</c:v>
                </c:pt>
                <c:pt idx="5">
                  <c:v>74.8</c:v>
                </c:pt>
                <c:pt idx="6">
                  <c:v>24.9</c:v>
                </c:pt>
                <c:pt idx="7">
                  <c:v>16.5</c:v>
                </c:pt>
              </c:numCache>
            </c:numRef>
          </c:val>
        </c:ser>
        <c:dLbls>
          <c:numFmt formatCode="0.0" sourceLinked="0"/>
          <c:txPr>
            <a:bodyPr/>
            <a:lstStyle/>
            <a:p>
              <a:pPr>
                <a:defRPr b="0" i="0" strike="noStrike" sz="1100" u="none">
                  <a:solidFill>
                    <a:srgbClr val="13261C"/>
                  </a:solidFill>
                  <a:latin typeface="Arial"/>
                </a:defRPr>
              </a:pPr>
            </a:p>
          </c:txPr>
          <c:showLegendKey val="0"/>
          <c:showVal val="1"/>
          <c:showCatName val="0"/>
          <c:showSerName val="0"/>
          <c:showPercent val="0"/>
          <c:showBubbleSize val="0"/>
          <c:showLeaderLines val="0"/>
        </c:dLbls>
        <c:gapWidth val="150"/>
        <c:overlap val="0"/>
        <c:axId val="2094734554"/>
        <c:axId val="2094734552"/>
        <c:axId val="2094734556"/>
      </c:barChart>
      <c:catAx>
        <c:axId val="2094734554"/>
        <c:scaling>
          <c:orientation val="maxMin"/>
        </c:scaling>
        <c:delete val="0"/>
        <c:axPos val="l"/>
        <c:numFmt formatCode="General" sourceLinked="1"/>
        <c:majorTickMark val="out"/>
        <c:minorTickMark val="none"/>
        <c:tickLblPos val="nextTo"/>
        <c:spPr>
          <a:ln w="12700" cap="flat">
            <a:solidFill>
              <a:srgbClr val="888888"/>
            </a:solidFill>
            <a:prstDash val="solid"/>
            <a:round/>
          </a:ln>
        </c:spPr>
        <c:txPr>
          <a:bodyPr/>
          <a:lstStyle/>
          <a:p>
            <a:pPr>
              <a:defRPr sz="1100" b="0" i="0" u="none" strike="noStrike">
                <a:solidFill>
                  <a:srgbClr val="13261C"/>
                </a:solidFill>
                <a:latin typeface="Arial"/>
              </a:defRPr>
            </a:pPr>
            <a:endParaRPr lang="en-US"/>
          </a:p>
        </c:txPr>
        <c:crossAx val="2094734552"/>
        <c:crosses val="autoZero"/>
        <c:auto val="1"/>
        <c:lblAlgn val="ctr"/>
        <c:noMultiLvlLbl val="1"/>
      </c:catAx>
      <c:valAx>
        <c:axId val="2094734552"/>
        <c:scaling>
          <c:orientation val="minMax"/>
          <c:max val="110"/>
        </c:scaling>
        <c:delete val="1"/>
        <c:axPos val="b"/>
        <c:numFmt formatCode="General" sourceLinked="0"/>
        <c:majorTickMark val="out"/>
        <c:minorTickMark val="none"/>
        <c:tickLblPos val="low"/>
        <c:spPr>
          <a:ln w="12700" cap="flat">
            <a:solidFill>
              <a:srgbClr val="888888"/>
            </a:solidFill>
            <a:prstDash val="solid"/>
            <a:round/>
          </a:ln>
        </c:spPr>
        <c:txPr>
          <a:bodyPr/>
          <a:lstStyle/>
          <a:p>
            <a:pPr>
              <a:defRPr sz="1200" b="0" i="0" u="none" strike="noStrike">
                <a:solidFill>
                  <a:srgbClr val="000000"/>
                </a:solidFill>
                <a:latin typeface="Arial"/>
              </a:defRPr>
            </a:pPr>
            <a:endParaRPr lang="en-US"/>
          </a:p>
        </c:txPr>
        <c:crossAx val="2094734554"/>
        <c:crosses val="autoZero"/>
        <c:crossBetween val="between"/>
      </c:valAx>
      <c:spPr>
        <a:noFill/>
        <a:ln>
          <a:noFill/>
        </a:ln>
        <a:effectLst/>
      </c:spPr>
    </c:plotArea>
    <c:plotVisOnly val="1"/>
    <c:dispBlanksAs val="span"/>
  </c:chart>
  <c:spPr>
    <a:noFill/>
    <a:ln>
      <a:noFill/>
    </a:ln>
    <a:effectLst/>
  </c:spPr>
  <c:externalData r:id="rId1">
    <c:autoUpdate val="0"/>
  </c:externalData>
</c:chartSpace>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5.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6.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7.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8.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9.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0.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Introduce the project in one sentence: a plant-disease classifier that also explains itself, and whose test result we can trust because we found and fixed a data leak.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Three reasons. Early detection saves money and protects neighbouring plants. A label alone gives the farmer no reason to trust it. And models can cheat: the Clever Hans story is about a horse that seemed to do arithmetic but was reading its trainer's body language. A model can look right while using a shortcut such as the background. The third picture is our own test: with the background removed, accuracy falls from 98.1% to 74.8%.</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Walk left to right: a leaf photo goes in, EfficientNet-B0 names the disease, seven engines show where it looked, six metrics score those explanations, and the app writes a report with guidance. The screenshot is the real diagnosis card from our app.</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PlantVillage has about 54,300 labelled leaf photos in 38 classes. We used 15 classes on purpose: a small corpus lets us test the whole pipeline and its compute cost first, then scale to all 38 classes later. The four photos are real examples from our test split.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Our first model scored 99.48 percent, which felt too good. EDA showed that about half of the files were byte-identical copies, because the download contained a second copy of every class folder. A random split then put the same photo in training and in test. That is train-test contamination: the test score is optimistic because the model has seen the answers.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Walk through the code: every image is fingerprinted with MD5. Two files with identical bytes have the same fingerprint, so we keep one and drop the rest before splitting. MD5 here is for finding copies, not for speed. The test at the bottom fails the build if any image ever appears in two splits.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After cleaning we split each class separately so every class appears in train, validation and test in the same proportion. The seed is fixed at 42 so the split can be reproduced.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Every image gets the same three steps before the network sees it; the pictures are a real leaf from our test split. During training only, we add four mild augmentations that imitate real field variation. We deliberately avoided cutout and CutMix style tricks because they can hide or distort the lesion we want the model to learn.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wanted a balance of accuracy, computing cost and explanation quality. EfficientNet-B0 is small: about 4 million parameters and 15.7 MB on disk, roughly 83 percent smaller than ResNet-50 in 32-bit weights. It needs 0.38 billion operations per image against 4.09 for ResNet-50. Its last convolution block gives 7 by 7 feature maps that Grad-CAM can use.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table is measured on our machine with random weights for the candidates: parameters, operations and latency only. Only EfficientNet-B0 was trained. Be honest about latency: on this Apple GPU ResNet-50 is actually a bit faster per image, so we did not choose EfficientNet for raw speed but for size, compute cost and how well it works with the explanation methods.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Stage 1 freezes the ImageNet backbone, which already knows edges and textures, and trains only the new classifier head. Stage 2 unfreezes the last blocks, 6 to 8, with a much smaller learning rate so the network learns disease-specific patterns without forgetting what it knew. We keep the best checkpoint by validation accuracy and stop early if it stops improving.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end-to-end design. Data is cleaned and split, the model is trained in two stages, the API serves predictions and explanations, and the evaluation scripts score everything and produce the figures in this deck.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app does not make the user wait for everything. The first call returns the diagnosis and one heatmap very quickly. The second call computes all seven explanations and the metrics. The third asks the language model for guidance written from what was measured in this image. The chart shows when each part appears on our machine.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a real screenshot of the app. At the top is the diagnosis with the calibrated confidence and time. Below it, all seven explanation views are shown side by side and the user can click any of them to get a plain-language explanation of that method for this exact image.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real damage card. The percentage is measured from colour, not from the heatmap. The four quick checks are computed from this photo and can fail: here the lesion check fails because the leaf has under 1 percent discoloured tissue, which is the honest result. The actions on the right depend on the stage.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real guidance panel. The text is written by a Groq-hosted language model from this image's own measurements, so two different leaves with the same disease get different wording. Tabs hold treatment, prevention and precautions. If the model cannot be reached the panel says so instead of showing generic text.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plain classifier before any explanation. 98.13 percent on 3,107 test photos the model never saw, macro F1 of 0.979. The confusion matrix shows the mistakes are between look-alike diseases, mostly blights and spots on tomato.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Two tools make the confidence score honest. MC-Dropout keeps dropout switched on at test time and runs the same photo many times. If the answers differ, the model is unsure about that photo. Temperature scaling divides the logits by one number fitted on the validation set. It never changes the predicted class, it only makes the stated confidence match how often the model is really right.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Post hoc means the explanation is produced after the model has already made its decision, without changing the model. The strip shows all seven on one real leaf. We group the engines by how they work: activation-based, gradient-based and perturbation-based.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Grad-CAM looks at the last convolution layer and draws a smooth blob where the evidence is. Grad-CAM++ uses higher-order gradient information to weight the feature maps, so several small disease spots can each light up. Saliency looks at single pixels and is noisy. SmoothGrad fixes that by averaging many noisy copies. Integrated Gradients adds up credit along a path from a blank image to the photo. The thumbnails are real outputs on one leaf.</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Both of these treat the model as a black box. SHAP hides patches of the leaf and measures how much the prediction drops, which borrows ideas from cooperative game theory: each patch is a player. LIME makes many altered copies, records the model's answers, and fits a small linear model that imitates the CNN around this one photo.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These are real outputs from our test set, one leaf per row. Grad-CAM and Grad-CAM++ give smooth blobs on the lesions. Saliency and SmoothGrad are speckled. SHAP is coarse because it works on patches. LIME shows superpixels. Integrated Gradients is faint here, which matches its weaker score in the metrics.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use three words carefully. Interpretability is about understanding how the model works inside. Explainability is the set of post-hoc techniques that say why a particular prediction was made. Trustworthiness is whether we can rely on it: calibrated, robust and honest about its limits.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Deletion AUC asks: if we remove the pixels the method calls important, how fast does the model's confidence fall? Lower is better. A random heatmap scores 0.326. Grad-CAM, Grad-CAM++ and SHAP are clearly better than random. Integrated Gradients is worse than random in this setup, which is an honest negative result.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same six metrics are computed for every photo and shown in the app, next to a random-heatmap baseline for faithfulness so the number can be read honestly. The composite index at the top combines them with design weights that we have not validated.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changed every test image in eight ways and re-measured accuracy. Lighting and mild compression barely matter. Noise and blur are a real weakness: accuracy falls to about a quarter and a sixth. This is a limit we report openly, and a reason to add noise and blur augmentation next.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Leaf damage used to be taken from the heatmap, which only shows where the model looked. We now measure it from colour: find the leaf, then count the pixels that are not healthy green. The three pictures are a real late-blight leaf from our test split. We tested the method two ways. On real healthy leaves it reads close to zero. On healthy leaves where we painted lesions of known size, the error is small. The painted test is synthetic, because PlantVillage has no expert lesion masks.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explained every wrong prediction with four engines and a counterfactual test. The errors are not random: they are look-alike diseases, such as early and late blight, or target spot and spider mites. Confidence is usually lower on these cases, which is why the trust level matters.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Earlier plant-disease studies mostly reported accuracy. Few showed explanations, and fewer scored them. Our contribution is the combination: a duplicate-free evaluation, seven engines under one protocol, and measured explanation quality. The accuracies are as reported by each paper on its own data and are not directly comparable.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Say the limits before the examiner does. Only identical copies were removed, so near-duplicates may remain. PlantVillage photos are lab-style. The model is fragile to noise and blur. Our faithfulness score is about 58 percent against 50 for random, so the explanations are useful but not proof. Expert ratings are pending. Next we will scale to all 38 classes and add field photos.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Close with four sentences: we found and fixed a leak and report the honest number; the model is small and accurate; the explanations are scored, not just shown; and confidence is calibrated and uncertainty-aware. Then invite questions.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31</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CONTENT">
    <p:bg>
      <p:bgPr>
        <a:solidFill>
          <a:srgbClr val="FFFFFF"/>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457200" y="256032"/>
            <a:ext cx="8229600" cy="685800"/>
          </a:xfrm>
          <a:prstGeom prst="rect">
            <a:avLst/>
          </a:prstGeom>
          <a:noFill/>
          <a:ln/>
        </p:spPr>
        <p:txBody>
          <a:bodyPr wrap="square" rtlCol="0"/>
          <a:lstStyle>
            <a:lvl1pPr algn="l" indent="0" marL="0">
              <a:buNone/>
              <a:defRPr lang="en-US" sz="2800" b="1" dirty="0">
                <a:solidFill>
                  <a:schemeClr val="tx1"/>
                </a:solidFill>
              </a:defRPr>
            </a:lvl1pPr>
          </a:lstStyle>
          <a:p>
            <a:pPr algn="l" indent="0" marL="0">
              <a:buNone/>
            </a:pPr>
            <a:endParaRPr lang="en-US" sz="2800" dirty="0"/>
          </a:p>
        </p:txBody>
      </p:sp>
      <p:sp>
        <p:nvSpPr>
          <p:cNvPr id="25" name="Slide Number Placeholder 0"/>
          <p:cNvSpPr>
            <a:spLocks noGrp="1"/>
          </p:cNvSpPr>
          <p:nvPr>
            <p:ph type="sldNum" sz="quarter" idx="4294967295"/>
          </p:nvPr>
        </p:nvSpPr>
        <p:spPr>
          <a:xfrm>
            <a:off x="8229600" y="4828032"/>
            <a:ext cx="457200" cy="22860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defRPr>
            </a:lvl1pPr>
          </a:lstStyle>
          <a:p>
            <a:pPr algn="r"/>
            <a:fld id="{F7021451-1387-4CA6-816F-3879F97B5CBC}" type="slidenum">
              <a:rPr b="0" lang="en-US"/>
              <a:t>1002</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DARK">
    <p:bg>
      <p:bgPr>
        <a:solidFill>
          <a:srgbClr val="13261C"/>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457200" y="256032"/>
            <a:ext cx="8229600" cy="685800"/>
          </a:xfrm>
          <a:prstGeom prst="rect">
            <a:avLst/>
          </a:prstGeom>
          <a:noFill/>
          <a:ln/>
        </p:spPr>
        <p:txBody>
          <a:bodyPr wrap="square" rtlCol="0"/>
          <a:lstStyle>
            <a:lvl1pPr algn="l" indent="0" marL="0">
              <a:buNone/>
              <a:defRPr lang="en-US" sz="2800" b="1" dirty="0">
                <a:solidFill>
                  <a:schemeClr val="bg1"/>
                </a:solidFill>
              </a:defRPr>
            </a:lvl1pPr>
          </a:lstStyle>
          <a:p>
            <a:pPr algn="l" indent="0" marL="0">
              <a:buNone/>
            </a:pPr>
            <a:endParaRPr lang="en-US" sz="2800" dirty="0"/>
          </a:p>
        </p:txBody>
      </p:sp>
      <p:sp>
        <p:nvSpPr>
          <p:cNvPr id="25" name="Slide Number Placeholder 0"/>
          <p:cNvSpPr>
            <a:spLocks noGrp="1"/>
          </p:cNvSpPr>
          <p:nvPr>
            <p:ph type="sldNum" sz="quarter" idx="4294967295"/>
          </p:nvPr>
        </p:nvSpPr>
        <p:spPr>
          <a:xfrm>
            <a:off x="8229600" y="4828032"/>
            <a:ext cx="457200" cy="22860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defRPr>
            </a:lvl1pPr>
          </a:lstStyle>
          <a:p>
            <a:pPr algn="r"/>
            <a:fld id="{F7021451-1387-4CA6-816F-3879F97B5CBC}" type="slidenum">
              <a:rPr b="0" lang="en-US"/>
              <a:t>1003</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TITLE">
    <p:bg>
      <p:bgPr>
        <a:solidFill>
          <a:srgbClr val="13261C"/>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457200" y="1097280"/>
            <a:ext cx="4206240" cy="914400"/>
          </a:xfrm>
          <a:prstGeom prst="rect">
            <a:avLst/>
          </a:prstGeom>
          <a:noFill/>
          <a:ln/>
        </p:spPr>
        <p:txBody>
          <a:bodyPr wrap="square" rtlCol="0"/>
          <a:lstStyle>
            <a:lvl1pPr algn="l" indent="0" marL="0">
              <a:buNone/>
              <a:defRPr lang="en-US" sz="4400" b="1" dirty="0">
                <a:solidFill>
                  <a:schemeClr val="bg1"/>
                </a:solidFill>
              </a:defRPr>
            </a:lvl1pPr>
          </a:lstStyle>
          <a:p>
            <a:pPr algn="l" indent="0" marL="0">
              <a:buNone/>
            </a:pPr>
            <a:endParaRPr lang="en-US" sz="4400" dirty="0"/>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8229600" y="4828032"/>
            <a:ext cx="457200" cy="22860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defRPr>
            </a:lvl1pPr>
          </a:lstStyle>
          <a:p>
            <a:pPr algn="r"/>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4.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image" Target="../media/image-2-2.png"/><Relationship Id="rId3" Type="http://schemas.openxmlformats.org/officeDocument/2006/relationships/image" Target="../media/image-2-3.png"/><Relationship Id="rId4" Type="http://schemas.openxmlformats.org/officeDocument/2006/relationships/slideLayout" Target="../slideLayouts/slideLayout2.xml"/><Relationship Id="rId5"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jpg"/><Relationship Id="rId2" Type="http://schemas.openxmlformats.org/officeDocument/2006/relationships/slideLayout" Target="../slideLayouts/slideLayout2.xml"/><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image" Target="../media/image-4-2.png"/><Relationship Id="rId3" Type="http://schemas.openxmlformats.org/officeDocument/2006/relationships/image" Target="../media/image-4-3.png"/><Relationship Id="rId4" Type="http://schemas.openxmlformats.org/officeDocument/2006/relationships/image" Target="../media/image-4-4.png"/><Relationship Id="rId5" Type="http://schemas.openxmlformats.org/officeDocument/2006/relationships/image" Target="../media/image-4-5.png"/><Relationship Id="rId6" Type="http://schemas.openxmlformats.org/officeDocument/2006/relationships/slideLayout" Target="../slideLayouts/slideLayout2.xml"/><Relationship Id="rId7"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chart" Target="../charts/chart1.xml"/><Relationship Id="rId2" Type="http://schemas.openxmlformats.org/officeDocument/2006/relationships/slideLayout" Target="../slideLayouts/slideLayout2.xml"/><Relationship Id="rId3" Type="http://schemas.openxmlformats.org/officeDocument/2006/relationships/notesSlide" Target="../notesSlides/notesSlide5.xml"/><Relationship Id="rId4" Type="http://schemas.openxmlformats.org/officeDocument/2006/relationships/image" Target="../media/image1.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chart" Target="../charts/chart2.xml"/><Relationship Id="rId2" Type="http://schemas.openxmlformats.org/officeDocument/2006/relationships/slideLayout" Target="../slideLayouts/slideLayout2.xml"/><Relationship Id="rId3" Type="http://schemas.openxmlformats.org/officeDocument/2006/relationships/notesSlide" Target="../notesSlides/notesSlide7.xml"/><Relationship Id="rId4" Type="http://schemas.openxmlformats.org/officeDocument/2006/relationships/image" Target="../media/image2.png"/></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image" Target="../media/image-8-2.png"/><Relationship Id="rId3" Type="http://schemas.openxmlformats.org/officeDocument/2006/relationships/slideLayout" Target="../slideLayouts/slideLayout2.xml"/><Relationship Id="rId4"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chart" Target="../charts/chart3.xml"/><Relationship Id="rId2" Type="http://schemas.openxmlformats.org/officeDocument/2006/relationships/slideLayout" Target="../slideLayouts/slideLayout2.xml"/><Relationship Id="rId3" Type="http://schemas.openxmlformats.org/officeDocument/2006/relationships/notesSlide" Target="../notesSlides/notesSlide9.xml"/><Relationship Id="rId4" Type="http://schemas.openxmlformats.org/officeDocument/2006/relationships/image" Target="../media/image3.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png"/><Relationship Id="rId2" Type="http://schemas.openxmlformats.org/officeDocument/2006/relationships/slideLayout" Target="../slideLayouts/slideLayout2.xml"/><Relationship Id="rId3"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image-12-1.png"/><Relationship Id="rId2" Type="http://schemas.openxmlformats.org/officeDocument/2006/relationships/slideLayout" Target="../slideLayouts/slideLayout2.xml"/><Relationship Id="rId3"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chart" Target="../charts/chart4.xml"/><Relationship Id="rId2" Type="http://schemas.openxmlformats.org/officeDocument/2006/relationships/slideLayout" Target="../slideLayouts/slideLayout2.xml"/><Relationship Id="rId3" Type="http://schemas.openxmlformats.org/officeDocument/2006/relationships/notesSlide" Target="../notesSlides/notesSlide13.xml"/><Relationship Id="rId4" Type="http://schemas.openxmlformats.org/officeDocument/2006/relationships/image" Target="../media/image4.png"/></Relationships>
</file>

<file path=ppt/slides/_rels/slide14.xml.rels><?xml version='1.0' encoding='UTF-8' standalone='yes'?>
<Relationships xmlns="http://schemas.openxmlformats.org/package/2006/relationships"><Relationship Id="rId1" Type="http://schemas.openxmlformats.org/officeDocument/2006/relationships/image" Target="../media/image-14-1.jpg"/><Relationship Id="rId2" Type="http://schemas.openxmlformats.org/officeDocument/2006/relationships/image" Target="../media/image-14-2.jpg"/><Relationship Id="rId3" Type="http://schemas.openxmlformats.org/officeDocument/2006/relationships/slideLayout" Target="../slideLayouts/slideLayout2.xml"/><Relationship Id="rId4"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image" Target="../media/image-15-1.jpg"/><Relationship Id="rId2" Type="http://schemas.openxmlformats.org/officeDocument/2006/relationships/slideLayout" Target="../slideLayouts/slideLayout2.xml"/><Relationship Id="rId3"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image" Target="../media/image-16-1.jpg"/><Relationship Id="rId2" Type="http://schemas.openxmlformats.org/officeDocument/2006/relationships/slideLayout" Target="../slideLayouts/slideLayout2.xml"/><Relationship Id="rId3"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image" Target="../media/image-17-1.png"/><Relationship Id="rId2" Type="http://schemas.openxmlformats.org/officeDocument/2006/relationships/slideLayout" Target="../slideLayouts/slideLayout2.xml"/><Relationship Id="rId3"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image" Target="../media/image-18-1.png"/><Relationship Id="rId2" Type="http://schemas.openxmlformats.org/officeDocument/2006/relationships/slideLayout" Target="../slideLayouts/slideLayout2.xml"/><Relationship Id="rId3"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image" Target="../media/image-19-1.png"/><Relationship Id="rId2" Type="http://schemas.openxmlformats.org/officeDocument/2006/relationships/slideLayout" Target="../slideLayouts/slideLayout2.xml"/><Relationship Id="rId3"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image" Target="../media/image-20-1.png"/><Relationship Id="rId2" Type="http://schemas.openxmlformats.org/officeDocument/2006/relationships/image" Target="../media/image-20-2.png"/><Relationship Id="rId3" Type="http://schemas.openxmlformats.org/officeDocument/2006/relationships/image" Target="../media/image-20-3.png"/><Relationship Id="rId4" Type="http://schemas.openxmlformats.org/officeDocument/2006/relationships/image" Target="../media/image-20-4.png"/><Relationship Id="rId5" Type="http://schemas.openxmlformats.org/officeDocument/2006/relationships/image" Target="../media/image-20-5.png"/><Relationship Id="rId6" Type="http://schemas.openxmlformats.org/officeDocument/2006/relationships/image" Target="../media/image-20-6.png"/><Relationship Id="rId7" Type="http://schemas.openxmlformats.org/officeDocument/2006/relationships/slideLayout" Target="../slideLayouts/slideLayout2.xml"/><Relationship Id="rId8"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image" Target="../media/image-21-1.png"/><Relationship Id="rId2" Type="http://schemas.openxmlformats.org/officeDocument/2006/relationships/image" Target="../media/image-21-2.png"/><Relationship Id="rId3" Type="http://schemas.openxmlformats.org/officeDocument/2006/relationships/slideLayout" Target="../slideLayouts/slideLayout2.xml"/><Relationship Id="rId4"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image" Target="../media/image-22-1.png"/><Relationship Id="rId2" Type="http://schemas.openxmlformats.org/officeDocument/2006/relationships/slideLayout" Target="../slideLayouts/slideLayout2.xml"/><Relationship Id="rId3"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chart" Target="../charts/chart5.xml"/><Relationship Id="rId2" Type="http://schemas.openxmlformats.org/officeDocument/2006/relationships/slideLayout" Target="../slideLayouts/slideLayout2.xml"/><Relationship Id="rId3" Type="http://schemas.openxmlformats.org/officeDocument/2006/relationships/notesSlide" Target="../notesSlides/notesSlide24.xml"/><Relationship Id="rId4" Type="http://schemas.openxmlformats.org/officeDocument/2006/relationships/image" Target="../media/image5.png"/></Relationships>
</file>

<file path=ppt/slides/_rels/slide25.xml.rels><?xml version='1.0' encoding='UTF-8' standalone='yes'?>
<Relationships xmlns="http://schemas.openxmlformats.org/package/2006/relationships"><Relationship Id="rId1" Type="http://schemas.openxmlformats.org/officeDocument/2006/relationships/image" Target="../media/image-25-1.jpg"/><Relationship Id="rId2" Type="http://schemas.openxmlformats.org/officeDocument/2006/relationships/slideLayout" Target="../slideLayouts/slideLayout2.xml"/><Relationship Id="rId3"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chart" Target="../charts/chart6.xml"/><Relationship Id="rId2" Type="http://schemas.openxmlformats.org/officeDocument/2006/relationships/slideLayout" Target="../slideLayouts/slideLayout2.xml"/><Relationship Id="rId3" Type="http://schemas.openxmlformats.org/officeDocument/2006/relationships/notesSlide" Target="../notesSlides/notesSlide26.xml"/><Relationship Id="rId4" Type="http://schemas.openxmlformats.org/officeDocument/2006/relationships/image" Target="../media/image6.png"/></Relationships>
</file>

<file path=ppt/slides/_rels/slide27.xml.rels><?xml version='1.0' encoding='UTF-8' standalone='yes'?>
<Relationships xmlns="http://schemas.openxmlformats.org/package/2006/relationships"><Relationship Id="rId1" Type="http://schemas.openxmlformats.org/officeDocument/2006/relationships/image" Target="../media/image-27-1.png"/><Relationship Id="rId2" Type="http://schemas.openxmlformats.org/officeDocument/2006/relationships/slideLayout" Target="../slideLayouts/slideLayout2.xml"/><Relationship Id="rId3"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image" Target="../media/image-28-1.png"/><Relationship Id="rId2" Type="http://schemas.openxmlformats.org/officeDocument/2006/relationships/slideLayout" Target="../slideLayouts/slideLayout2.xml"/><Relationship Id="rId3"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1.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ext 0"/>
          <p:cNvSpPr/>
          <p:nvPr>
            <p:ph idx="100" type="title" hasCustomPrompt="1"/>
          </p:nvPr>
        </p:nvSpPr>
        <p:spPr>
          <a:xfrm>
            <a:off x="457200" y="1097280"/>
            <a:ext cx="4206240" cy="914400"/>
          </a:xfrm>
          <a:prstGeom prst="rect">
            <a:avLst/>
          </a:prstGeom>
          <a:noFill/>
          <a:ln/>
        </p:spPr>
        <p:txBody>
          <a:bodyPr wrap="square" lIns="0" tIns="0" rIns="0" bIns="0" rtlCol="0" anchor="ctr"/>
          <a:lstStyle/>
          <a:p>
            <a:pPr algn="l" indent="0" marL="0">
              <a:buNone/>
            </a:pPr>
            <a:r>
              <a:rPr lang="en-US" sz="4400" b="1" dirty="0">
                <a:solidFill>
                  <a:schemeClr val="bg1"/>
                </a:solidFill>
              </a:rPr>
              <a:t>PhytoShield AI</a:t>
            </a:r>
            <a:endParaRPr lang="en-US" sz="4400" dirty="0"/>
          </a:p>
        </p:txBody>
      </p:sp>
      <p:sp>
        <p:nvSpPr>
          <p:cNvPr id="3" name="text-1"/>
          <p:cNvSpPr txBox="1"/>
          <p:nvPr/>
        </p:nvSpPr>
        <p:spPr>
          <a:xfrm>
            <a:off x="457200" y="2103120"/>
            <a:ext cx="4023360" cy="914400"/>
          </a:xfrm>
          <a:prstGeom prst="rect">
            <a:avLst/>
          </a:prstGeom>
          <a:noFill/>
          <a:ln/>
        </p:spPr>
        <p:txBody>
          <a:bodyPr wrap="square" lIns="0" tIns="0" rIns="0" bIns="0" rtlCol="0" anchor="t"/>
          <a:lstStyle/>
          <a:p>
            <a:pPr indent="0" marL="0">
              <a:buNone/>
            </a:pPr>
            <a:r>
              <a:rPr lang="en-US" sz="2000" dirty="0">
                <a:solidFill>
                  <a:schemeClr val="bg2"/>
                </a:solidFill>
              </a:rPr>
              <a:t>Explainable plant-disease detection on a leakage-free dataset</a:t>
            </a:r>
            <a:endParaRPr lang="en-US" sz="2000" dirty="0"/>
          </a:p>
        </p:txBody>
      </p:sp>
      <p:sp>
        <p:nvSpPr>
          <p:cNvPr id="4" name="text-2"/>
          <p:cNvSpPr txBox="1"/>
          <p:nvPr/>
        </p:nvSpPr>
        <p:spPr>
          <a:xfrm>
            <a:off x="457200" y="3291840"/>
            <a:ext cx="4023360" cy="640080"/>
          </a:xfrm>
          <a:prstGeom prst="rect">
            <a:avLst/>
          </a:prstGeom>
          <a:noFill/>
          <a:ln/>
        </p:spPr>
        <p:txBody>
          <a:bodyPr wrap="square" lIns="0" tIns="0" rIns="0" bIns="0" rtlCol="0" anchor="t"/>
          <a:lstStyle/>
          <a:p>
            <a:pPr indent="0" marL="0">
              <a:buNone/>
            </a:pPr>
            <a:r>
              <a:rPr lang="en-US" sz="1400" dirty="0">
                <a:solidFill>
                  <a:schemeClr val="accent6"/>
                </a:solidFill>
              </a:rPr>
              <a:t>Parth Sharma (23BAI1528)</a:t>
            </a:r>
            <a:endParaRPr lang="en-US" sz="1400" dirty="0"/>
          </a:p>
          <a:p>
            <a:pPr indent="0" marL="0">
              <a:buNone/>
            </a:pPr>
            <a:r>
              <a:rPr lang="en-US" sz="1400" dirty="0">
                <a:solidFill>
                  <a:schemeClr val="accent6"/>
                </a:solidFill>
              </a:rPr>
              <a:t>Aarav Chatley (23BAI1062)</a:t>
            </a:r>
            <a:endParaRPr lang="en-US" sz="1400" dirty="0"/>
          </a:p>
        </p:txBody>
      </p:sp>
      <p:sp>
        <p:nvSpPr>
          <p:cNvPr id="5" name="text-3"/>
          <p:cNvSpPr txBox="1"/>
          <p:nvPr/>
        </p:nvSpPr>
        <p:spPr>
          <a:xfrm>
            <a:off x="457200" y="4114800"/>
            <a:ext cx="4023360" cy="274320"/>
          </a:xfrm>
          <a:prstGeom prst="rect">
            <a:avLst/>
          </a:prstGeom>
          <a:noFill/>
          <a:ln/>
        </p:spPr>
        <p:txBody>
          <a:bodyPr wrap="square" lIns="0" tIns="0" rIns="0" bIns="0" rtlCol="0" anchor="t"/>
          <a:lstStyle/>
          <a:p>
            <a:pPr indent="0" marL="0">
              <a:buNone/>
            </a:pPr>
            <a:r>
              <a:rPr lang="en-US" sz="1200" dirty="0">
                <a:solidFill>
                  <a:schemeClr val="accent6"/>
                </a:solidFill>
              </a:rPr>
              <a:t>Final project review · Explainable AI</a:t>
            </a:r>
            <a:endParaRPr lang="en-US" sz="1200" dirty="0"/>
          </a:p>
        </p:txBody>
      </p:sp>
      <p:pic>
        <p:nvPicPr>
          <p:cNvPr id="6" name="title-figure" descr="/Users/parthsharma/Desktop/XAI PDS/reports/study/figures/fig_dataset_samples.png">    </p:cNvPr>
          <p:cNvPicPr>
            <a:picLocks noChangeAspect="1"/>
          </p:cNvPicPr>
          <p:nvPr/>
        </p:nvPicPr>
        <p:blipFill>
          <a:blip r:embed="rId1"/>
          <a:stretch>
            <a:fillRect/>
          </a:stretch>
        </p:blipFill>
        <p:spPr>
          <a:xfrm>
            <a:off x="4846320" y="1005840"/>
            <a:ext cx="3840480" cy="2430684"/>
          </a:xfrm>
          <a:prstGeom prst="rect">
            <a:avLst/>
          </a:prstGeom>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ph idx="100" type="title" hasCustomPrompt="1"/>
          </p:nvPr>
        </p:nvSpPr>
        <p:spPr>
          <a:xfrm>
            <a:off x="457200" y="256032"/>
            <a:ext cx="8229600" cy="685800"/>
          </a:xfrm>
          <a:prstGeom prst="rect">
            <a:avLst/>
          </a:prstGeom>
          <a:noFill/>
          <a:ln/>
        </p:spPr>
        <p:txBody>
          <a:bodyPr wrap="square" lIns="0" tIns="0" rIns="0" bIns="0" rtlCol="0" anchor="ctr"/>
          <a:lstStyle/>
          <a:p>
            <a:pPr algn="l" indent="0" marL="0">
              <a:buNone/>
            </a:pPr>
            <a:r>
              <a:rPr lang="en-US" sz="2800" b="1" dirty="0">
                <a:solidFill>
                  <a:schemeClr val="tx1"/>
                </a:solidFill>
              </a:rPr>
              <a:t>Why explain a plant-disease model?</a:t>
            </a:r>
            <a:endParaRPr lang="en-US" sz="2800" dirty="0"/>
          </a:p>
        </p:txBody>
      </p:sp>
      <p:sp>
        <p:nvSpPr>
          <p:cNvPr id="4" name="card-4"/>
          <p:cNvSpPr/>
          <p:nvPr/>
        </p:nvSpPr>
        <p:spPr>
          <a:xfrm>
            <a:off x="457200" y="1097280"/>
            <a:ext cx="2606040" cy="3017520"/>
          </a:xfrm>
          <a:prstGeom prst="roundRect">
            <a:avLst>
              <a:gd name="adj" fmla="val 2807"/>
            </a:avLst>
          </a:prstGeom>
          <a:solidFill>
            <a:schemeClr val="bg2"/>
          </a:solidFill>
          <a:ln w="12700">
            <a:solidFill>
              <a:schemeClr val="bg2"/>
            </a:solidFill>
            <a:prstDash val="solid"/>
          </a:ln>
        </p:spPr>
      </p:sp>
      <p:pic>
        <p:nvPicPr>
          <p:cNvPr id="5" name="image-5" descr="/private/tmp/claude-501/-Users-parthsharma-Desktop-XAI-PDS/20cb58d2-ae23-468c-9c17-7a209704af59/scratchpad/deck/assets/why_1.png">    </p:cNvPr>
          <p:cNvPicPr>
            <a:picLocks noChangeAspect="1"/>
          </p:cNvPicPr>
          <p:nvPr/>
        </p:nvPicPr>
        <p:blipFill>
          <a:blip r:embed="rId1"/>
          <a:stretch>
            <a:fillRect/>
          </a:stretch>
        </p:blipFill>
        <p:spPr>
          <a:xfrm>
            <a:off x="1097280" y="1207008"/>
            <a:ext cx="1325880" cy="1325880"/>
          </a:xfrm>
          <a:prstGeom prst="rect">
            <a:avLst/>
          </a:prstGeom>
        </p:spPr>
      </p:pic>
      <p:sp>
        <p:nvSpPr>
          <p:cNvPr id="6" name="text-6"/>
          <p:cNvSpPr txBox="1"/>
          <p:nvPr/>
        </p:nvSpPr>
        <p:spPr>
          <a:xfrm>
            <a:off x="640080" y="2651760"/>
            <a:ext cx="2240280" cy="320040"/>
          </a:xfrm>
          <a:prstGeom prst="rect">
            <a:avLst/>
          </a:prstGeom>
          <a:noFill/>
          <a:ln/>
        </p:spPr>
        <p:txBody>
          <a:bodyPr wrap="square" lIns="0" tIns="0" rIns="0" bIns="0" rtlCol="0" anchor="t"/>
          <a:lstStyle/>
          <a:p>
            <a:pPr indent="0" marL="0">
              <a:buNone/>
            </a:pPr>
            <a:r>
              <a:rPr lang="en-US" sz="1600" b="1" dirty="0">
                <a:solidFill>
                  <a:schemeClr val="tx1"/>
                </a:solidFill>
                <a:latin typeface="Cambria" pitchFamily="34" charset="0"/>
                <a:ea typeface="Cambria" pitchFamily="34" charset="-122"/>
                <a:cs typeface="Cambria" pitchFamily="34" charset="-120"/>
              </a:rPr>
              <a:t>Catch disease early</a:t>
            </a:r>
            <a:endParaRPr lang="en-US" sz="1600" dirty="0"/>
          </a:p>
        </p:txBody>
      </p:sp>
      <p:sp>
        <p:nvSpPr>
          <p:cNvPr id="7" name="text-7"/>
          <p:cNvSpPr txBox="1"/>
          <p:nvPr/>
        </p:nvSpPr>
        <p:spPr>
          <a:xfrm>
            <a:off x="640080" y="3017520"/>
            <a:ext cx="2240280" cy="1051560"/>
          </a:xfrm>
          <a:prstGeom prst="rect">
            <a:avLst/>
          </a:prstGeom>
          <a:noFill/>
          <a:ln/>
        </p:spPr>
        <p:txBody>
          <a:bodyPr wrap="square" lIns="0" tIns="0" rIns="0" bIns="0" rtlCol="0" anchor="t"/>
          <a:lstStyle/>
          <a:p>
            <a:pPr indent="0" marL="0">
              <a:buNone/>
            </a:pPr>
            <a:r>
              <a:rPr lang="en-US" sz="1300" dirty="0">
                <a:solidFill>
                  <a:schemeClr val="tx1"/>
                </a:solidFill>
              </a:rPr>
              <a:t>Spotting a foliar pathogen early lowers treatment cost and warns growers before it spreads.</a:t>
            </a:r>
            <a:endParaRPr lang="en-US" sz="1300" dirty="0"/>
          </a:p>
        </p:txBody>
      </p:sp>
      <p:sp>
        <p:nvSpPr>
          <p:cNvPr id="8" name="card-8"/>
          <p:cNvSpPr/>
          <p:nvPr/>
        </p:nvSpPr>
        <p:spPr>
          <a:xfrm>
            <a:off x="3246120" y="1097280"/>
            <a:ext cx="2606040" cy="3017520"/>
          </a:xfrm>
          <a:prstGeom prst="roundRect">
            <a:avLst>
              <a:gd name="adj" fmla="val 2807"/>
            </a:avLst>
          </a:prstGeom>
          <a:solidFill>
            <a:schemeClr val="bg2"/>
          </a:solidFill>
          <a:ln w="12700">
            <a:solidFill>
              <a:schemeClr val="bg2"/>
            </a:solidFill>
            <a:prstDash val="solid"/>
          </a:ln>
        </p:spPr>
      </p:sp>
      <p:pic>
        <p:nvPicPr>
          <p:cNvPr id="9" name="image-9" descr="/private/tmp/claude-501/-Users-parthsharma-Desktop-XAI-PDS/20cb58d2-ae23-468c-9c17-7a209704af59/scratchpad/deck/assets/why_2.png">    </p:cNvPr>
          <p:cNvPicPr>
            <a:picLocks noChangeAspect="1"/>
          </p:cNvPicPr>
          <p:nvPr/>
        </p:nvPicPr>
        <p:blipFill>
          <a:blip r:embed="rId2"/>
          <a:stretch>
            <a:fillRect/>
          </a:stretch>
        </p:blipFill>
        <p:spPr>
          <a:xfrm>
            <a:off x="3886200" y="1207008"/>
            <a:ext cx="1325880" cy="1325880"/>
          </a:xfrm>
          <a:prstGeom prst="rect">
            <a:avLst/>
          </a:prstGeom>
        </p:spPr>
      </p:pic>
      <p:sp>
        <p:nvSpPr>
          <p:cNvPr id="10" name="text-10"/>
          <p:cNvSpPr txBox="1"/>
          <p:nvPr/>
        </p:nvSpPr>
        <p:spPr>
          <a:xfrm>
            <a:off x="3429000" y="2651760"/>
            <a:ext cx="2240280" cy="320040"/>
          </a:xfrm>
          <a:prstGeom prst="rect">
            <a:avLst/>
          </a:prstGeom>
          <a:noFill/>
          <a:ln/>
        </p:spPr>
        <p:txBody>
          <a:bodyPr wrap="square" lIns="0" tIns="0" rIns="0" bIns="0" rtlCol="0" anchor="t"/>
          <a:lstStyle/>
          <a:p>
            <a:pPr indent="0" marL="0">
              <a:buNone/>
            </a:pPr>
            <a:r>
              <a:rPr lang="en-US" sz="1600" b="1" dirty="0">
                <a:solidFill>
                  <a:schemeClr val="tx1"/>
                </a:solidFill>
                <a:latin typeface="Cambria" pitchFamily="34" charset="0"/>
                <a:ea typeface="Cambria" pitchFamily="34" charset="-122"/>
                <a:cs typeface="Cambria" pitchFamily="34" charset="-120"/>
              </a:rPr>
              <a:t>A label is not enough</a:t>
            </a:r>
            <a:endParaRPr lang="en-US" sz="1600" dirty="0"/>
          </a:p>
        </p:txBody>
      </p:sp>
      <p:sp>
        <p:nvSpPr>
          <p:cNvPr id="11" name="text-11"/>
          <p:cNvSpPr txBox="1"/>
          <p:nvPr/>
        </p:nvSpPr>
        <p:spPr>
          <a:xfrm>
            <a:off x="3429000" y="3017520"/>
            <a:ext cx="2240280" cy="1051560"/>
          </a:xfrm>
          <a:prstGeom prst="rect">
            <a:avLst/>
          </a:prstGeom>
          <a:noFill/>
          <a:ln/>
        </p:spPr>
        <p:txBody>
          <a:bodyPr wrap="square" lIns="0" tIns="0" rIns="0" bIns="0" rtlCol="0" anchor="t"/>
          <a:lstStyle/>
          <a:p>
            <a:pPr indent="0" marL="0">
              <a:buNone/>
            </a:pPr>
            <a:r>
              <a:rPr lang="en-US" sz="1300" dirty="0">
                <a:solidFill>
                  <a:schemeClr val="tx1"/>
                </a:solidFill>
              </a:rPr>
              <a:t>A black-box answer gives no reason to trust it. We show where the model looked and how sure it is.</a:t>
            </a:r>
            <a:endParaRPr lang="en-US" sz="1300" dirty="0"/>
          </a:p>
        </p:txBody>
      </p:sp>
      <p:sp>
        <p:nvSpPr>
          <p:cNvPr id="12" name="card-12"/>
          <p:cNvSpPr/>
          <p:nvPr/>
        </p:nvSpPr>
        <p:spPr>
          <a:xfrm>
            <a:off x="6035040" y="1097280"/>
            <a:ext cx="2606040" cy="3017520"/>
          </a:xfrm>
          <a:prstGeom prst="roundRect">
            <a:avLst>
              <a:gd name="adj" fmla="val 2807"/>
            </a:avLst>
          </a:prstGeom>
          <a:solidFill>
            <a:schemeClr val="bg2"/>
          </a:solidFill>
          <a:ln w="12700">
            <a:solidFill>
              <a:schemeClr val="bg2"/>
            </a:solidFill>
            <a:prstDash val="solid"/>
          </a:ln>
        </p:spPr>
      </p:sp>
      <p:pic>
        <p:nvPicPr>
          <p:cNvPr id="13" name="image-13" descr="/private/tmp/claude-501/-Users-parthsharma-Desktop-XAI-PDS/20cb58d2-ae23-468c-9c17-7a209704af59/scratchpad/deck/assets/why_3.png">    </p:cNvPr>
          <p:cNvPicPr>
            <a:picLocks noChangeAspect="1"/>
          </p:cNvPicPr>
          <p:nvPr/>
        </p:nvPicPr>
        <p:blipFill>
          <a:blip r:embed="rId3"/>
          <a:stretch>
            <a:fillRect/>
          </a:stretch>
        </p:blipFill>
        <p:spPr>
          <a:xfrm>
            <a:off x="6675120" y="1207008"/>
            <a:ext cx="1325880" cy="1325880"/>
          </a:xfrm>
          <a:prstGeom prst="rect">
            <a:avLst/>
          </a:prstGeom>
        </p:spPr>
      </p:pic>
      <p:sp>
        <p:nvSpPr>
          <p:cNvPr id="14" name="text-14"/>
          <p:cNvSpPr txBox="1"/>
          <p:nvPr/>
        </p:nvSpPr>
        <p:spPr>
          <a:xfrm>
            <a:off x="6217920" y="2651760"/>
            <a:ext cx="2240280" cy="320040"/>
          </a:xfrm>
          <a:prstGeom prst="rect">
            <a:avLst/>
          </a:prstGeom>
          <a:noFill/>
          <a:ln/>
        </p:spPr>
        <p:txBody>
          <a:bodyPr wrap="square" lIns="0" tIns="0" rIns="0" bIns="0" rtlCol="0" anchor="t"/>
          <a:lstStyle/>
          <a:p>
            <a:pPr indent="0" marL="0">
              <a:buNone/>
            </a:pPr>
            <a:r>
              <a:rPr lang="en-US" sz="1600" b="1" dirty="0">
                <a:solidFill>
                  <a:schemeClr val="tx1"/>
                </a:solidFill>
                <a:latin typeface="Cambria" pitchFamily="34" charset="0"/>
                <a:ea typeface="Cambria" pitchFamily="34" charset="-122"/>
                <a:cs typeface="Cambria" pitchFamily="34" charset="-120"/>
              </a:rPr>
              <a:t>The Clever Hans risk</a:t>
            </a:r>
            <a:endParaRPr lang="en-US" sz="1600" dirty="0"/>
          </a:p>
        </p:txBody>
      </p:sp>
      <p:sp>
        <p:nvSpPr>
          <p:cNvPr id="15" name="text-15"/>
          <p:cNvSpPr txBox="1"/>
          <p:nvPr/>
        </p:nvSpPr>
        <p:spPr>
          <a:xfrm>
            <a:off x="6217920" y="3017520"/>
            <a:ext cx="2240280" cy="1051560"/>
          </a:xfrm>
          <a:prstGeom prst="rect">
            <a:avLst/>
          </a:prstGeom>
          <a:noFill/>
          <a:ln/>
        </p:spPr>
        <p:txBody>
          <a:bodyPr wrap="square" lIns="0" tIns="0" rIns="0" bIns="0" rtlCol="0" anchor="t"/>
          <a:lstStyle/>
          <a:p>
            <a:pPr indent="0" marL="0">
              <a:buNone/>
            </a:pPr>
            <a:r>
              <a:rPr lang="en-US" sz="1300" dirty="0">
                <a:solidFill>
                  <a:schemeClr val="tx1"/>
                </a:solidFill>
              </a:rPr>
              <a:t>A model can be right for the wrong reason. With the background removed, our accuracy falls to 74.8%.</a:t>
            </a:r>
            <a:endParaRPr lang="en-US" sz="1300" dirty="0"/>
          </a:p>
        </p:txBody>
      </p:sp>
      <p:sp>
        <p:nvSpPr>
          <p:cNvPr id="16" name="card-16"/>
          <p:cNvSpPr/>
          <p:nvPr/>
        </p:nvSpPr>
        <p:spPr>
          <a:xfrm>
            <a:off x="457200" y="4206240"/>
            <a:ext cx="8229600" cy="457200"/>
          </a:xfrm>
          <a:prstGeom prst="roundRect">
            <a:avLst>
              <a:gd name="adj" fmla="val 16000"/>
            </a:avLst>
          </a:prstGeom>
          <a:solidFill>
            <a:srgbClr val="DCEFE4"/>
          </a:solidFill>
          <a:ln w="12700">
            <a:solidFill>
              <a:srgbClr val="DCEFE4"/>
            </a:solidFill>
            <a:prstDash val="solid"/>
          </a:ln>
        </p:spPr>
      </p:sp>
      <p:sp>
        <p:nvSpPr>
          <p:cNvPr id="17" name="text-17"/>
          <p:cNvSpPr txBox="1"/>
          <p:nvPr/>
        </p:nvSpPr>
        <p:spPr>
          <a:xfrm>
            <a:off x="640080" y="4206240"/>
            <a:ext cx="7863840" cy="457200"/>
          </a:xfrm>
          <a:prstGeom prst="rect">
            <a:avLst/>
          </a:prstGeom>
          <a:noFill/>
          <a:ln/>
        </p:spPr>
        <p:txBody>
          <a:bodyPr wrap="square" lIns="0" tIns="0" rIns="0" bIns="0" rtlCol="0" anchor="ctr"/>
          <a:lstStyle/>
          <a:p>
            <a:pPr indent="0" marL="0">
              <a:buNone/>
            </a:pPr>
            <a:r>
              <a:rPr lang="en-US" sz="1400" b="1" dirty="0">
                <a:solidFill>
                  <a:schemeClr val="tx2"/>
                </a:solidFill>
              </a:rPr>
              <a:t>PhytoShield AI shows where the model looked, how sure it is, and how far to trust the explanation.</a:t>
            </a:r>
            <a:endParaRPr lang="en-US" sz="1400" dirty="0"/>
          </a:p>
        </p:txBody>
      </p:sp>
      <p:sp>
        <p:nvSpPr>
          <p:cNvPr id="25" name="Slide Number Placeholder 0"/>
          <p:cNvSpPr>
            <a:spLocks noGrp="1"/>
          </p:cNvSpPr>
          <p:nvPr>
            <p:ph type="sldNum" sz="quarter" idx="4294967295"/>
          </p:nvPr>
        </p:nvSpPr>
        <p:spPr>
          <a:xfrm>
            <a:off x="8229600" y="4828032"/>
            <a:ext cx="457200" cy="22860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defRPr>
            </a:lvl1pPr>
          </a:lstStyle>
          <a:p>
            <a:pPr algn="r"/>
            <a:fld id="{F7021451-1387-4CA6-816F-3879F97B5CBC}" type="slidenum">
              <a:rPr b="0"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ph idx="100" type="title" hasCustomPrompt="1"/>
          </p:nvPr>
        </p:nvSpPr>
        <p:spPr>
          <a:xfrm>
            <a:off x="457200" y="256032"/>
            <a:ext cx="8229600" cy="685800"/>
          </a:xfrm>
          <a:prstGeom prst="rect">
            <a:avLst/>
          </a:prstGeom>
          <a:noFill/>
          <a:ln/>
        </p:spPr>
        <p:txBody>
          <a:bodyPr wrap="square" lIns="0" tIns="0" rIns="0" bIns="0" rtlCol="0" anchor="ctr"/>
          <a:lstStyle/>
          <a:p>
            <a:pPr algn="l" indent="0" marL="0">
              <a:buNone/>
            </a:pPr>
            <a:r>
              <a:rPr lang="en-US" sz="2800" b="1" dirty="0">
                <a:solidFill>
                  <a:schemeClr val="tx1"/>
                </a:solidFill>
              </a:rPr>
              <a:t>What PhytoShield AI does</a:t>
            </a:r>
            <a:endParaRPr lang="en-US" sz="2800" dirty="0"/>
          </a:p>
        </p:txBody>
      </p:sp>
      <p:sp>
        <p:nvSpPr>
          <p:cNvPr id="4" name="step-18"/>
          <p:cNvSpPr/>
          <p:nvPr/>
        </p:nvSpPr>
        <p:spPr>
          <a:xfrm>
            <a:off x="457200" y="1097280"/>
            <a:ext cx="1554480" cy="777240"/>
          </a:xfrm>
          <a:prstGeom prst="homePlate">
            <a:avLst/>
          </a:prstGeom>
          <a:solidFill>
            <a:schemeClr val="tx2"/>
          </a:solidFill>
          <a:ln w="12700">
            <a:solidFill>
              <a:schemeClr val="bg1"/>
            </a:solidFill>
            <a:prstDash val="solid"/>
          </a:ln>
        </p:spPr>
      </p:sp>
      <p:sp>
        <p:nvSpPr>
          <p:cNvPr id="5" name="text-19"/>
          <p:cNvSpPr txBox="1"/>
          <p:nvPr/>
        </p:nvSpPr>
        <p:spPr>
          <a:xfrm>
            <a:off x="566928" y="1097280"/>
            <a:ext cx="1143000" cy="777240"/>
          </a:xfrm>
          <a:prstGeom prst="rect">
            <a:avLst/>
          </a:prstGeom>
          <a:noFill/>
          <a:ln/>
        </p:spPr>
        <p:txBody>
          <a:bodyPr wrap="square" lIns="0" tIns="0" rIns="0" bIns="0" rtlCol="0" anchor="ctr"/>
          <a:lstStyle/>
          <a:p>
            <a:pPr indent="0" marL="0">
              <a:buNone/>
            </a:pPr>
            <a:r>
              <a:rPr lang="en-US" sz="1400" b="1" dirty="0">
                <a:solidFill>
                  <a:schemeClr val="bg1"/>
                </a:solidFill>
              </a:rPr>
              <a:t>Leaf photo</a:t>
            </a:r>
            <a:endParaRPr lang="en-US" sz="1400" dirty="0"/>
          </a:p>
        </p:txBody>
      </p:sp>
      <p:sp>
        <p:nvSpPr>
          <p:cNvPr id="6" name="step-20"/>
          <p:cNvSpPr/>
          <p:nvPr/>
        </p:nvSpPr>
        <p:spPr>
          <a:xfrm>
            <a:off x="2125980" y="1097280"/>
            <a:ext cx="1554480" cy="777240"/>
          </a:xfrm>
          <a:prstGeom prst="homePlate">
            <a:avLst/>
          </a:prstGeom>
          <a:solidFill>
            <a:schemeClr val="accent1"/>
          </a:solidFill>
          <a:ln w="12700">
            <a:solidFill>
              <a:schemeClr val="bg1"/>
            </a:solidFill>
            <a:prstDash val="solid"/>
          </a:ln>
        </p:spPr>
      </p:sp>
      <p:sp>
        <p:nvSpPr>
          <p:cNvPr id="7" name="text-21"/>
          <p:cNvSpPr txBox="1"/>
          <p:nvPr/>
        </p:nvSpPr>
        <p:spPr>
          <a:xfrm>
            <a:off x="2235708" y="1097280"/>
            <a:ext cx="1143000" cy="777240"/>
          </a:xfrm>
          <a:prstGeom prst="rect">
            <a:avLst/>
          </a:prstGeom>
          <a:noFill/>
          <a:ln/>
        </p:spPr>
        <p:txBody>
          <a:bodyPr wrap="square" lIns="0" tIns="0" rIns="0" bIns="0" rtlCol="0" anchor="ctr"/>
          <a:lstStyle/>
          <a:p>
            <a:pPr indent="0" marL="0">
              <a:buNone/>
            </a:pPr>
            <a:r>
              <a:rPr lang="en-US" sz="1400" b="1" dirty="0">
                <a:solidFill>
                  <a:schemeClr val="bg1"/>
                </a:solidFill>
              </a:rPr>
              <a:t>EfficientNet-B0 diagnosis</a:t>
            </a:r>
            <a:endParaRPr lang="en-US" sz="1400" dirty="0"/>
          </a:p>
        </p:txBody>
      </p:sp>
      <p:sp>
        <p:nvSpPr>
          <p:cNvPr id="8" name="step-22"/>
          <p:cNvSpPr/>
          <p:nvPr/>
        </p:nvSpPr>
        <p:spPr>
          <a:xfrm>
            <a:off x="3794760" y="1097280"/>
            <a:ext cx="1554480" cy="777240"/>
          </a:xfrm>
          <a:prstGeom prst="homePlate">
            <a:avLst/>
          </a:prstGeom>
          <a:solidFill>
            <a:schemeClr val="tx2"/>
          </a:solidFill>
          <a:ln w="12700">
            <a:solidFill>
              <a:schemeClr val="bg1"/>
            </a:solidFill>
            <a:prstDash val="solid"/>
          </a:ln>
        </p:spPr>
      </p:sp>
      <p:sp>
        <p:nvSpPr>
          <p:cNvPr id="9" name="text-23"/>
          <p:cNvSpPr txBox="1"/>
          <p:nvPr/>
        </p:nvSpPr>
        <p:spPr>
          <a:xfrm>
            <a:off x="3904488" y="1097280"/>
            <a:ext cx="1143000" cy="777240"/>
          </a:xfrm>
          <a:prstGeom prst="rect">
            <a:avLst/>
          </a:prstGeom>
          <a:noFill/>
          <a:ln/>
        </p:spPr>
        <p:txBody>
          <a:bodyPr wrap="square" lIns="0" tIns="0" rIns="0" bIns="0" rtlCol="0" anchor="ctr"/>
          <a:lstStyle/>
          <a:p>
            <a:pPr indent="0" marL="0">
              <a:buNone/>
            </a:pPr>
            <a:r>
              <a:rPr lang="en-US" sz="1400" b="1" dirty="0">
                <a:solidFill>
                  <a:schemeClr val="bg1"/>
                </a:solidFill>
              </a:rPr>
              <a:t>7 explanation engines</a:t>
            </a:r>
            <a:endParaRPr lang="en-US" sz="1400" dirty="0"/>
          </a:p>
        </p:txBody>
      </p:sp>
      <p:sp>
        <p:nvSpPr>
          <p:cNvPr id="10" name="step-24"/>
          <p:cNvSpPr/>
          <p:nvPr/>
        </p:nvSpPr>
        <p:spPr>
          <a:xfrm>
            <a:off x="5463540" y="1097280"/>
            <a:ext cx="1554480" cy="777240"/>
          </a:xfrm>
          <a:prstGeom prst="homePlate">
            <a:avLst/>
          </a:prstGeom>
          <a:solidFill>
            <a:schemeClr val="accent1"/>
          </a:solidFill>
          <a:ln w="12700">
            <a:solidFill>
              <a:schemeClr val="bg1"/>
            </a:solidFill>
            <a:prstDash val="solid"/>
          </a:ln>
        </p:spPr>
      </p:sp>
      <p:sp>
        <p:nvSpPr>
          <p:cNvPr id="11" name="text-25"/>
          <p:cNvSpPr txBox="1"/>
          <p:nvPr/>
        </p:nvSpPr>
        <p:spPr>
          <a:xfrm>
            <a:off x="5573268" y="1097280"/>
            <a:ext cx="1143000" cy="777240"/>
          </a:xfrm>
          <a:prstGeom prst="rect">
            <a:avLst/>
          </a:prstGeom>
          <a:noFill/>
          <a:ln/>
        </p:spPr>
        <p:txBody>
          <a:bodyPr wrap="square" lIns="0" tIns="0" rIns="0" bIns="0" rtlCol="0" anchor="ctr"/>
          <a:lstStyle/>
          <a:p>
            <a:pPr indent="0" marL="0">
              <a:buNone/>
            </a:pPr>
            <a:r>
              <a:rPr lang="en-US" sz="1400" b="1" dirty="0">
                <a:solidFill>
                  <a:schemeClr val="bg1"/>
                </a:solidFill>
              </a:rPr>
              <a:t>6 quality scores</a:t>
            </a:r>
            <a:endParaRPr lang="en-US" sz="1400" dirty="0"/>
          </a:p>
        </p:txBody>
      </p:sp>
      <p:sp>
        <p:nvSpPr>
          <p:cNvPr id="12" name="step-26"/>
          <p:cNvSpPr/>
          <p:nvPr/>
        </p:nvSpPr>
        <p:spPr>
          <a:xfrm>
            <a:off x="7132320" y="1097280"/>
            <a:ext cx="1554480" cy="777240"/>
          </a:xfrm>
          <a:prstGeom prst="homePlate">
            <a:avLst/>
          </a:prstGeom>
          <a:solidFill>
            <a:schemeClr val="tx2"/>
          </a:solidFill>
          <a:ln w="12700">
            <a:solidFill>
              <a:schemeClr val="bg1"/>
            </a:solidFill>
            <a:prstDash val="solid"/>
          </a:ln>
        </p:spPr>
      </p:sp>
      <p:sp>
        <p:nvSpPr>
          <p:cNvPr id="13" name="text-27"/>
          <p:cNvSpPr txBox="1"/>
          <p:nvPr/>
        </p:nvSpPr>
        <p:spPr>
          <a:xfrm>
            <a:off x="7242048" y="1097280"/>
            <a:ext cx="1143000" cy="777240"/>
          </a:xfrm>
          <a:prstGeom prst="rect">
            <a:avLst/>
          </a:prstGeom>
          <a:noFill/>
          <a:ln/>
        </p:spPr>
        <p:txBody>
          <a:bodyPr wrap="square" lIns="0" tIns="0" rIns="0" bIns="0" rtlCol="0" anchor="ctr"/>
          <a:lstStyle/>
          <a:p>
            <a:pPr indent="0" marL="0">
              <a:buNone/>
            </a:pPr>
            <a:r>
              <a:rPr lang="en-US" sz="1400" b="1" dirty="0">
                <a:solidFill>
                  <a:schemeClr val="bg1"/>
                </a:solidFill>
              </a:rPr>
              <a:t>Report and guidance</a:t>
            </a:r>
            <a:endParaRPr lang="en-US" sz="1400" dirty="0"/>
          </a:p>
        </p:txBody>
      </p:sp>
      <p:sp>
        <p:nvSpPr>
          <p:cNvPr id="14" name="frame-28"/>
          <p:cNvSpPr/>
          <p:nvPr/>
        </p:nvSpPr>
        <p:spPr>
          <a:xfrm>
            <a:off x="572232" y="2057400"/>
            <a:ext cx="7999536" cy="1645920"/>
          </a:xfrm>
          <a:prstGeom prst="roundRect">
            <a:avLst>
              <a:gd name="adj" fmla="val 3333"/>
            </a:avLst>
          </a:prstGeom>
          <a:solidFill>
            <a:srgbClr val="DCE7E0"/>
          </a:solidFill>
          <a:ln w="12700">
            <a:solidFill>
              <a:srgbClr val="DCE7E0"/>
            </a:solidFill>
            <a:prstDash val="solid"/>
          </a:ln>
        </p:spPr>
      </p:sp>
      <p:pic>
        <p:nvPicPr>
          <p:cNvPr id="15" name="screenshot-29" descr="/private/tmp/claude-501/-Users-parthsharma-Desktop-XAI-PDS/20cb58d2-ae23-468c-9c17-7a209704af59/scratchpad/deck/assets/app_diag.jpg">    </p:cNvPr>
          <p:cNvPicPr>
            <a:picLocks noChangeAspect="1"/>
          </p:cNvPicPr>
          <p:nvPr/>
        </p:nvPicPr>
        <p:blipFill>
          <a:blip r:embed="rId1"/>
          <a:stretch>
            <a:fillRect/>
          </a:stretch>
        </p:blipFill>
        <p:spPr>
          <a:xfrm>
            <a:off x="627096" y="2112264"/>
            <a:ext cx="7889808" cy="1536192"/>
          </a:xfrm>
          <a:prstGeom prst="rect">
            <a:avLst/>
          </a:prstGeom>
        </p:spPr>
      </p:pic>
      <p:sp>
        <p:nvSpPr>
          <p:cNvPr id="16" name="card-30"/>
          <p:cNvSpPr/>
          <p:nvPr/>
        </p:nvSpPr>
        <p:spPr>
          <a:xfrm>
            <a:off x="457200" y="3840480"/>
            <a:ext cx="1920240" cy="868680"/>
          </a:xfrm>
          <a:prstGeom prst="roundRect">
            <a:avLst>
              <a:gd name="adj" fmla="val 8421"/>
            </a:avLst>
          </a:prstGeom>
          <a:solidFill>
            <a:schemeClr val="bg2"/>
          </a:solidFill>
          <a:ln w="12700">
            <a:solidFill>
              <a:schemeClr val="bg2"/>
            </a:solidFill>
            <a:prstDash val="solid"/>
          </a:ln>
        </p:spPr>
      </p:sp>
      <p:sp>
        <p:nvSpPr>
          <p:cNvPr id="17" name="text-31"/>
          <p:cNvSpPr txBox="1"/>
          <p:nvPr/>
        </p:nvSpPr>
        <p:spPr>
          <a:xfrm>
            <a:off x="594360" y="3886200"/>
            <a:ext cx="1645920" cy="411480"/>
          </a:xfrm>
          <a:prstGeom prst="rect">
            <a:avLst/>
          </a:prstGeom>
          <a:noFill/>
          <a:ln/>
        </p:spPr>
        <p:txBody>
          <a:bodyPr wrap="square" lIns="0" tIns="0" rIns="0" bIns="0" rtlCol="0" anchor="ctr"/>
          <a:lstStyle/>
          <a:p>
            <a:pPr indent="0" marL="0">
              <a:buNone/>
            </a:pPr>
            <a:r>
              <a:rPr lang="en-US" sz="2200" b="1" dirty="0">
                <a:solidFill>
                  <a:schemeClr val="accent1"/>
                </a:solidFill>
                <a:latin typeface="Cambria" pitchFamily="34" charset="0"/>
                <a:ea typeface="Cambria" pitchFamily="34" charset="-122"/>
                <a:cs typeface="Cambria" pitchFamily="34" charset="-120"/>
              </a:rPr>
              <a:t>98.13%</a:t>
            </a:r>
            <a:endParaRPr lang="en-US" sz="2200" dirty="0"/>
          </a:p>
        </p:txBody>
      </p:sp>
      <p:sp>
        <p:nvSpPr>
          <p:cNvPr id="18" name="text-32"/>
          <p:cNvSpPr txBox="1"/>
          <p:nvPr/>
        </p:nvSpPr>
        <p:spPr>
          <a:xfrm>
            <a:off x="594360" y="4297680"/>
            <a:ext cx="1691640" cy="365760"/>
          </a:xfrm>
          <a:prstGeom prst="rect">
            <a:avLst/>
          </a:prstGeom>
          <a:noFill/>
          <a:ln/>
        </p:spPr>
        <p:txBody>
          <a:bodyPr wrap="square" lIns="0" tIns="0" rIns="0" bIns="0" rtlCol="0" anchor="t"/>
          <a:lstStyle/>
          <a:p>
            <a:pPr indent="0" marL="0">
              <a:buNone/>
            </a:pPr>
            <a:r>
              <a:rPr lang="en-US" sz="1050" dirty="0">
                <a:solidFill>
                  <a:schemeClr val="accent6"/>
                </a:solidFill>
              </a:rPr>
              <a:t>test accuracy, 3,107 unseen photos</a:t>
            </a:r>
            <a:endParaRPr lang="en-US" sz="1050" dirty="0"/>
          </a:p>
        </p:txBody>
      </p:sp>
      <p:sp>
        <p:nvSpPr>
          <p:cNvPr id="19" name="card-33"/>
          <p:cNvSpPr/>
          <p:nvPr/>
        </p:nvSpPr>
        <p:spPr>
          <a:xfrm>
            <a:off x="2560320" y="3840480"/>
            <a:ext cx="1920240" cy="868680"/>
          </a:xfrm>
          <a:prstGeom prst="roundRect">
            <a:avLst>
              <a:gd name="adj" fmla="val 8421"/>
            </a:avLst>
          </a:prstGeom>
          <a:solidFill>
            <a:schemeClr val="bg2"/>
          </a:solidFill>
          <a:ln w="12700">
            <a:solidFill>
              <a:schemeClr val="bg2"/>
            </a:solidFill>
            <a:prstDash val="solid"/>
          </a:ln>
        </p:spPr>
      </p:sp>
      <p:sp>
        <p:nvSpPr>
          <p:cNvPr id="20" name="text-34"/>
          <p:cNvSpPr txBox="1"/>
          <p:nvPr/>
        </p:nvSpPr>
        <p:spPr>
          <a:xfrm>
            <a:off x="2697480" y="3886200"/>
            <a:ext cx="1645920" cy="411480"/>
          </a:xfrm>
          <a:prstGeom prst="rect">
            <a:avLst/>
          </a:prstGeom>
          <a:noFill/>
          <a:ln/>
        </p:spPr>
        <p:txBody>
          <a:bodyPr wrap="square" lIns="0" tIns="0" rIns="0" bIns="0" rtlCol="0" anchor="ctr"/>
          <a:lstStyle/>
          <a:p>
            <a:pPr indent="0" marL="0">
              <a:buNone/>
            </a:pPr>
            <a:r>
              <a:rPr lang="en-US" sz="2200" b="1" dirty="0">
                <a:solidFill>
                  <a:schemeClr val="accent1"/>
                </a:solidFill>
                <a:latin typeface="Cambria" pitchFamily="34" charset="0"/>
                <a:ea typeface="Cambria" pitchFamily="34" charset="-122"/>
                <a:cs typeface="Cambria" pitchFamily="34" charset="-120"/>
              </a:rPr>
              <a:t>20,624</a:t>
            </a:r>
            <a:endParaRPr lang="en-US" sz="2200" dirty="0"/>
          </a:p>
        </p:txBody>
      </p:sp>
      <p:sp>
        <p:nvSpPr>
          <p:cNvPr id="21" name="text-35"/>
          <p:cNvSpPr txBox="1"/>
          <p:nvPr/>
        </p:nvSpPr>
        <p:spPr>
          <a:xfrm>
            <a:off x="2697480" y="4297680"/>
            <a:ext cx="1691640" cy="365760"/>
          </a:xfrm>
          <a:prstGeom prst="rect">
            <a:avLst/>
          </a:prstGeom>
          <a:noFill/>
          <a:ln/>
        </p:spPr>
        <p:txBody>
          <a:bodyPr wrap="square" lIns="0" tIns="0" rIns="0" bIns="0" rtlCol="0" anchor="t"/>
          <a:lstStyle/>
          <a:p>
            <a:pPr indent="0" marL="0">
              <a:buNone/>
            </a:pPr>
            <a:r>
              <a:rPr lang="en-US" sz="1050" dirty="0">
                <a:solidFill>
                  <a:schemeClr val="accent6"/>
                </a:solidFill>
              </a:rPr>
              <a:t>unique images after cleaning</a:t>
            </a:r>
            <a:endParaRPr lang="en-US" sz="1050" dirty="0"/>
          </a:p>
        </p:txBody>
      </p:sp>
      <p:sp>
        <p:nvSpPr>
          <p:cNvPr id="22" name="card-36"/>
          <p:cNvSpPr/>
          <p:nvPr/>
        </p:nvSpPr>
        <p:spPr>
          <a:xfrm>
            <a:off x="4663440" y="3840480"/>
            <a:ext cx="1920240" cy="868680"/>
          </a:xfrm>
          <a:prstGeom prst="roundRect">
            <a:avLst>
              <a:gd name="adj" fmla="val 8421"/>
            </a:avLst>
          </a:prstGeom>
          <a:solidFill>
            <a:schemeClr val="bg2"/>
          </a:solidFill>
          <a:ln w="12700">
            <a:solidFill>
              <a:schemeClr val="bg2"/>
            </a:solidFill>
            <a:prstDash val="solid"/>
          </a:ln>
        </p:spPr>
      </p:sp>
      <p:sp>
        <p:nvSpPr>
          <p:cNvPr id="23" name="text-37"/>
          <p:cNvSpPr txBox="1"/>
          <p:nvPr/>
        </p:nvSpPr>
        <p:spPr>
          <a:xfrm>
            <a:off x="4800600" y="3886200"/>
            <a:ext cx="1645920" cy="411480"/>
          </a:xfrm>
          <a:prstGeom prst="rect">
            <a:avLst/>
          </a:prstGeom>
          <a:noFill/>
          <a:ln/>
        </p:spPr>
        <p:txBody>
          <a:bodyPr wrap="square" lIns="0" tIns="0" rIns="0" bIns="0" rtlCol="0" anchor="ctr"/>
          <a:lstStyle/>
          <a:p>
            <a:pPr indent="0" marL="0">
              <a:buNone/>
            </a:pPr>
            <a:r>
              <a:rPr lang="en-US" sz="2200" b="1" dirty="0">
                <a:solidFill>
                  <a:schemeClr val="accent1"/>
                </a:solidFill>
                <a:latin typeface="Cambria" pitchFamily="34" charset="0"/>
                <a:ea typeface="Cambria" pitchFamily="34" charset="-122"/>
                <a:cs typeface="Cambria" pitchFamily="34" charset="-120"/>
              </a:rPr>
              <a:t>15</a:t>
            </a:r>
            <a:endParaRPr lang="en-US" sz="2200" dirty="0"/>
          </a:p>
        </p:txBody>
      </p:sp>
      <p:sp>
        <p:nvSpPr>
          <p:cNvPr id="24" name="text-38"/>
          <p:cNvSpPr txBox="1"/>
          <p:nvPr/>
        </p:nvSpPr>
        <p:spPr>
          <a:xfrm>
            <a:off x="4800600" y="4297680"/>
            <a:ext cx="1691640" cy="365760"/>
          </a:xfrm>
          <a:prstGeom prst="rect">
            <a:avLst/>
          </a:prstGeom>
          <a:noFill/>
          <a:ln/>
        </p:spPr>
        <p:txBody>
          <a:bodyPr wrap="square" lIns="0" tIns="0" rIns="0" bIns="0" rtlCol="0" anchor="t"/>
          <a:lstStyle/>
          <a:p>
            <a:pPr indent="0" marL="0">
              <a:buNone/>
            </a:pPr>
            <a:r>
              <a:rPr lang="en-US" sz="1050" dirty="0">
                <a:solidFill>
                  <a:schemeClr val="accent6"/>
                </a:solidFill>
              </a:rPr>
              <a:t>crop-disease classes</a:t>
            </a:r>
            <a:endParaRPr lang="en-US" sz="1050" dirty="0"/>
          </a:p>
        </p:txBody>
      </p:sp>
      <p:sp>
        <p:nvSpPr>
          <p:cNvPr id="25" name="card-39"/>
          <p:cNvSpPr/>
          <p:nvPr/>
        </p:nvSpPr>
        <p:spPr>
          <a:xfrm>
            <a:off x="6766560" y="3840480"/>
            <a:ext cx="1920240" cy="868680"/>
          </a:xfrm>
          <a:prstGeom prst="roundRect">
            <a:avLst>
              <a:gd name="adj" fmla="val 8421"/>
            </a:avLst>
          </a:prstGeom>
          <a:solidFill>
            <a:schemeClr val="bg2"/>
          </a:solidFill>
          <a:ln w="12700">
            <a:solidFill>
              <a:schemeClr val="bg2"/>
            </a:solidFill>
            <a:prstDash val="solid"/>
          </a:ln>
        </p:spPr>
      </p:sp>
      <p:sp>
        <p:nvSpPr>
          <p:cNvPr id="26" name="text-40"/>
          <p:cNvSpPr txBox="1"/>
          <p:nvPr/>
        </p:nvSpPr>
        <p:spPr>
          <a:xfrm>
            <a:off x="6903720" y="3886200"/>
            <a:ext cx="1645920" cy="411480"/>
          </a:xfrm>
          <a:prstGeom prst="rect">
            <a:avLst/>
          </a:prstGeom>
          <a:noFill/>
          <a:ln/>
        </p:spPr>
        <p:txBody>
          <a:bodyPr wrap="square" lIns="0" tIns="0" rIns="0" bIns="0" rtlCol="0" anchor="ctr"/>
          <a:lstStyle/>
          <a:p>
            <a:pPr indent="0" marL="0">
              <a:buNone/>
            </a:pPr>
            <a:r>
              <a:rPr lang="en-US" sz="2200" b="1" dirty="0">
                <a:solidFill>
                  <a:schemeClr val="accent1"/>
                </a:solidFill>
                <a:latin typeface="Cambria" pitchFamily="34" charset="0"/>
                <a:ea typeface="Cambria" pitchFamily="34" charset="-122"/>
                <a:cs typeface="Cambria" pitchFamily="34" charset="-120"/>
              </a:rPr>
              <a:t>7</a:t>
            </a:r>
            <a:endParaRPr lang="en-US" sz="2200" dirty="0"/>
          </a:p>
        </p:txBody>
      </p:sp>
      <p:sp>
        <p:nvSpPr>
          <p:cNvPr id="27" name="text-41"/>
          <p:cNvSpPr txBox="1"/>
          <p:nvPr/>
        </p:nvSpPr>
        <p:spPr>
          <a:xfrm>
            <a:off x="6903720" y="4297680"/>
            <a:ext cx="1691640" cy="365760"/>
          </a:xfrm>
          <a:prstGeom prst="rect">
            <a:avLst/>
          </a:prstGeom>
          <a:noFill/>
          <a:ln/>
        </p:spPr>
        <p:txBody>
          <a:bodyPr wrap="square" lIns="0" tIns="0" rIns="0" bIns="0" rtlCol="0" anchor="t"/>
          <a:lstStyle/>
          <a:p>
            <a:pPr indent="0" marL="0">
              <a:buNone/>
            </a:pPr>
            <a:r>
              <a:rPr lang="en-US" sz="1050" dirty="0">
                <a:solidFill>
                  <a:schemeClr val="accent6"/>
                </a:solidFill>
              </a:rPr>
              <a:t>post-hoc explanation engines</a:t>
            </a:r>
            <a:endParaRPr lang="en-US" sz="1050" dirty="0"/>
          </a:p>
        </p:txBody>
      </p:sp>
      <p:sp>
        <p:nvSpPr>
          <p:cNvPr id="25" name="Slide Number Placeholder 0"/>
          <p:cNvSpPr>
            <a:spLocks noGrp="1"/>
          </p:cNvSpPr>
          <p:nvPr>
            <p:ph type="sldNum" sz="quarter" idx="4294967295"/>
          </p:nvPr>
        </p:nvSpPr>
        <p:spPr>
          <a:xfrm>
            <a:off x="8229600" y="4828032"/>
            <a:ext cx="457200" cy="22860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defRPr>
            </a:lvl1pPr>
          </a:lstStyle>
          <a:p>
            <a:pPr algn="r"/>
            <a:fld id="{F7021451-1387-4CA6-816F-3879F97B5CBC}" type="slidenum">
              <a:rPr b="0"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ph idx="100" type="title" hasCustomPrompt="1"/>
          </p:nvPr>
        </p:nvSpPr>
        <p:spPr>
          <a:xfrm>
            <a:off x="457200" y="256032"/>
            <a:ext cx="8229600" cy="685800"/>
          </a:xfrm>
          <a:prstGeom prst="rect">
            <a:avLst/>
          </a:prstGeom>
          <a:noFill/>
          <a:ln/>
        </p:spPr>
        <p:txBody>
          <a:bodyPr wrap="square" lIns="0" tIns="0" rIns="0" bIns="0" rtlCol="0" anchor="ctr"/>
          <a:lstStyle/>
          <a:p>
            <a:pPr algn="l" indent="0" marL="0">
              <a:buNone/>
            </a:pPr>
            <a:r>
              <a:rPr lang="en-US" sz="2800" b="1" dirty="0">
                <a:solidFill>
                  <a:schemeClr val="tx1"/>
                </a:solidFill>
              </a:rPr>
              <a:t>Dataset: a 15-class PlantVillage subset</a:t>
            </a:r>
            <a:endParaRPr lang="en-US" sz="2800" dirty="0"/>
          </a:p>
        </p:txBody>
      </p:sp>
      <p:sp>
        <p:nvSpPr>
          <p:cNvPr id="4" name="text-42"/>
          <p:cNvSpPr txBox="1"/>
          <p:nvPr/>
        </p:nvSpPr>
        <p:spPr>
          <a:xfrm>
            <a:off x="457200" y="1097280"/>
            <a:ext cx="4023360" cy="1920240"/>
          </a:xfrm>
          <a:prstGeom prst="rect">
            <a:avLst/>
          </a:prstGeom>
          <a:noFill/>
          <a:ln/>
        </p:spPr>
        <p:txBody>
          <a:bodyPr wrap="square" lIns="0" tIns="0" rIns="0" bIns="0" rtlCol="0" anchor="t"/>
          <a:lstStyle/>
          <a:p>
            <a:pPr marL="342900" indent="-342900">
              <a:spcAft>
                <a:spcPts val="600"/>
              </a:spcAft>
              <a:buSzPct val="100000"/>
              <a:buChar char="•"/>
            </a:pPr>
            <a:r>
              <a:rPr lang="en-US" sz="1400" dirty="0">
                <a:solidFill>
                  <a:schemeClr val="tx1"/>
                </a:solidFill>
              </a:rPr>
              <a:t>PlantVillage: about 54,300 leaf photos, 38 classes</a:t>
            </a:r>
            <a:endParaRPr lang="en-US" sz="1400" dirty="0"/>
          </a:p>
          <a:p>
            <a:pPr marL="342900" indent="-342900">
              <a:spcAft>
                <a:spcPts val="600"/>
              </a:spcAft>
              <a:buSzPct val="100000"/>
              <a:buChar char="•"/>
            </a:pPr>
            <a:r>
              <a:rPr lang="en-US" sz="1400" dirty="0">
                <a:solidFill>
                  <a:schemeClr val="tx1"/>
                </a:solidFill>
              </a:rPr>
              <a:t>We use 15 classes (pepper, potato, tomato), taken from the Kaggle copy</a:t>
            </a:r>
            <a:endParaRPr lang="en-US" sz="1400" dirty="0"/>
          </a:p>
          <a:p>
            <a:pPr marL="342900" indent="-342900">
              <a:spcAft>
                <a:spcPts val="600"/>
              </a:spcAft>
              <a:buSzPct val="100000"/>
              <a:buChar char="•"/>
            </a:pPr>
            <a:r>
              <a:rPr lang="en-US" sz="1400" dirty="0">
                <a:solidFill>
                  <a:schemeClr val="tx1"/>
                </a:solidFill>
              </a:rPr>
              <a:t>A small corpus on purpose: test the pipeline and its compute cost before training on all 38</a:t>
            </a:r>
            <a:endParaRPr lang="en-US" sz="1400" dirty="0"/>
          </a:p>
        </p:txBody>
      </p:sp>
      <p:pic>
        <p:nvPicPr>
          <p:cNvPr id="5" name="sample-43" descr="/private/tmp/claude-501/-Users-parthsharma-Desktop-XAI-PDS/20cb58d2-ae23-468c-9c17-7a209704af59/scratchpad/deck/assets/ds_1.png">    </p:cNvPr>
          <p:cNvPicPr>
            <a:picLocks noChangeAspect="1"/>
          </p:cNvPicPr>
          <p:nvPr/>
        </p:nvPicPr>
        <p:blipFill>
          <a:blip r:embed="rId1"/>
          <a:stretch>
            <a:fillRect/>
          </a:stretch>
        </p:blipFill>
        <p:spPr>
          <a:xfrm>
            <a:off x="457200" y="3108960"/>
            <a:ext cx="960120" cy="960120"/>
          </a:xfrm>
          <a:prstGeom prst="rect">
            <a:avLst/>
          </a:prstGeom>
        </p:spPr>
      </p:pic>
      <p:sp>
        <p:nvSpPr>
          <p:cNvPr id="6" name="text-44"/>
          <p:cNvSpPr txBox="1"/>
          <p:nvPr/>
        </p:nvSpPr>
        <p:spPr>
          <a:xfrm>
            <a:off x="457200" y="4114800"/>
            <a:ext cx="960120" cy="365760"/>
          </a:xfrm>
          <a:prstGeom prst="rect">
            <a:avLst/>
          </a:prstGeom>
          <a:noFill/>
          <a:ln/>
        </p:spPr>
        <p:txBody>
          <a:bodyPr wrap="square" lIns="0" tIns="0" rIns="0" bIns="0" rtlCol="0" anchor="t"/>
          <a:lstStyle/>
          <a:p>
            <a:pPr algn="ctr" indent="0" marL="0">
              <a:buNone/>
            </a:pPr>
            <a:r>
              <a:rPr lang="en-US" sz="1000" dirty="0">
                <a:solidFill>
                  <a:schemeClr val="accent6"/>
                </a:solidFill>
              </a:rPr>
              <a:t>Tomato early blight</a:t>
            </a:r>
            <a:endParaRPr lang="en-US" sz="1000" dirty="0"/>
          </a:p>
        </p:txBody>
      </p:sp>
      <p:pic>
        <p:nvPicPr>
          <p:cNvPr id="7" name="sample-45" descr="/private/tmp/claude-501/-Users-parthsharma-Desktop-XAI-PDS/20cb58d2-ae23-468c-9c17-7a209704af59/scratchpad/deck/assets/ds_2.png">    </p:cNvPr>
          <p:cNvPicPr>
            <a:picLocks noChangeAspect="1"/>
          </p:cNvPicPr>
          <p:nvPr/>
        </p:nvPicPr>
        <p:blipFill>
          <a:blip r:embed="rId2"/>
          <a:stretch>
            <a:fillRect/>
          </a:stretch>
        </p:blipFill>
        <p:spPr>
          <a:xfrm>
            <a:off x="1481328" y="3108960"/>
            <a:ext cx="960120" cy="960120"/>
          </a:xfrm>
          <a:prstGeom prst="rect">
            <a:avLst/>
          </a:prstGeom>
        </p:spPr>
      </p:pic>
      <p:sp>
        <p:nvSpPr>
          <p:cNvPr id="8" name="text-46"/>
          <p:cNvSpPr txBox="1"/>
          <p:nvPr/>
        </p:nvSpPr>
        <p:spPr>
          <a:xfrm>
            <a:off x="1481328" y="4114800"/>
            <a:ext cx="960120" cy="365760"/>
          </a:xfrm>
          <a:prstGeom prst="rect">
            <a:avLst/>
          </a:prstGeom>
          <a:noFill/>
          <a:ln/>
        </p:spPr>
        <p:txBody>
          <a:bodyPr wrap="square" lIns="0" tIns="0" rIns="0" bIns="0" rtlCol="0" anchor="t"/>
          <a:lstStyle/>
          <a:p>
            <a:pPr algn="ctr" indent="0" marL="0">
              <a:buNone/>
            </a:pPr>
            <a:r>
              <a:rPr lang="en-US" sz="1000" dirty="0">
                <a:solidFill>
                  <a:schemeClr val="accent6"/>
                </a:solidFill>
              </a:rPr>
              <a:t>Potato late blight</a:t>
            </a:r>
            <a:endParaRPr lang="en-US" sz="1000" dirty="0"/>
          </a:p>
        </p:txBody>
      </p:sp>
      <p:pic>
        <p:nvPicPr>
          <p:cNvPr id="9" name="sample-47" descr="/private/tmp/claude-501/-Users-parthsharma-Desktop-XAI-PDS/20cb58d2-ae23-468c-9c17-7a209704af59/scratchpad/deck/assets/ds_3.png">    </p:cNvPr>
          <p:cNvPicPr>
            <a:picLocks noChangeAspect="1"/>
          </p:cNvPicPr>
          <p:nvPr/>
        </p:nvPicPr>
        <p:blipFill>
          <a:blip r:embed="rId3"/>
          <a:stretch>
            <a:fillRect/>
          </a:stretch>
        </p:blipFill>
        <p:spPr>
          <a:xfrm>
            <a:off x="2505456" y="3108960"/>
            <a:ext cx="960120" cy="960120"/>
          </a:xfrm>
          <a:prstGeom prst="rect">
            <a:avLst/>
          </a:prstGeom>
        </p:spPr>
      </p:pic>
      <p:sp>
        <p:nvSpPr>
          <p:cNvPr id="10" name="text-48"/>
          <p:cNvSpPr txBox="1"/>
          <p:nvPr/>
        </p:nvSpPr>
        <p:spPr>
          <a:xfrm>
            <a:off x="2505456" y="4114800"/>
            <a:ext cx="960120" cy="365760"/>
          </a:xfrm>
          <a:prstGeom prst="rect">
            <a:avLst/>
          </a:prstGeom>
          <a:noFill/>
          <a:ln/>
        </p:spPr>
        <p:txBody>
          <a:bodyPr wrap="square" lIns="0" tIns="0" rIns="0" bIns="0" rtlCol="0" anchor="t"/>
          <a:lstStyle/>
          <a:p>
            <a:pPr algn="ctr" indent="0" marL="0">
              <a:buNone/>
            </a:pPr>
            <a:r>
              <a:rPr lang="en-US" sz="1000" dirty="0">
                <a:solidFill>
                  <a:schemeClr val="accent6"/>
                </a:solidFill>
              </a:rPr>
              <a:t>Pepper bacterial spot</a:t>
            </a:r>
            <a:endParaRPr lang="en-US" sz="1000" dirty="0"/>
          </a:p>
        </p:txBody>
      </p:sp>
      <p:pic>
        <p:nvPicPr>
          <p:cNvPr id="11" name="sample-49" descr="/private/tmp/claude-501/-Users-parthsharma-Desktop-XAI-PDS/20cb58d2-ae23-468c-9c17-7a209704af59/scratchpad/deck/assets/ds_4.png">    </p:cNvPr>
          <p:cNvPicPr>
            <a:picLocks noChangeAspect="1"/>
          </p:cNvPicPr>
          <p:nvPr/>
        </p:nvPicPr>
        <p:blipFill>
          <a:blip r:embed="rId4"/>
          <a:stretch>
            <a:fillRect/>
          </a:stretch>
        </p:blipFill>
        <p:spPr>
          <a:xfrm>
            <a:off x="3529584" y="3108960"/>
            <a:ext cx="960120" cy="960120"/>
          </a:xfrm>
          <a:prstGeom prst="rect">
            <a:avLst/>
          </a:prstGeom>
        </p:spPr>
      </p:pic>
      <p:sp>
        <p:nvSpPr>
          <p:cNvPr id="12" name="text-50"/>
          <p:cNvSpPr txBox="1"/>
          <p:nvPr/>
        </p:nvSpPr>
        <p:spPr>
          <a:xfrm>
            <a:off x="3529584" y="4114800"/>
            <a:ext cx="960120" cy="365760"/>
          </a:xfrm>
          <a:prstGeom prst="rect">
            <a:avLst/>
          </a:prstGeom>
          <a:noFill/>
          <a:ln/>
        </p:spPr>
        <p:txBody>
          <a:bodyPr wrap="square" lIns="0" tIns="0" rIns="0" bIns="0" rtlCol="0" anchor="t"/>
          <a:lstStyle/>
          <a:p>
            <a:pPr algn="ctr" indent="0" marL="0">
              <a:buNone/>
            </a:pPr>
            <a:r>
              <a:rPr lang="en-US" sz="1000" dirty="0">
                <a:solidFill>
                  <a:schemeClr val="accent6"/>
                </a:solidFill>
              </a:rPr>
              <a:t>Tomato healthy</a:t>
            </a:r>
            <a:endParaRPr lang="en-US" sz="1000" dirty="0"/>
          </a:p>
        </p:txBody>
      </p:sp>
      <p:sp>
        <p:nvSpPr>
          <p:cNvPr id="13" name="card-51"/>
          <p:cNvSpPr/>
          <p:nvPr/>
        </p:nvSpPr>
        <p:spPr>
          <a:xfrm>
            <a:off x="4663440" y="1097280"/>
            <a:ext cx="4023360" cy="2514600"/>
          </a:xfrm>
          <a:prstGeom prst="roundRect">
            <a:avLst>
              <a:gd name="adj" fmla="val 2909"/>
            </a:avLst>
          </a:prstGeom>
          <a:solidFill>
            <a:schemeClr val="bg2"/>
          </a:solidFill>
          <a:ln w="12700">
            <a:solidFill>
              <a:schemeClr val="bg2"/>
            </a:solidFill>
            <a:prstDash val="solid"/>
          </a:ln>
        </p:spPr>
      </p:sp>
      <p:pic>
        <p:nvPicPr>
          <p:cNvPr id="14" name="image-52" descr="/Users/parthsharma/Desktop/XAI PDS/reports/study/figures/fig_dataset_distribution.png">    </p:cNvPr>
          <p:cNvPicPr>
            <a:picLocks noChangeAspect="1"/>
          </p:cNvPicPr>
          <p:nvPr/>
        </p:nvPicPr>
        <p:blipFill>
          <a:blip r:embed="rId5"/>
          <a:stretch>
            <a:fillRect/>
          </a:stretch>
        </p:blipFill>
        <p:spPr>
          <a:xfrm>
            <a:off x="4709160" y="1170432"/>
            <a:ext cx="3931920" cy="2211705"/>
          </a:xfrm>
          <a:prstGeom prst="rect">
            <a:avLst/>
          </a:prstGeom>
        </p:spPr>
      </p:pic>
      <p:sp>
        <p:nvSpPr>
          <p:cNvPr id="15" name="card-53"/>
          <p:cNvSpPr/>
          <p:nvPr/>
        </p:nvSpPr>
        <p:spPr>
          <a:xfrm>
            <a:off x="4663440" y="3749040"/>
            <a:ext cx="1280160" cy="914400"/>
          </a:xfrm>
          <a:prstGeom prst="roundRect">
            <a:avLst>
              <a:gd name="adj" fmla="val 8000"/>
            </a:avLst>
          </a:prstGeom>
          <a:solidFill>
            <a:schemeClr val="bg2"/>
          </a:solidFill>
          <a:ln w="12700">
            <a:solidFill>
              <a:schemeClr val="bg2"/>
            </a:solidFill>
            <a:prstDash val="solid"/>
          </a:ln>
        </p:spPr>
      </p:sp>
      <p:sp>
        <p:nvSpPr>
          <p:cNvPr id="16" name="text-54"/>
          <p:cNvSpPr txBox="1"/>
          <p:nvPr/>
        </p:nvSpPr>
        <p:spPr>
          <a:xfrm>
            <a:off x="4663440" y="3794760"/>
            <a:ext cx="1280160" cy="502920"/>
          </a:xfrm>
          <a:prstGeom prst="rect">
            <a:avLst/>
          </a:prstGeom>
          <a:noFill/>
          <a:ln/>
        </p:spPr>
        <p:txBody>
          <a:bodyPr wrap="square" lIns="0" tIns="0" rIns="0" bIns="0" rtlCol="0" anchor="t"/>
          <a:lstStyle/>
          <a:p>
            <a:pPr algn="ctr" indent="0" marL="0">
              <a:buNone/>
            </a:pPr>
            <a:r>
              <a:rPr lang="en-US" sz="2400" b="1" dirty="0">
                <a:solidFill>
                  <a:schemeClr val="accent1"/>
                </a:solidFill>
                <a:latin typeface="Cambria" pitchFamily="34" charset="0"/>
                <a:ea typeface="Cambria" pitchFamily="34" charset="-122"/>
                <a:cs typeface="Cambria" pitchFamily="34" charset="-120"/>
              </a:rPr>
              <a:t>20,624</a:t>
            </a:r>
            <a:endParaRPr lang="en-US" sz="2400" dirty="0"/>
          </a:p>
        </p:txBody>
      </p:sp>
      <p:sp>
        <p:nvSpPr>
          <p:cNvPr id="17" name="text-55"/>
          <p:cNvSpPr txBox="1"/>
          <p:nvPr/>
        </p:nvSpPr>
        <p:spPr>
          <a:xfrm>
            <a:off x="4663440" y="4297680"/>
            <a:ext cx="1280160" cy="274320"/>
          </a:xfrm>
          <a:prstGeom prst="rect">
            <a:avLst/>
          </a:prstGeom>
          <a:noFill/>
          <a:ln/>
        </p:spPr>
        <p:txBody>
          <a:bodyPr wrap="square" lIns="0" tIns="0" rIns="0" bIns="0" rtlCol="0" anchor="t"/>
          <a:lstStyle/>
          <a:p>
            <a:pPr algn="ctr" indent="0" marL="0">
              <a:buNone/>
            </a:pPr>
            <a:r>
              <a:rPr lang="en-US" sz="1200" dirty="0">
                <a:solidFill>
                  <a:schemeClr val="accent6"/>
                </a:solidFill>
              </a:rPr>
              <a:t>unique images</a:t>
            </a:r>
            <a:endParaRPr lang="en-US" sz="1200" dirty="0"/>
          </a:p>
        </p:txBody>
      </p:sp>
      <p:sp>
        <p:nvSpPr>
          <p:cNvPr id="18" name="card-56"/>
          <p:cNvSpPr/>
          <p:nvPr/>
        </p:nvSpPr>
        <p:spPr>
          <a:xfrm>
            <a:off x="6035040" y="3749040"/>
            <a:ext cx="1280160" cy="914400"/>
          </a:xfrm>
          <a:prstGeom prst="roundRect">
            <a:avLst>
              <a:gd name="adj" fmla="val 8000"/>
            </a:avLst>
          </a:prstGeom>
          <a:solidFill>
            <a:schemeClr val="bg2"/>
          </a:solidFill>
          <a:ln w="12700">
            <a:solidFill>
              <a:schemeClr val="bg2"/>
            </a:solidFill>
            <a:prstDash val="solid"/>
          </a:ln>
        </p:spPr>
      </p:sp>
      <p:sp>
        <p:nvSpPr>
          <p:cNvPr id="19" name="text-57"/>
          <p:cNvSpPr txBox="1"/>
          <p:nvPr/>
        </p:nvSpPr>
        <p:spPr>
          <a:xfrm>
            <a:off x="6035040" y="3794760"/>
            <a:ext cx="1280160" cy="502920"/>
          </a:xfrm>
          <a:prstGeom prst="rect">
            <a:avLst/>
          </a:prstGeom>
          <a:noFill/>
          <a:ln/>
        </p:spPr>
        <p:txBody>
          <a:bodyPr wrap="square" lIns="0" tIns="0" rIns="0" bIns="0" rtlCol="0" anchor="t"/>
          <a:lstStyle/>
          <a:p>
            <a:pPr algn="ctr" indent="0" marL="0">
              <a:buNone/>
            </a:pPr>
            <a:r>
              <a:rPr lang="en-US" sz="2400" b="1" dirty="0">
                <a:solidFill>
                  <a:schemeClr val="accent1"/>
                </a:solidFill>
                <a:latin typeface="Cambria" pitchFamily="34" charset="0"/>
                <a:ea typeface="Cambria" pitchFamily="34" charset="-122"/>
                <a:cs typeface="Cambria" pitchFamily="34" charset="-120"/>
              </a:rPr>
              <a:t>15</a:t>
            </a:r>
            <a:endParaRPr lang="en-US" sz="2400" dirty="0"/>
          </a:p>
        </p:txBody>
      </p:sp>
      <p:sp>
        <p:nvSpPr>
          <p:cNvPr id="20" name="text-58"/>
          <p:cNvSpPr txBox="1"/>
          <p:nvPr/>
        </p:nvSpPr>
        <p:spPr>
          <a:xfrm>
            <a:off x="6035040" y="4297680"/>
            <a:ext cx="1280160" cy="274320"/>
          </a:xfrm>
          <a:prstGeom prst="rect">
            <a:avLst/>
          </a:prstGeom>
          <a:noFill/>
          <a:ln/>
        </p:spPr>
        <p:txBody>
          <a:bodyPr wrap="square" lIns="0" tIns="0" rIns="0" bIns="0" rtlCol="0" anchor="t"/>
          <a:lstStyle/>
          <a:p>
            <a:pPr algn="ctr" indent="0" marL="0">
              <a:buNone/>
            </a:pPr>
            <a:r>
              <a:rPr lang="en-US" sz="1200" dirty="0">
                <a:solidFill>
                  <a:schemeClr val="accent6"/>
                </a:solidFill>
              </a:rPr>
              <a:t>classes</a:t>
            </a:r>
            <a:endParaRPr lang="en-US" sz="1200" dirty="0"/>
          </a:p>
        </p:txBody>
      </p:sp>
      <p:sp>
        <p:nvSpPr>
          <p:cNvPr id="21" name="card-59"/>
          <p:cNvSpPr/>
          <p:nvPr/>
        </p:nvSpPr>
        <p:spPr>
          <a:xfrm>
            <a:off x="7406640" y="3749040"/>
            <a:ext cx="1280160" cy="914400"/>
          </a:xfrm>
          <a:prstGeom prst="roundRect">
            <a:avLst>
              <a:gd name="adj" fmla="val 8000"/>
            </a:avLst>
          </a:prstGeom>
          <a:solidFill>
            <a:schemeClr val="bg2"/>
          </a:solidFill>
          <a:ln w="12700">
            <a:solidFill>
              <a:schemeClr val="bg2"/>
            </a:solidFill>
            <a:prstDash val="solid"/>
          </a:ln>
        </p:spPr>
      </p:sp>
      <p:sp>
        <p:nvSpPr>
          <p:cNvPr id="22" name="text-60"/>
          <p:cNvSpPr txBox="1"/>
          <p:nvPr/>
        </p:nvSpPr>
        <p:spPr>
          <a:xfrm>
            <a:off x="7406640" y="3794760"/>
            <a:ext cx="1280160" cy="502920"/>
          </a:xfrm>
          <a:prstGeom prst="rect">
            <a:avLst/>
          </a:prstGeom>
          <a:noFill/>
          <a:ln/>
        </p:spPr>
        <p:txBody>
          <a:bodyPr wrap="square" lIns="0" tIns="0" rIns="0" bIns="0" rtlCol="0" anchor="t"/>
          <a:lstStyle/>
          <a:p>
            <a:pPr algn="ctr" indent="0" marL="0">
              <a:buNone/>
            </a:pPr>
            <a:r>
              <a:rPr lang="en-US" sz="2400" b="1" dirty="0">
                <a:solidFill>
                  <a:schemeClr val="accent1"/>
                </a:solidFill>
                <a:latin typeface="Cambria" pitchFamily="34" charset="0"/>
                <a:ea typeface="Cambria" pitchFamily="34" charset="-122"/>
                <a:cs typeface="Cambria" pitchFamily="34" charset="-120"/>
              </a:rPr>
              <a:t>3</a:t>
            </a:r>
            <a:endParaRPr lang="en-US" sz="2400" dirty="0"/>
          </a:p>
        </p:txBody>
      </p:sp>
      <p:sp>
        <p:nvSpPr>
          <p:cNvPr id="23" name="text-61"/>
          <p:cNvSpPr txBox="1"/>
          <p:nvPr/>
        </p:nvSpPr>
        <p:spPr>
          <a:xfrm>
            <a:off x="7406640" y="4297680"/>
            <a:ext cx="1280160" cy="274320"/>
          </a:xfrm>
          <a:prstGeom prst="rect">
            <a:avLst/>
          </a:prstGeom>
          <a:noFill/>
          <a:ln/>
        </p:spPr>
        <p:txBody>
          <a:bodyPr wrap="square" lIns="0" tIns="0" rIns="0" bIns="0" rtlCol="0" anchor="t"/>
          <a:lstStyle/>
          <a:p>
            <a:pPr algn="ctr" indent="0" marL="0">
              <a:buNone/>
            </a:pPr>
            <a:r>
              <a:rPr lang="en-US" sz="1200" dirty="0">
                <a:solidFill>
                  <a:schemeClr val="accent6"/>
                </a:solidFill>
              </a:rPr>
              <a:t>crops</a:t>
            </a:r>
            <a:endParaRPr lang="en-US" sz="1200" dirty="0"/>
          </a:p>
        </p:txBody>
      </p:sp>
      <p:sp>
        <p:nvSpPr>
          <p:cNvPr id="25" name="Slide Number Placeholder 0"/>
          <p:cNvSpPr>
            <a:spLocks noGrp="1"/>
          </p:cNvSpPr>
          <p:nvPr>
            <p:ph type="sldNum" sz="quarter" idx="4294967295"/>
          </p:nvPr>
        </p:nvSpPr>
        <p:spPr>
          <a:xfrm>
            <a:off x="8229600" y="4828032"/>
            <a:ext cx="457200" cy="22860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defRPr>
            </a:lvl1pPr>
          </a:lstStyle>
          <a:p>
            <a:pPr algn="r"/>
            <a:fld id="{F7021451-1387-4CA6-816F-3879F97B5CBC}" type="slidenum">
              <a:rPr b="0"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ph idx="100" type="title" hasCustomPrompt="1"/>
          </p:nvPr>
        </p:nvSpPr>
        <p:spPr>
          <a:xfrm>
            <a:off x="457200" y="256032"/>
            <a:ext cx="8229600" cy="685800"/>
          </a:xfrm>
          <a:prstGeom prst="rect">
            <a:avLst/>
          </a:prstGeom>
          <a:noFill/>
          <a:ln/>
        </p:spPr>
        <p:txBody>
          <a:bodyPr wrap="square" lIns="0" tIns="0" rIns="0" bIns="0" rtlCol="0" anchor="ctr"/>
          <a:lstStyle/>
          <a:p>
            <a:pPr algn="l" indent="0" marL="0">
              <a:buNone/>
            </a:pPr>
            <a:r>
              <a:rPr lang="en-US" sz="2800" b="1" dirty="0">
                <a:solidFill>
                  <a:schemeClr val="tx1"/>
                </a:solidFill>
              </a:rPr>
              <a:t>A data leak inflated our first result</a:t>
            </a:r>
            <a:endParaRPr lang="en-US" sz="2800" dirty="0"/>
          </a:p>
        </p:txBody>
      </p:sp>
      <p:sp>
        <p:nvSpPr>
          <p:cNvPr id="5" name="card-62"/>
          <p:cNvSpPr/>
          <p:nvPr/>
        </p:nvSpPr>
        <p:spPr>
          <a:xfrm>
            <a:off x="4389120" y="1097280"/>
            <a:ext cx="2057400" cy="1417320"/>
          </a:xfrm>
          <a:prstGeom prst="roundRect">
            <a:avLst>
              <a:gd name="adj" fmla="val 5161"/>
            </a:avLst>
          </a:prstGeom>
          <a:solidFill>
            <a:schemeClr val="bg2"/>
          </a:solidFill>
          <a:ln w="12700">
            <a:solidFill>
              <a:schemeClr val="bg2"/>
            </a:solidFill>
            <a:prstDash val="solid"/>
          </a:ln>
        </p:spPr>
      </p:sp>
      <p:sp>
        <p:nvSpPr>
          <p:cNvPr id="6" name="card-63"/>
          <p:cNvSpPr/>
          <p:nvPr/>
        </p:nvSpPr>
        <p:spPr>
          <a:xfrm>
            <a:off x="6629400" y="1097280"/>
            <a:ext cx="2057400" cy="1417320"/>
          </a:xfrm>
          <a:prstGeom prst="roundRect">
            <a:avLst>
              <a:gd name="adj" fmla="val 5161"/>
            </a:avLst>
          </a:prstGeom>
          <a:solidFill>
            <a:schemeClr val="bg2"/>
          </a:solidFill>
          <a:ln w="12700">
            <a:solidFill>
              <a:schemeClr val="bg2"/>
            </a:solidFill>
            <a:prstDash val="solid"/>
          </a:ln>
        </p:spPr>
      </p:sp>
      <p:sp>
        <p:nvSpPr>
          <p:cNvPr id="7" name="text-64"/>
          <p:cNvSpPr txBox="1"/>
          <p:nvPr/>
        </p:nvSpPr>
        <p:spPr>
          <a:xfrm>
            <a:off x="4553712" y="1207008"/>
            <a:ext cx="1783080" cy="565573"/>
          </a:xfrm>
          <a:prstGeom prst="rect">
            <a:avLst/>
          </a:prstGeom>
          <a:noFill/>
          <a:ln/>
        </p:spPr>
        <p:txBody>
          <a:bodyPr wrap="square" lIns="0" tIns="0" rIns="0" bIns="0" rtlCol="0" anchor="t"/>
          <a:lstStyle/>
          <a:p>
            <a:pPr indent="0" marL="0">
              <a:buNone/>
            </a:pPr>
            <a:r>
              <a:rPr lang="en-US" sz="2800" b="1" dirty="0">
                <a:solidFill>
                  <a:schemeClr val="accent2"/>
                </a:solidFill>
                <a:latin typeface="Cambria" pitchFamily="34" charset="0"/>
                <a:ea typeface="Cambria" pitchFamily="34" charset="-122"/>
                <a:cs typeface="Cambria" pitchFamily="34" charset="-120"/>
              </a:rPr>
              <a:t>99.48%</a:t>
            </a:r>
            <a:endParaRPr lang="en-US" sz="2800" dirty="0"/>
          </a:p>
        </p:txBody>
      </p:sp>
      <p:sp>
        <p:nvSpPr>
          <p:cNvPr id="8" name="text-65"/>
          <p:cNvSpPr txBox="1"/>
          <p:nvPr/>
        </p:nvSpPr>
        <p:spPr>
          <a:xfrm>
            <a:off x="4553712" y="1790869"/>
            <a:ext cx="1783080" cy="548640"/>
          </a:xfrm>
          <a:prstGeom prst="rect">
            <a:avLst/>
          </a:prstGeom>
          <a:noFill/>
          <a:ln/>
        </p:spPr>
        <p:txBody>
          <a:bodyPr wrap="square" lIns="0" tIns="0" rIns="0" bIns="0" rtlCol="0" anchor="t"/>
          <a:lstStyle/>
          <a:p>
            <a:pPr indent="0" marL="0">
              <a:buNone/>
            </a:pPr>
            <a:r>
              <a:rPr lang="en-US" sz="1300" dirty="0">
                <a:solidFill>
                  <a:schemeClr val="accent6"/>
                </a:solidFill>
              </a:rPr>
              <a:t>first result, inflated by the leak</a:t>
            </a:r>
            <a:endParaRPr lang="en-US" sz="1300" dirty="0"/>
          </a:p>
        </p:txBody>
      </p:sp>
      <p:sp>
        <p:nvSpPr>
          <p:cNvPr id="9" name="text-66"/>
          <p:cNvSpPr txBox="1"/>
          <p:nvPr/>
        </p:nvSpPr>
        <p:spPr>
          <a:xfrm>
            <a:off x="6793992" y="1207008"/>
            <a:ext cx="1783080" cy="565573"/>
          </a:xfrm>
          <a:prstGeom prst="rect">
            <a:avLst/>
          </a:prstGeom>
          <a:noFill/>
          <a:ln/>
        </p:spPr>
        <p:txBody>
          <a:bodyPr wrap="square" lIns="0" tIns="0" rIns="0" bIns="0" rtlCol="0" anchor="t"/>
          <a:lstStyle/>
          <a:p>
            <a:pPr indent="0" marL="0">
              <a:buNone/>
            </a:pPr>
            <a:r>
              <a:rPr lang="en-US" sz="2800" b="1" dirty="0">
                <a:solidFill>
                  <a:schemeClr val="accent1"/>
                </a:solidFill>
                <a:latin typeface="Cambria" pitchFamily="34" charset="0"/>
                <a:ea typeface="Cambria" pitchFamily="34" charset="-122"/>
                <a:cs typeface="Cambria" pitchFamily="34" charset="-120"/>
              </a:rPr>
              <a:t>98.13%</a:t>
            </a:r>
            <a:endParaRPr lang="en-US" sz="2800" dirty="0"/>
          </a:p>
        </p:txBody>
      </p:sp>
      <p:sp>
        <p:nvSpPr>
          <p:cNvPr id="10" name="text-67"/>
          <p:cNvSpPr txBox="1"/>
          <p:nvPr/>
        </p:nvSpPr>
        <p:spPr>
          <a:xfrm>
            <a:off x="6793992" y="1790869"/>
            <a:ext cx="1783080" cy="548640"/>
          </a:xfrm>
          <a:prstGeom prst="rect">
            <a:avLst/>
          </a:prstGeom>
          <a:noFill/>
          <a:ln/>
        </p:spPr>
        <p:txBody>
          <a:bodyPr wrap="square" lIns="0" tIns="0" rIns="0" bIns="0" rtlCol="0" anchor="t"/>
          <a:lstStyle/>
          <a:p>
            <a:pPr indent="0" marL="0">
              <a:buNone/>
            </a:pPr>
            <a:r>
              <a:rPr lang="en-US" sz="1300" dirty="0">
                <a:solidFill>
                  <a:schemeClr val="accent6"/>
                </a:solidFill>
              </a:rPr>
              <a:t>honest result, no duplicates</a:t>
            </a:r>
            <a:endParaRPr lang="en-US" sz="1300" dirty="0"/>
          </a:p>
        </p:txBody>
      </p:sp>
      <p:sp>
        <p:nvSpPr>
          <p:cNvPr id="11" name="card-68"/>
          <p:cNvSpPr/>
          <p:nvPr/>
        </p:nvSpPr>
        <p:spPr>
          <a:xfrm>
            <a:off x="4389120" y="2697480"/>
            <a:ext cx="4297680" cy="1417320"/>
          </a:xfrm>
          <a:prstGeom prst="roundRect">
            <a:avLst>
              <a:gd name="adj" fmla="val 5161"/>
            </a:avLst>
          </a:prstGeom>
          <a:solidFill>
            <a:schemeClr val="bg2"/>
          </a:solidFill>
          <a:ln w="12700">
            <a:solidFill>
              <a:schemeClr val="bg2"/>
            </a:solidFill>
            <a:prstDash val="solid"/>
          </a:ln>
        </p:spPr>
      </p:sp>
      <p:sp>
        <p:nvSpPr>
          <p:cNvPr id="12" name="text-69"/>
          <p:cNvSpPr txBox="1"/>
          <p:nvPr/>
        </p:nvSpPr>
        <p:spPr>
          <a:xfrm>
            <a:off x="4572000" y="2816352"/>
            <a:ext cx="3931920" cy="1234440"/>
          </a:xfrm>
          <a:prstGeom prst="rect">
            <a:avLst/>
          </a:prstGeom>
          <a:noFill/>
          <a:ln/>
        </p:spPr>
        <p:txBody>
          <a:bodyPr wrap="square" lIns="0" tIns="0" rIns="0" bIns="0" rtlCol="0" anchor="t"/>
          <a:lstStyle/>
          <a:p>
            <a:pPr indent="0" marL="0">
              <a:spcAft>
                <a:spcPts val="600"/>
              </a:spcAft>
              <a:buNone/>
            </a:pPr>
            <a:r>
              <a:rPr lang="en-US" sz="1500" b="1" dirty="0">
                <a:solidFill>
                  <a:schemeClr val="tx1"/>
                </a:solidFill>
              </a:rPr>
              <a:t>Train-test contamination</a:t>
            </a:r>
            <a:endParaRPr lang="en-US" sz="1400" dirty="0"/>
          </a:p>
          <a:p>
            <a:pPr indent="0" marL="0">
              <a:buNone/>
            </a:pPr>
            <a:r>
              <a:rPr lang="en-US" sz="1300" dirty="0">
                <a:solidFill>
                  <a:schemeClr val="tx1"/>
                </a:solidFill>
              </a:rPr>
              <a:t>Test-set information leaks into training, so the metrics look better than the model really is. A model that memorised its test photos tells us nothing about new leaves.</a:t>
            </a:r>
            <a:endParaRPr lang="en-US" sz="1400" dirty="0"/>
          </a:p>
        </p:txBody>
      </p:sp>
      <p:sp>
        <p:nvSpPr>
          <p:cNvPr id="13" name="card-70"/>
          <p:cNvSpPr/>
          <p:nvPr/>
        </p:nvSpPr>
        <p:spPr>
          <a:xfrm>
            <a:off x="457200" y="4206240"/>
            <a:ext cx="8229600" cy="502920"/>
          </a:xfrm>
          <a:prstGeom prst="roundRect">
            <a:avLst>
              <a:gd name="adj" fmla="val 14545"/>
            </a:avLst>
          </a:prstGeom>
          <a:solidFill>
            <a:srgbClr val="DCEFE4"/>
          </a:solidFill>
          <a:ln w="12700">
            <a:solidFill>
              <a:srgbClr val="DCEFE4"/>
            </a:solidFill>
            <a:prstDash val="solid"/>
          </a:ln>
        </p:spPr>
      </p:sp>
      <p:sp>
        <p:nvSpPr>
          <p:cNvPr id="14" name="text-71"/>
          <p:cNvSpPr txBox="1"/>
          <p:nvPr/>
        </p:nvSpPr>
        <p:spPr>
          <a:xfrm>
            <a:off x="640080" y="4206240"/>
            <a:ext cx="7863840" cy="502920"/>
          </a:xfrm>
          <a:prstGeom prst="rect">
            <a:avLst/>
          </a:prstGeom>
          <a:noFill/>
          <a:ln/>
        </p:spPr>
        <p:txBody>
          <a:bodyPr wrap="square" lIns="0" tIns="0" rIns="0" bIns="0" rtlCol="0" anchor="ctr"/>
          <a:lstStyle/>
          <a:p>
            <a:pPr indent="0" marL="0">
              <a:buNone/>
            </a:pPr>
            <a:r>
              <a:rPr lang="en-US" sz="1300" b="1" dirty="0">
                <a:solidFill>
                  <a:schemeClr val="tx2"/>
                </a:solidFill>
              </a:rPr>
              <a:t>Cause: the download held a second copy of every class folder, so a random split put the same photo in both train and test.</a:t>
            </a:r>
            <a:endParaRPr lang="en-US" sz="1300" dirty="0"/>
          </a:p>
        </p:txBody>
      </p:sp>
      <p:sp>
        <p:nvSpPr>
          <p:cNvPr id="25" name="Slide Number Placeholder 0"/>
          <p:cNvSpPr>
            <a:spLocks noGrp="1"/>
          </p:cNvSpPr>
          <p:nvPr>
            <p:ph type="sldNum" sz="quarter" idx="4294967295"/>
          </p:nvPr>
        </p:nvSpPr>
        <p:spPr>
          <a:xfrm>
            <a:off x="8229600" y="4828032"/>
            <a:ext cx="457200" cy="22860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defRPr>
            </a:lvl1pPr>
          </a:lstStyle>
          <a:p>
            <a:pPr algn="r"/>
            <a:fld id="{F7021451-1387-4CA6-816F-3879F97B5CBC}" type="slidenum">
              <a:rPr b="0" lang="en-US"/>
              <a:t>5</a:t>
            </a:fld>
            <a:endParaRPr lang="en-US"/>
          </a:p>
        </p:txBody>
      </p:sp>
      <p:pic>
        <p:nvPicPr>
          <p:cNvPr id="26" name="Picture 25" descr="chart_slide5_leak.png"/>
          <p:cNvPicPr>
            <a:picLocks noChangeAspect="1"/>
          </p:cNvPicPr>
          <p:nvPr/>
        </p:nvPicPr>
        <p:blipFill>
          <a:blip r:embed="rId4"/>
          <a:stretch>
            <a:fillRect/>
          </a:stretch>
        </p:blipFill>
        <p:spPr>
          <a:xfrm>
            <a:off x="365760" y="1051560"/>
            <a:ext cx="3749039" cy="3017520"/>
          </a:xfrm>
          <a:prstGeom prst="rect">
            <a:avLst/>
          </a:prstGeom>
        </p:spPr>
      </p:pic>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p:nvPr>
            <p:ph idx="100" type="title" hasCustomPrompt="1"/>
          </p:nvPr>
        </p:nvSpPr>
        <p:spPr>
          <a:xfrm>
            <a:off x="457200" y="256032"/>
            <a:ext cx="8229600" cy="685800"/>
          </a:xfrm>
          <a:prstGeom prst="rect">
            <a:avLst/>
          </a:prstGeom>
          <a:noFill/>
          <a:ln/>
        </p:spPr>
        <p:txBody>
          <a:bodyPr wrap="square" lIns="0" tIns="0" rIns="0" bIns="0" rtlCol="0" anchor="ctr"/>
          <a:lstStyle/>
          <a:p>
            <a:pPr algn="l" indent="0" marL="0">
              <a:buNone/>
            </a:pPr>
            <a:r>
              <a:rPr lang="en-US" sz="2800" b="1" dirty="0">
                <a:solidFill>
                  <a:schemeClr val="tx1"/>
                </a:solidFill>
              </a:rPr>
              <a:t>How we fixed it: the code</a:t>
            </a:r>
            <a:endParaRPr lang="en-US" sz="2800" dirty="0"/>
          </a:p>
        </p:txBody>
      </p:sp>
      <p:sp>
        <p:nvSpPr>
          <p:cNvPr id="4" name="code-panel"/>
          <p:cNvSpPr/>
          <p:nvPr/>
        </p:nvSpPr>
        <p:spPr>
          <a:xfrm>
            <a:off x="457200" y="1097280"/>
            <a:ext cx="5120640" cy="3108960"/>
          </a:xfrm>
          <a:prstGeom prst="roundRect">
            <a:avLst>
              <a:gd name="adj" fmla="val 1765"/>
            </a:avLst>
          </a:prstGeom>
          <a:solidFill>
            <a:srgbClr val="13261C"/>
          </a:solidFill>
          <a:ln w="12700">
            <a:solidFill>
              <a:srgbClr val="13261C"/>
            </a:solidFill>
            <a:prstDash val="solid"/>
          </a:ln>
        </p:spPr>
      </p:sp>
      <p:sp>
        <p:nvSpPr>
          <p:cNvPr id="5" name="code-text"/>
          <p:cNvSpPr txBox="1"/>
          <p:nvPr/>
        </p:nvSpPr>
        <p:spPr>
          <a:xfrm>
            <a:off x="640080" y="1234440"/>
            <a:ext cx="4846320" cy="2880360"/>
          </a:xfrm>
          <a:prstGeom prst="rect">
            <a:avLst/>
          </a:prstGeom>
          <a:noFill/>
          <a:ln/>
        </p:spPr>
        <p:txBody>
          <a:bodyPr wrap="square" lIns="0" tIns="0" rIns="0" bIns="0" rtlCol="0" anchor="t"/>
          <a:lstStyle/>
          <a:p>
            <a:pPr indent="0" marL="0">
              <a:buNone/>
            </a:pPr>
            <a:r>
              <a:rPr lang="en-US" sz="1200" dirty="0">
                <a:solidFill>
                  <a:srgbClr val="6B9A83"/>
                </a:solidFill>
                <a:latin typeface="Courier New" pitchFamily="34" charset="0"/>
                <a:ea typeface="Courier New" pitchFamily="34" charset="-122"/>
                <a:cs typeface="Courier New" pitchFamily="34" charset="-120"/>
              </a:rPr>
              <a:t># data/dataset_splitter.py</a:t>
            </a:r>
            <a:endParaRPr lang="en-US" sz="1200" dirty="0"/>
          </a:p>
          <a:p>
            <a:pPr indent="0" marL="0">
              <a:buNone/>
            </a:pPr>
            <a:r>
              <a:rPr lang="en-US" sz="1200" dirty="0">
                <a:solidFill>
                  <a:srgbClr val="FFFFFF"/>
                </a:solidFill>
                <a:latin typeface="Courier New" pitchFamily="34" charset="0"/>
                <a:ea typeface="Courier New" pitchFamily="34" charset="-122"/>
                <a:cs typeface="Courier New" pitchFamily="34" charset="-120"/>
              </a:rPr>
              <a:t>def deduplicate_by_content(class_map):</a:t>
            </a:r>
            <a:endParaRPr lang="en-US" sz="1200" dirty="0"/>
          </a:p>
          <a:p>
            <a:pPr indent="0" marL="0">
              <a:buNone/>
            </a:pPr>
            <a:r>
              <a:rPr lang="en-US" sz="1200" dirty="0">
                <a:solidFill>
                  <a:srgbClr val="FFFFFF"/>
                </a:solidFill>
                <a:latin typeface="Courier New" pitchFamily="34" charset="0"/>
                <a:ea typeface="Courier New" pitchFamily="34" charset="-122"/>
                <a:cs typeface="Courier New" pitchFamily="34" charset="-120"/>
              </a:rPr>
              <a:t>    seen = {}</a:t>
            </a:r>
            <a:endParaRPr lang="en-US" sz="1200" dirty="0"/>
          </a:p>
          <a:p>
            <a:pPr indent="0" marL="0">
              <a:buNone/>
            </a:pPr>
            <a:r>
              <a:rPr lang="en-US" sz="1200" dirty="0">
                <a:solidFill>
                  <a:srgbClr val="FFFFFF"/>
                </a:solidFill>
                <a:latin typeface="Courier New" pitchFamily="34" charset="0"/>
                <a:ea typeface="Courier New" pitchFamily="34" charset="-122"/>
                <a:cs typeface="Courier New" pitchFamily="34" charset="-120"/>
              </a:rPr>
              <a:t>    for c in sorted(class_map):</a:t>
            </a:r>
            <a:endParaRPr lang="en-US" sz="1200" dirty="0"/>
          </a:p>
          <a:p>
            <a:pPr indent="0" marL="0">
              <a:buNone/>
            </a:pPr>
            <a:r>
              <a:rPr lang="en-US" sz="1200" dirty="0">
                <a:solidFill>
                  <a:srgbClr val="FFFFFF"/>
                </a:solidFill>
                <a:latin typeface="Courier New" pitchFamily="34" charset="0"/>
                <a:ea typeface="Courier New" pitchFamily="34" charset="-122"/>
                <a:cs typeface="Courier New" pitchFamily="34" charset="-120"/>
              </a:rPr>
              <a:t>        for p in sorted(class_map[c]):</a:t>
            </a:r>
            <a:endParaRPr lang="en-US" sz="1200" dirty="0"/>
          </a:p>
          <a:p>
            <a:pPr indent="0" marL="0">
              <a:buNone/>
            </a:pPr>
            <a:r>
              <a:rPr lang="en-US" sz="1200" dirty="0">
                <a:solidFill>
                  <a:srgbClr val="F4C95D"/>
                </a:solidFill>
                <a:latin typeface="Courier New" pitchFamily="34" charset="0"/>
                <a:ea typeface="Courier New" pitchFamily="34" charset="-122"/>
                <a:cs typeface="Courier New" pitchFamily="34" charset="-120"/>
              </a:rPr>
              <a:t>            digest = md5(p.read_bytes())</a:t>
            </a:r>
            <a:endParaRPr lang="en-US" sz="1200" dirty="0"/>
          </a:p>
          <a:p>
            <a:pPr indent="0" marL="0">
              <a:buNone/>
            </a:pPr>
            <a:r>
              <a:rPr lang="en-US" sz="1200" dirty="0">
                <a:solidFill>
                  <a:srgbClr val="F4C95D"/>
                </a:solidFill>
                <a:latin typeface="Courier New" pitchFamily="34" charset="0"/>
                <a:ea typeface="Courier New" pitchFamily="34" charset="-122"/>
                <a:cs typeface="Courier New" pitchFamily="34" charset="-120"/>
              </a:rPr>
              <a:t>            if digest not in seen:</a:t>
            </a:r>
            <a:endParaRPr lang="en-US" sz="1200" dirty="0"/>
          </a:p>
          <a:p>
            <a:pPr indent="0" marL="0">
              <a:buNone/>
            </a:pPr>
            <a:r>
              <a:rPr lang="en-US" sz="1200" dirty="0">
                <a:solidFill>
                  <a:srgbClr val="F4C95D"/>
                </a:solidFill>
                <a:latin typeface="Courier New" pitchFamily="34" charset="0"/>
                <a:ea typeface="Courier New" pitchFamily="34" charset="-122"/>
                <a:cs typeface="Courier New" pitchFamily="34" charset="-120"/>
              </a:rPr>
              <a:t>                seen[digest] = p   # keep one copy</a:t>
            </a:r>
            <a:endParaRPr lang="en-US" sz="1200" dirty="0"/>
          </a:p>
          <a:p>
            <a:pPr indent="0" marL="0">
              <a:buNone/>
            </a:pPr>
            <a:r>
              <a:rPr lang="en-US" sz="1200" dirty="0">
                <a:solidFill>
                  <a:srgbClr val="6B9A83"/>
                </a:solidFill>
                <a:latin typeface="Courier New" pitchFamily="34" charset="0"/>
                <a:ea typeface="Courier New" pitchFamily="34" charset="-122"/>
                <a:cs typeface="Courier New" pitchFamily="34" charset="-120"/>
              </a:rPr>
              <a:t>    # copies are dropped before the split</a:t>
            </a:r>
            <a:endParaRPr lang="en-US" sz="1200" dirty="0"/>
          </a:p>
          <a:p>
            <a:pPr indent="0" marL="0">
              <a:buNone/>
            </a:pPr>
            <a:endParaRPr lang="en-US" sz="1200" dirty="0"/>
          </a:p>
          <a:p>
            <a:pPr indent="0" marL="0">
              <a:buNone/>
            </a:pPr>
            <a:r>
              <a:rPr lang="en-US" sz="1200" dirty="0">
                <a:solidFill>
                  <a:srgbClr val="6B9A83"/>
                </a:solidFill>
                <a:latin typeface="Courier New" pitchFamily="34" charset="0"/>
                <a:ea typeface="Courier New" pitchFamily="34" charset="-122"/>
                <a:cs typeface="Courier New" pitchFamily="34" charset="-120"/>
              </a:rPr>
              <a:t># tests/test_dataset_integrity.py</a:t>
            </a:r>
            <a:endParaRPr lang="en-US" sz="1200" dirty="0"/>
          </a:p>
          <a:p>
            <a:pPr indent="0" marL="0">
              <a:buNone/>
            </a:pPr>
            <a:r>
              <a:rPr lang="en-US" sz="1200" dirty="0">
                <a:solidFill>
                  <a:srgbClr val="7FD6A6"/>
                </a:solidFill>
                <a:latin typeface="Courier New" pitchFamily="34" charset="0"/>
                <a:ea typeface="Courier New" pitchFamily="34" charset="-122"/>
                <a:cs typeface="Courier New" pitchFamily="34" charset="-120"/>
              </a:rPr>
              <a:t>assert not train &amp; test   # no shared image</a:t>
            </a:r>
            <a:endParaRPr lang="en-US" sz="1200" dirty="0"/>
          </a:p>
        </p:txBody>
      </p:sp>
      <p:sp>
        <p:nvSpPr>
          <p:cNvPr id="6" name="badge-72"/>
          <p:cNvSpPr/>
          <p:nvPr/>
        </p:nvSpPr>
        <p:spPr>
          <a:xfrm>
            <a:off x="5852160" y="1143000"/>
            <a:ext cx="365760" cy="365760"/>
          </a:xfrm>
          <a:prstGeom prst="ellipse">
            <a:avLst/>
          </a:prstGeom>
          <a:solidFill>
            <a:schemeClr val="accent1"/>
          </a:solidFill>
          <a:ln w="12700">
            <a:solidFill>
              <a:schemeClr val="accent1"/>
            </a:solidFill>
            <a:prstDash val="solid"/>
          </a:ln>
        </p:spPr>
      </p:sp>
      <p:sp>
        <p:nvSpPr>
          <p:cNvPr id="7" name="badge-text-73"/>
          <p:cNvSpPr txBox="1"/>
          <p:nvPr/>
        </p:nvSpPr>
        <p:spPr>
          <a:xfrm>
            <a:off x="5852160" y="1143000"/>
            <a:ext cx="365760" cy="365760"/>
          </a:xfrm>
          <a:prstGeom prst="rect">
            <a:avLst/>
          </a:prstGeom>
          <a:noFill/>
          <a:ln/>
        </p:spPr>
        <p:txBody>
          <a:bodyPr wrap="square" lIns="0" tIns="0" rIns="0" bIns="0" rtlCol="0" anchor="ctr"/>
          <a:lstStyle/>
          <a:p>
            <a:pPr algn="ctr" indent="0" marL="0">
              <a:buNone/>
            </a:pPr>
            <a:r>
              <a:rPr lang="en-US" sz="1400" b="1" dirty="0">
                <a:solidFill>
                  <a:schemeClr val="bg1"/>
                </a:solidFill>
              </a:rPr>
              <a:t>1</a:t>
            </a:r>
            <a:endParaRPr lang="en-US" sz="1400" dirty="0"/>
          </a:p>
        </p:txBody>
      </p:sp>
      <p:sp>
        <p:nvSpPr>
          <p:cNvPr id="8" name="text-74"/>
          <p:cNvSpPr txBox="1"/>
          <p:nvPr/>
        </p:nvSpPr>
        <p:spPr>
          <a:xfrm>
            <a:off x="6355080" y="1097280"/>
            <a:ext cx="2377440" cy="274320"/>
          </a:xfrm>
          <a:prstGeom prst="rect">
            <a:avLst/>
          </a:prstGeom>
          <a:noFill/>
          <a:ln/>
        </p:spPr>
        <p:txBody>
          <a:bodyPr wrap="square" lIns="0" tIns="0" rIns="0" bIns="0" rtlCol="0" anchor="t"/>
          <a:lstStyle/>
          <a:p>
            <a:pPr indent="0" marL="0">
              <a:buNone/>
            </a:pPr>
            <a:r>
              <a:rPr lang="en-US" sz="1500" b="1" dirty="0">
                <a:solidFill>
                  <a:schemeClr val="tx1"/>
                </a:solidFill>
              </a:rPr>
              <a:t>Fingerprint</a:t>
            </a:r>
            <a:endParaRPr lang="en-US" sz="1500" dirty="0"/>
          </a:p>
        </p:txBody>
      </p:sp>
      <p:sp>
        <p:nvSpPr>
          <p:cNvPr id="9" name="text-75"/>
          <p:cNvSpPr txBox="1"/>
          <p:nvPr/>
        </p:nvSpPr>
        <p:spPr>
          <a:xfrm>
            <a:off x="6355080" y="1389888"/>
            <a:ext cx="2377440" cy="457200"/>
          </a:xfrm>
          <a:prstGeom prst="rect">
            <a:avLst/>
          </a:prstGeom>
          <a:noFill/>
          <a:ln/>
        </p:spPr>
        <p:txBody>
          <a:bodyPr wrap="square" lIns="0" tIns="0" rIns="0" bIns="0" rtlCol="0" anchor="t"/>
          <a:lstStyle/>
          <a:p>
            <a:pPr indent="0" marL="0">
              <a:buNone/>
            </a:pPr>
            <a:r>
              <a:rPr lang="en-US" sz="1300" dirty="0">
                <a:solidFill>
                  <a:schemeClr val="accent6"/>
                </a:solidFill>
              </a:rPr>
              <a:t>MD5 hash of every file's bytes</a:t>
            </a:r>
            <a:endParaRPr lang="en-US" sz="1300" dirty="0"/>
          </a:p>
        </p:txBody>
      </p:sp>
      <p:sp>
        <p:nvSpPr>
          <p:cNvPr id="10" name="badge-76"/>
          <p:cNvSpPr/>
          <p:nvPr/>
        </p:nvSpPr>
        <p:spPr>
          <a:xfrm>
            <a:off x="5852160" y="1929384"/>
            <a:ext cx="365760" cy="365760"/>
          </a:xfrm>
          <a:prstGeom prst="ellipse">
            <a:avLst/>
          </a:prstGeom>
          <a:solidFill>
            <a:schemeClr val="accent1"/>
          </a:solidFill>
          <a:ln w="12700">
            <a:solidFill>
              <a:schemeClr val="accent1"/>
            </a:solidFill>
            <a:prstDash val="solid"/>
          </a:ln>
        </p:spPr>
      </p:sp>
      <p:sp>
        <p:nvSpPr>
          <p:cNvPr id="11" name="badge-text-77"/>
          <p:cNvSpPr txBox="1"/>
          <p:nvPr/>
        </p:nvSpPr>
        <p:spPr>
          <a:xfrm>
            <a:off x="5852160" y="1929384"/>
            <a:ext cx="365760" cy="365760"/>
          </a:xfrm>
          <a:prstGeom prst="rect">
            <a:avLst/>
          </a:prstGeom>
          <a:noFill/>
          <a:ln/>
        </p:spPr>
        <p:txBody>
          <a:bodyPr wrap="square" lIns="0" tIns="0" rIns="0" bIns="0" rtlCol="0" anchor="ctr"/>
          <a:lstStyle/>
          <a:p>
            <a:pPr algn="ctr" indent="0" marL="0">
              <a:buNone/>
            </a:pPr>
            <a:r>
              <a:rPr lang="en-US" sz="1400" b="1" dirty="0">
                <a:solidFill>
                  <a:schemeClr val="bg1"/>
                </a:solidFill>
              </a:rPr>
              <a:t>2</a:t>
            </a:r>
            <a:endParaRPr lang="en-US" sz="1400" dirty="0"/>
          </a:p>
        </p:txBody>
      </p:sp>
      <p:sp>
        <p:nvSpPr>
          <p:cNvPr id="12" name="text-78"/>
          <p:cNvSpPr txBox="1"/>
          <p:nvPr/>
        </p:nvSpPr>
        <p:spPr>
          <a:xfrm>
            <a:off x="6355080" y="1883664"/>
            <a:ext cx="2377440" cy="274320"/>
          </a:xfrm>
          <a:prstGeom prst="rect">
            <a:avLst/>
          </a:prstGeom>
          <a:noFill/>
          <a:ln/>
        </p:spPr>
        <p:txBody>
          <a:bodyPr wrap="square" lIns="0" tIns="0" rIns="0" bIns="0" rtlCol="0" anchor="t"/>
          <a:lstStyle/>
          <a:p>
            <a:pPr indent="0" marL="0">
              <a:buNone/>
            </a:pPr>
            <a:r>
              <a:rPr lang="en-US" sz="1500" b="1" dirty="0">
                <a:solidFill>
                  <a:schemeClr val="tx1"/>
                </a:solidFill>
              </a:rPr>
              <a:t>Drop copies</a:t>
            </a:r>
            <a:endParaRPr lang="en-US" sz="1500" dirty="0"/>
          </a:p>
        </p:txBody>
      </p:sp>
      <p:sp>
        <p:nvSpPr>
          <p:cNvPr id="13" name="text-79"/>
          <p:cNvSpPr txBox="1"/>
          <p:nvPr/>
        </p:nvSpPr>
        <p:spPr>
          <a:xfrm>
            <a:off x="6355080" y="2176272"/>
            <a:ext cx="2377440" cy="457200"/>
          </a:xfrm>
          <a:prstGeom prst="rect">
            <a:avLst/>
          </a:prstGeom>
          <a:noFill/>
          <a:ln/>
        </p:spPr>
        <p:txBody>
          <a:bodyPr wrap="square" lIns="0" tIns="0" rIns="0" bIns="0" rtlCol="0" anchor="t"/>
          <a:lstStyle/>
          <a:p>
            <a:pPr indent="0" marL="0">
              <a:buNone/>
            </a:pPr>
            <a:r>
              <a:rPr lang="en-US" sz="1300" dirty="0">
                <a:solidFill>
                  <a:schemeClr val="accent6"/>
                </a:solidFill>
              </a:rPr>
              <a:t>Keep one file per fingerprint</a:t>
            </a:r>
            <a:endParaRPr lang="en-US" sz="1300" dirty="0"/>
          </a:p>
        </p:txBody>
      </p:sp>
      <p:sp>
        <p:nvSpPr>
          <p:cNvPr id="14" name="badge-80"/>
          <p:cNvSpPr/>
          <p:nvPr/>
        </p:nvSpPr>
        <p:spPr>
          <a:xfrm>
            <a:off x="5852160" y="2715768"/>
            <a:ext cx="365760" cy="365760"/>
          </a:xfrm>
          <a:prstGeom prst="ellipse">
            <a:avLst/>
          </a:prstGeom>
          <a:solidFill>
            <a:schemeClr val="accent1"/>
          </a:solidFill>
          <a:ln w="12700">
            <a:solidFill>
              <a:schemeClr val="accent1"/>
            </a:solidFill>
            <a:prstDash val="solid"/>
          </a:ln>
        </p:spPr>
      </p:sp>
      <p:sp>
        <p:nvSpPr>
          <p:cNvPr id="15" name="badge-text-81"/>
          <p:cNvSpPr txBox="1"/>
          <p:nvPr/>
        </p:nvSpPr>
        <p:spPr>
          <a:xfrm>
            <a:off x="5852160" y="2715768"/>
            <a:ext cx="365760" cy="365760"/>
          </a:xfrm>
          <a:prstGeom prst="rect">
            <a:avLst/>
          </a:prstGeom>
          <a:noFill/>
          <a:ln/>
        </p:spPr>
        <p:txBody>
          <a:bodyPr wrap="square" lIns="0" tIns="0" rIns="0" bIns="0" rtlCol="0" anchor="ctr"/>
          <a:lstStyle/>
          <a:p>
            <a:pPr algn="ctr" indent="0" marL="0">
              <a:buNone/>
            </a:pPr>
            <a:r>
              <a:rPr lang="en-US" sz="1400" b="1" dirty="0">
                <a:solidFill>
                  <a:schemeClr val="bg1"/>
                </a:solidFill>
              </a:rPr>
              <a:t>3</a:t>
            </a:r>
            <a:endParaRPr lang="en-US" sz="1400" dirty="0"/>
          </a:p>
        </p:txBody>
      </p:sp>
      <p:sp>
        <p:nvSpPr>
          <p:cNvPr id="16" name="text-82"/>
          <p:cNvSpPr txBox="1"/>
          <p:nvPr/>
        </p:nvSpPr>
        <p:spPr>
          <a:xfrm>
            <a:off x="6355080" y="2670048"/>
            <a:ext cx="2377440" cy="274320"/>
          </a:xfrm>
          <a:prstGeom prst="rect">
            <a:avLst/>
          </a:prstGeom>
          <a:noFill/>
          <a:ln/>
        </p:spPr>
        <p:txBody>
          <a:bodyPr wrap="square" lIns="0" tIns="0" rIns="0" bIns="0" rtlCol="0" anchor="t"/>
          <a:lstStyle/>
          <a:p>
            <a:pPr indent="0" marL="0">
              <a:buNone/>
            </a:pPr>
            <a:r>
              <a:rPr lang="en-US" sz="1500" b="1" dirty="0">
                <a:solidFill>
                  <a:schemeClr val="tx1"/>
                </a:solidFill>
              </a:rPr>
              <a:t>Then split</a:t>
            </a:r>
            <a:endParaRPr lang="en-US" sz="1500" dirty="0"/>
          </a:p>
        </p:txBody>
      </p:sp>
      <p:sp>
        <p:nvSpPr>
          <p:cNvPr id="17" name="text-83"/>
          <p:cNvSpPr txBox="1"/>
          <p:nvPr/>
        </p:nvSpPr>
        <p:spPr>
          <a:xfrm>
            <a:off x="6355080" y="2962656"/>
            <a:ext cx="2377440" cy="457200"/>
          </a:xfrm>
          <a:prstGeom prst="rect">
            <a:avLst/>
          </a:prstGeom>
          <a:noFill/>
          <a:ln/>
        </p:spPr>
        <p:txBody>
          <a:bodyPr wrap="square" lIns="0" tIns="0" rIns="0" bIns="0" rtlCol="0" anchor="t"/>
          <a:lstStyle/>
          <a:p>
            <a:pPr indent="0" marL="0">
              <a:buNone/>
            </a:pPr>
            <a:r>
              <a:rPr lang="en-US" sz="1300" dirty="0">
                <a:solidFill>
                  <a:schemeClr val="accent6"/>
                </a:solidFill>
              </a:rPr>
              <a:t>70 / 15 / 15, stratified by class</a:t>
            </a:r>
            <a:endParaRPr lang="en-US" sz="1300" dirty="0"/>
          </a:p>
        </p:txBody>
      </p:sp>
      <p:sp>
        <p:nvSpPr>
          <p:cNvPr id="18" name="badge-84"/>
          <p:cNvSpPr/>
          <p:nvPr/>
        </p:nvSpPr>
        <p:spPr>
          <a:xfrm>
            <a:off x="5852160" y="3502152"/>
            <a:ext cx="365760" cy="365760"/>
          </a:xfrm>
          <a:prstGeom prst="ellipse">
            <a:avLst/>
          </a:prstGeom>
          <a:solidFill>
            <a:schemeClr val="accent1"/>
          </a:solidFill>
          <a:ln w="12700">
            <a:solidFill>
              <a:schemeClr val="accent1"/>
            </a:solidFill>
            <a:prstDash val="solid"/>
          </a:ln>
        </p:spPr>
      </p:sp>
      <p:sp>
        <p:nvSpPr>
          <p:cNvPr id="19" name="badge-text-85"/>
          <p:cNvSpPr txBox="1"/>
          <p:nvPr/>
        </p:nvSpPr>
        <p:spPr>
          <a:xfrm>
            <a:off x="5852160" y="3502152"/>
            <a:ext cx="365760" cy="365760"/>
          </a:xfrm>
          <a:prstGeom prst="rect">
            <a:avLst/>
          </a:prstGeom>
          <a:noFill/>
          <a:ln/>
        </p:spPr>
        <p:txBody>
          <a:bodyPr wrap="square" lIns="0" tIns="0" rIns="0" bIns="0" rtlCol="0" anchor="ctr"/>
          <a:lstStyle/>
          <a:p>
            <a:pPr algn="ctr" indent="0" marL="0">
              <a:buNone/>
            </a:pPr>
            <a:r>
              <a:rPr lang="en-US" sz="1400" b="1" dirty="0">
                <a:solidFill>
                  <a:schemeClr val="bg1"/>
                </a:solidFill>
              </a:rPr>
              <a:t>4</a:t>
            </a:r>
            <a:endParaRPr lang="en-US" sz="1400" dirty="0"/>
          </a:p>
        </p:txBody>
      </p:sp>
      <p:sp>
        <p:nvSpPr>
          <p:cNvPr id="20" name="text-86"/>
          <p:cNvSpPr txBox="1"/>
          <p:nvPr/>
        </p:nvSpPr>
        <p:spPr>
          <a:xfrm>
            <a:off x="6355080" y="3456432"/>
            <a:ext cx="2377440" cy="274320"/>
          </a:xfrm>
          <a:prstGeom prst="rect">
            <a:avLst/>
          </a:prstGeom>
          <a:noFill/>
          <a:ln/>
        </p:spPr>
        <p:txBody>
          <a:bodyPr wrap="square" lIns="0" tIns="0" rIns="0" bIns="0" rtlCol="0" anchor="t"/>
          <a:lstStyle/>
          <a:p>
            <a:pPr indent="0" marL="0">
              <a:buNone/>
            </a:pPr>
            <a:r>
              <a:rPr lang="en-US" sz="1500" b="1" dirty="0">
                <a:solidFill>
                  <a:schemeClr val="tx1"/>
                </a:solidFill>
              </a:rPr>
              <a:t>Guard</a:t>
            </a:r>
            <a:endParaRPr lang="en-US" sz="1500" dirty="0"/>
          </a:p>
        </p:txBody>
      </p:sp>
      <p:sp>
        <p:nvSpPr>
          <p:cNvPr id="21" name="text-87"/>
          <p:cNvSpPr txBox="1"/>
          <p:nvPr/>
        </p:nvSpPr>
        <p:spPr>
          <a:xfrm>
            <a:off x="6355080" y="3749040"/>
            <a:ext cx="2377440" cy="457200"/>
          </a:xfrm>
          <a:prstGeom prst="rect">
            <a:avLst/>
          </a:prstGeom>
          <a:noFill/>
          <a:ln/>
        </p:spPr>
        <p:txBody>
          <a:bodyPr wrap="square" lIns="0" tIns="0" rIns="0" bIns="0" rtlCol="0" anchor="t"/>
          <a:lstStyle/>
          <a:p>
            <a:pPr indent="0" marL="0">
              <a:buNone/>
            </a:pPr>
            <a:r>
              <a:rPr lang="en-US" sz="1300" dirty="0">
                <a:solidFill>
                  <a:schemeClr val="accent6"/>
                </a:solidFill>
              </a:rPr>
              <a:t>A test fails if any image is in two splits</a:t>
            </a:r>
            <a:endParaRPr lang="en-US" sz="1300" dirty="0"/>
          </a:p>
        </p:txBody>
      </p:sp>
      <p:sp>
        <p:nvSpPr>
          <p:cNvPr id="22" name="card-88"/>
          <p:cNvSpPr/>
          <p:nvPr/>
        </p:nvSpPr>
        <p:spPr>
          <a:xfrm>
            <a:off x="457200" y="4343400"/>
            <a:ext cx="8229600" cy="365760"/>
          </a:xfrm>
          <a:prstGeom prst="roundRect">
            <a:avLst>
              <a:gd name="adj" fmla="val 20000"/>
            </a:avLst>
          </a:prstGeom>
          <a:solidFill>
            <a:srgbClr val="DCEFE4"/>
          </a:solidFill>
          <a:ln w="12700">
            <a:solidFill>
              <a:srgbClr val="DCEFE4"/>
            </a:solidFill>
            <a:prstDash val="solid"/>
          </a:ln>
        </p:spPr>
      </p:sp>
      <p:sp>
        <p:nvSpPr>
          <p:cNvPr id="23" name="text-89"/>
          <p:cNvSpPr txBox="1"/>
          <p:nvPr/>
        </p:nvSpPr>
        <p:spPr>
          <a:xfrm>
            <a:off x="640080" y="4343400"/>
            <a:ext cx="7863840" cy="365760"/>
          </a:xfrm>
          <a:prstGeom prst="rect">
            <a:avLst/>
          </a:prstGeom>
          <a:noFill/>
          <a:ln/>
        </p:spPr>
        <p:txBody>
          <a:bodyPr wrap="square" lIns="0" tIns="0" rIns="0" bIns="0" rtlCol="0" anchor="ctr"/>
          <a:lstStyle/>
          <a:p>
            <a:pPr indent="0" marL="0">
              <a:buNone/>
            </a:pPr>
            <a:r>
              <a:rPr lang="en-US" sz="1300" b="1" dirty="0">
                <a:solidFill>
                  <a:schemeClr val="tx2"/>
                </a:solidFill>
              </a:rPr>
              <a:t>Result: 41,276 files became 20,624 unique images, with zero overlap between train, validation and test.</a:t>
            </a:r>
            <a:endParaRPr lang="en-US" sz="1300" dirty="0"/>
          </a:p>
        </p:txBody>
      </p:sp>
      <p:sp>
        <p:nvSpPr>
          <p:cNvPr id="25" name="Slide Number Placeholder 0"/>
          <p:cNvSpPr>
            <a:spLocks noGrp="1"/>
          </p:cNvSpPr>
          <p:nvPr>
            <p:ph type="sldNum" sz="quarter" idx="4294967295"/>
          </p:nvPr>
        </p:nvSpPr>
        <p:spPr>
          <a:xfrm>
            <a:off x="8229600" y="4828032"/>
            <a:ext cx="457200" cy="22860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defRPr>
            </a:lvl1pPr>
          </a:lstStyle>
          <a:p>
            <a:pPr algn="r"/>
            <a:fld id="{F7021451-1387-4CA6-816F-3879F97B5CBC}" type="slidenum">
              <a:rPr b="0"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p:nvPr>
            <p:ph idx="100" type="title" hasCustomPrompt="1"/>
          </p:nvPr>
        </p:nvSpPr>
        <p:spPr>
          <a:xfrm>
            <a:off x="457200" y="256032"/>
            <a:ext cx="8229600" cy="685800"/>
          </a:xfrm>
          <a:prstGeom prst="rect">
            <a:avLst/>
          </a:prstGeom>
          <a:noFill/>
          <a:ln/>
        </p:spPr>
        <p:txBody>
          <a:bodyPr wrap="square" lIns="0" tIns="0" rIns="0" bIns="0" rtlCol="0" anchor="ctr"/>
          <a:lstStyle/>
          <a:p>
            <a:pPr algn="l" indent="0" marL="0">
              <a:buNone/>
            </a:pPr>
            <a:r>
              <a:rPr lang="en-US" sz="2800" b="1" dirty="0">
                <a:solidFill>
                  <a:schemeClr val="tx1"/>
                </a:solidFill>
              </a:rPr>
              <a:t>Clean split: 70 / 15 / 15</a:t>
            </a:r>
            <a:endParaRPr lang="en-US" sz="2800" dirty="0"/>
          </a:p>
        </p:txBody>
      </p:sp>
      <p:sp>
        <p:nvSpPr>
          <p:cNvPr id="5" name="card-90"/>
          <p:cNvSpPr/>
          <p:nvPr/>
        </p:nvSpPr>
        <p:spPr>
          <a:xfrm>
            <a:off x="5212080" y="1097280"/>
            <a:ext cx="3474720" cy="804672"/>
          </a:xfrm>
          <a:prstGeom prst="roundRect">
            <a:avLst>
              <a:gd name="adj" fmla="val 9091"/>
            </a:avLst>
          </a:prstGeom>
          <a:solidFill>
            <a:schemeClr val="bg2"/>
          </a:solidFill>
          <a:ln w="12700">
            <a:solidFill>
              <a:schemeClr val="bg2"/>
            </a:solidFill>
            <a:prstDash val="solid"/>
          </a:ln>
        </p:spPr>
      </p:sp>
      <p:sp>
        <p:nvSpPr>
          <p:cNvPr id="6" name="badge-91"/>
          <p:cNvSpPr/>
          <p:nvPr/>
        </p:nvSpPr>
        <p:spPr>
          <a:xfrm>
            <a:off x="5349240" y="1307592"/>
            <a:ext cx="384048" cy="384048"/>
          </a:xfrm>
          <a:prstGeom prst="ellipse">
            <a:avLst/>
          </a:prstGeom>
          <a:solidFill>
            <a:schemeClr val="accent1"/>
          </a:solidFill>
          <a:ln w="12700">
            <a:solidFill>
              <a:schemeClr val="accent1"/>
            </a:solidFill>
            <a:prstDash val="solid"/>
          </a:ln>
        </p:spPr>
      </p:sp>
      <p:sp>
        <p:nvSpPr>
          <p:cNvPr id="7" name="badge-text-92"/>
          <p:cNvSpPr txBox="1"/>
          <p:nvPr/>
        </p:nvSpPr>
        <p:spPr>
          <a:xfrm>
            <a:off x="5349240" y="1307592"/>
            <a:ext cx="384048" cy="384048"/>
          </a:xfrm>
          <a:prstGeom prst="rect">
            <a:avLst/>
          </a:prstGeom>
          <a:noFill/>
          <a:ln/>
        </p:spPr>
        <p:txBody>
          <a:bodyPr wrap="square" lIns="0" tIns="0" rIns="0" bIns="0" rtlCol="0" anchor="ctr"/>
          <a:lstStyle/>
          <a:p>
            <a:pPr algn="ctr" indent="0" marL="0">
              <a:buNone/>
            </a:pPr>
            <a:r>
              <a:rPr lang="en-US" sz="1400" b="1" dirty="0">
                <a:solidFill>
                  <a:schemeClr val="bg1"/>
                </a:solidFill>
              </a:rPr>
              <a:t>1</a:t>
            </a:r>
            <a:endParaRPr lang="en-US" sz="1400" dirty="0"/>
          </a:p>
        </p:txBody>
      </p:sp>
      <p:sp>
        <p:nvSpPr>
          <p:cNvPr id="8" name="text-93"/>
          <p:cNvSpPr txBox="1"/>
          <p:nvPr/>
        </p:nvSpPr>
        <p:spPr>
          <a:xfrm>
            <a:off x="5852160" y="1188720"/>
            <a:ext cx="2743200" cy="274320"/>
          </a:xfrm>
          <a:prstGeom prst="rect">
            <a:avLst/>
          </a:prstGeom>
          <a:noFill/>
          <a:ln/>
        </p:spPr>
        <p:txBody>
          <a:bodyPr wrap="square" lIns="0" tIns="0" rIns="0" bIns="0" rtlCol="0" anchor="t"/>
          <a:lstStyle/>
          <a:p>
            <a:pPr indent="0" marL="0">
              <a:buNone/>
            </a:pPr>
            <a:r>
              <a:rPr lang="en-US" sz="1400" b="1" dirty="0">
                <a:solidFill>
                  <a:schemeClr val="tx1"/>
                </a:solidFill>
              </a:rPr>
              <a:t>Stratified</a:t>
            </a:r>
            <a:endParaRPr lang="en-US" sz="1400" dirty="0"/>
          </a:p>
        </p:txBody>
      </p:sp>
      <p:sp>
        <p:nvSpPr>
          <p:cNvPr id="9" name="text-94"/>
          <p:cNvSpPr txBox="1"/>
          <p:nvPr/>
        </p:nvSpPr>
        <p:spPr>
          <a:xfrm>
            <a:off x="5852160" y="1463040"/>
            <a:ext cx="2743200" cy="411480"/>
          </a:xfrm>
          <a:prstGeom prst="rect">
            <a:avLst/>
          </a:prstGeom>
          <a:noFill/>
          <a:ln/>
        </p:spPr>
        <p:txBody>
          <a:bodyPr wrap="square" lIns="0" tIns="0" rIns="0" bIns="0" rtlCol="0" anchor="t"/>
          <a:lstStyle/>
          <a:p>
            <a:pPr indent="0" marL="0">
              <a:buNone/>
            </a:pPr>
            <a:r>
              <a:rPr lang="en-US" sz="1200" dirty="0">
                <a:solidFill>
                  <a:schemeClr val="accent6"/>
                </a:solidFill>
              </a:rPr>
              <a:t>Every class is split 70 / 15 / 15</a:t>
            </a:r>
            <a:endParaRPr lang="en-US" sz="1200" dirty="0"/>
          </a:p>
        </p:txBody>
      </p:sp>
      <p:sp>
        <p:nvSpPr>
          <p:cNvPr id="10" name="card-95"/>
          <p:cNvSpPr/>
          <p:nvPr/>
        </p:nvSpPr>
        <p:spPr>
          <a:xfrm>
            <a:off x="5212080" y="2002536"/>
            <a:ext cx="3474720" cy="804672"/>
          </a:xfrm>
          <a:prstGeom prst="roundRect">
            <a:avLst>
              <a:gd name="adj" fmla="val 9091"/>
            </a:avLst>
          </a:prstGeom>
          <a:solidFill>
            <a:schemeClr val="bg2"/>
          </a:solidFill>
          <a:ln w="12700">
            <a:solidFill>
              <a:schemeClr val="bg2"/>
            </a:solidFill>
            <a:prstDash val="solid"/>
          </a:ln>
        </p:spPr>
      </p:sp>
      <p:sp>
        <p:nvSpPr>
          <p:cNvPr id="11" name="badge-96"/>
          <p:cNvSpPr/>
          <p:nvPr/>
        </p:nvSpPr>
        <p:spPr>
          <a:xfrm>
            <a:off x="5349240" y="2212848"/>
            <a:ext cx="384048" cy="384048"/>
          </a:xfrm>
          <a:prstGeom prst="ellipse">
            <a:avLst/>
          </a:prstGeom>
          <a:solidFill>
            <a:schemeClr val="accent1"/>
          </a:solidFill>
          <a:ln w="12700">
            <a:solidFill>
              <a:schemeClr val="accent1"/>
            </a:solidFill>
            <a:prstDash val="solid"/>
          </a:ln>
        </p:spPr>
      </p:sp>
      <p:sp>
        <p:nvSpPr>
          <p:cNvPr id="12" name="badge-text-97"/>
          <p:cNvSpPr txBox="1"/>
          <p:nvPr/>
        </p:nvSpPr>
        <p:spPr>
          <a:xfrm>
            <a:off x="5349240" y="2212848"/>
            <a:ext cx="384048" cy="384048"/>
          </a:xfrm>
          <a:prstGeom prst="rect">
            <a:avLst/>
          </a:prstGeom>
          <a:noFill/>
          <a:ln/>
        </p:spPr>
        <p:txBody>
          <a:bodyPr wrap="square" lIns="0" tIns="0" rIns="0" bIns="0" rtlCol="0" anchor="ctr"/>
          <a:lstStyle/>
          <a:p>
            <a:pPr algn="ctr" indent="0" marL="0">
              <a:buNone/>
            </a:pPr>
            <a:r>
              <a:rPr lang="en-US" sz="1400" b="1" dirty="0">
                <a:solidFill>
                  <a:schemeClr val="bg1"/>
                </a:solidFill>
              </a:rPr>
              <a:t>2</a:t>
            </a:r>
            <a:endParaRPr lang="en-US" sz="1400" dirty="0"/>
          </a:p>
        </p:txBody>
      </p:sp>
      <p:sp>
        <p:nvSpPr>
          <p:cNvPr id="13" name="text-98"/>
          <p:cNvSpPr txBox="1"/>
          <p:nvPr/>
        </p:nvSpPr>
        <p:spPr>
          <a:xfrm>
            <a:off x="5852160" y="2093976"/>
            <a:ext cx="2743200" cy="274320"/>
          </a:xfrm>
          <a:prstGeom prst="rect">
            <a:avLst/>
          </a:prstGeom>
          <a:noFill/>
          <a:ln/>
        </p:spPr>
        <p:txBody>
          <a:bodyPr wrap="square" lIns="0" tIns="0" rIns="0" bIns="0" rtlCol="0" anchor="t"/>
          <a:lstStyle/>
          <a:p>
            <a:pPr indent="0" marL="0">
              <a:buNone/>
            </a:pPr>
            <a:r>
              <a:rPr lang="en-US" sz="1400" b="1" dirty="0">
                <a:solidFill>
                  <a:schemeClr val="tx1"/>
                </a:solidFill>
              </a:rPr>
              <a:t>Reproducible</a:t>
            </a:r>
            <a:endParaRPr lang="en-US" sz="1400" dirty="0"/>
          </a:p>
        </p:txBody>
      </p:sp>
      <p:sp>
        <p:nvSpPr>
          <p:cNvPr id="14" name="text-99"/>
          <p:cNvSpPr txBox="1"/>
          <p:nvPr/>
        </p:nvSpPr>
        <p:spPr>
          <a:xfrm>
            <a:off x="5852160" y="2368296"/>
            <a:ext cx="2743200" cy="411480"/>
          </a:xfrm>
          <a:prstGeom prst="rect">
            <a:avLst/>
          </a:prstGeom>
          <a:noFill/>
          <a:ln/>
        </p:spPr>
        <p:txBody>
          <a:bodyPr wrap="square" lIns="0" tIns="0" rIns="0" bIns="0" rtlCol="0" anchor="t"/>
          <a:lstStyle/>
          <a:p>
            <a:pPr indent="0" marL="0">
              <a:buNone/>
            </a:pPr>
            <a:r>
              <a:rPr lang="en-US" sz="1200" dirty="0">
                <a:solidFill>
                  <a:schemeClr val="accent6"/>
                </a:solidFill>
              </a:rPr>
              <a:t>Fixed seed 42, same split every run</a:t>
            </a:r>
            <a:endParaRPr lang="en-US" sz="1200" dirty="0"/>
          </a:p>
        </p:txBody>
      </p:sp>
      <p:sp>
        <p:nvSpPr>
          <p:cNvPr id="15" name="card-100"/>
          <p:cNvSpPr/>
          <p:nvPr/>
        </p:nvSpPr>
        <p:spPr>
          <a:xfrm>
            <a:off x="5212080" y="2907792"/>
            <a:ext cx="3474720" cy="804672"/>
          </a:xfrm>
          <a:prstGeom prst="roundRect">
            <a:avLst>
              <a:gd name="adj" fmla="val 9091"/>
            </a:avLst>
          </a:prstGeom>
          <a:solidFill>
            <a:schemeClr val="bg2"/>
          </a:solidFill>
          <a:ln w="12700">
            <a:solidFill>
              <a:schemeClr val="bg2"/>
            </a:solidFill>
            <a:prstDash val="solid"/>
          </a:ln>
        </p:spPr>
      </p:sp>
      <p:sp>
        <p:nvSpPr>
          <p:cNvPr id="16" name="badge-101"/>
          <p:cNvSpPr/>
          <p:nvPr/>
        </p:nvSpPr>
        <p:spPr>
          <a:xfrm>
            <a:off x="5349240" y="3118104"/>
            <a:ext cx="384048" cy="384048"/>
          </a:xfrm>
          <a:prstGeom prst="ellipse">
            <a:avLst/>
          </a:prstGeom>
          <a:solidFill>
            <a:schemeClr val="accent1"/>
          </a:solidFill>
          <a:ln w="12700">
            <a:solidFill>
              <a:schemeClr val="accent1"/>
            </a:solidFill>
            <a:prstDash val="solid"/>
          </a:ln>
        </p:spPr>
      </p:sp>
      <p:sp>
        <p:nvSpPr>
          <p:cNvPr id="17" name="badge-text-102"/>
          <p:cNvSpPr txBox="1"/>
          <p:nvPr/>
        </p:nvSpPr>
        <p:spPr>
          <a:xfrm>
            <a:off x="5349240" y="3118104"/>
            <a:ext cx="384048" cy="384048"/>
          </a:xfrm>
          <a:prstGeom prst="rect">
            <a:avLst/>
          </a:prstGeom>
          <a:noFill/>
          <a:ln/>
        </p:spPr>
        <p:txBody>
          <a:bodyPr wrap="square" lIns="0" tIns="0" rIns="0" bIns="0" rtlCol="0" anchor="ctr"/>
          <a:lstStyle/>
          <a:p>
            <a:pPr algn="ctr" indent="0" marL="0">
              <a:buNone/>
            </a:pPr>
            <a:r>
              <a:rPr lang="en-US" sz="1400" b="1" dirty="0">
                <a:solidFill>
                  <a:schemeClr val="bg1"/>
                </a:solidFill>
              </a:rPr>
              <a:t>3</a:t>
            </a:r>
            <a:endParaRPr lang="en-US" sz="1400" dirty="0"/>
          </a:p>
        </p:txBody>
      </p:sp>
      <p:sp>
        <p:nvSpPr>
          <p:cNvPr id="18" name="text-103"/>
          <p:cNvSpPr txBox="1"/>
          <p:nvPr/>
        </p:nvSpPr>
        <p:spPr>
          <a:xfrm>
            <a:off x="5852160" y="2999232"/>
            <a:ext cx="2743200" cy="274320"/>
          </a:xfrm>
          <a:prstGeom prst="rect">
            <a:avLst/>
          </a:prstGeom>
          <a:noFill/>
          <a:ln/>
        </p:spPr>
        <p:txBody>
          <a:bodyPr wrap="square" lIns="0" tIns="0" rIns="0" bIns="0" rtlCol="0" anchor="t"/>
          <a:lstStyle/>
          <a:p>
            <a:pPr indent="0" marL="0">
              <a:buNone/>
            </a:pPr>
            <a:r>
              <a:rPr lang="en-US" sz="1400" b="1" dirty="0">
                <a:solidFill>
                  <a:schemeClr val="tx1"/>
                </a:solidFill>
              </a:rPr>
              <a:t>Verified</a:t>
            </a:r>
            <a:endParaRPr lang="en-US" sz="1400" dirty="0"/>
          </a:p>
        </p:txBody>
      </p:sp>
      <p:sp>
        <p:nvSpPr>
          <p:cNvPr id="19" name="text-104"/>
          <p:cNvSpPr txBox="1"/>
          <p:nvPr/>
        </p:nvSpPr>
        <p:spPr>
          <a:xfrm>
            <a:off x="5852160" y="3273552"/>
            <a:ext cx="2743200" cy="411480"/>
          </a:xfrm>
          <a:prstGeom prst="rect">
            <a:avLst/>
          </a:prstGeom>
          <a:noFill/>
          <a:ln/>
        </p:spPr>
        <p:txBody>
          <a:bodyPr wrap="square" lIns="0" tIns="0" rIns="0" bIns="0" rtlCol="0" anchor="t"/>
          <a:lstStyle/>
          <a:p>
            <a:pPr indent="0" marL="0">
              <a:buNone/>
            </a:pPr>
            <a:r>
              <a:rPr lang="en-US" sz="1200" dirty="0">
                <a:solidFill>
                  <a:schemeClr val="accent6"/>
                </a:solidFill>
              </a:rPr>
              <a:t>Hash check: zero shared files between splits</a:t>
            </a:r>
            <a:endParaRPr lang="en-US" sz="1200" dirty="0"/>
          </a:p>
        </p:txBody>
      </p:sp>
      <p:sp>
        <p:nvSpPr>
          <p:cNvPr id="20" name="card-105"/>
          <p:cNvSpPr/>
          <p:nvPr/>
        </p:nvSpPr>
        <p:spPr>
          <a:xfrm>
            <a:off x="5212080" y="3813048"/>
            <a:ext cx="3474720" cy="804672"/>
          </a:xfrm>
          <a:prstGeom prst="roundRect">
            <a:avLst>
              <a:gd name="adj" fmla="val 9091"/>
            </a:avLst>
          </a:prstGeom>
          <a:solidFill>
            <a:schemeClr val="bg2"/>
          </a:solidFill>
          <a:ln w="12700">
            <a:solidFill>
              <a:schemeClr val="bg2"/>
            </a:solidFill>
            <a:prstDash val="solid"/>
          </a:ln>
        </p:spPr>
      </p:sp>
      <p:sp>
        <p:nvSpPr>
          <p:cNvPr id="21" name="badge-106"/>
          <p:cNvSpPr/>
          <p:nvPr/>
        </p:nvSpPr>
        <p:spPr>
          <a:xfrm>
            <a:off x="5349240" y="4023360"/>
            <a:ext cx="384048" cy="384048"/>
          </a:xfrm>
          <a:prstGeom prst="ellipse">
            <a:avLst/>
          </a:prstGeom>
          <a:solidFill>
            <a:schemeClr val="accent1"/>
          </a:solidFill>
          <a:ln w="12700">
            <a:solidFill>
              <a:schemeClr val="accent1"/>
            </a:solidFill>
            <a:prstDash val="solid"/>
          </a:ln>
        </p:spPr>
      </p:sp>
      <p:sp>
        <p:nvSpPr>
          <p:cNvPr id="22" name="badge-text-107"/>
          <p:cNvSpPr txBox="1"/>
          <p:nvPr/>
        </p:nvSpPr>
        <p:spPr>
          <a:xfrm>
            <a:off x="5349240" y="4023360"/>
            <a:ext cx="384048" cy="384048"/>
          </a:xfrm>
          <a:prstGeom prst="rect">
            <a:avLst/>
          </a:prstGeom>
          <a:noFill/>
          <a:ln/>
        </p:spPr>
        <p:txBody>
          <a:bodyPr wrap="square" lIns="0" tIns="0" rIns="0" bIns="0" rtlCol="0" anchor="ctr"/>
          <a:lstStyle/>
          <a:p>
            <a:pPr algn="ctr" indent="0" marL="0">
              <a:buNone/>
            </a:pPr>
            <a:r>
              <a:rPr lang="en-US" sz="1400" b="1" dirty="0">
                <a:solidFill>
                  <a:schemeClr val="bg1"/>
                </a:solidFill>
              </a:rPr>
              <a:t>4</a:t>
            </a:r>
            <a:endParaRPr lang="en-US" sz="1400" dirty="0"/>
          </a:p>
        </p:txBody>
      </p:sp>
      <p:sp>
        <p:nvSpPr>
          <p:cNvPr id="23" name="text-108"/>
          <p:cNvSpPr txBox="1"/>
          <p:nvPr/>
        </p:nvSpPr>
        <p:spPr>
          <a:xfrm>
            <a:off x="5852160" y="3904488"/>
            <a:ext cx="2743200" cy="274320"/>
          </a:xfrm>
          <a:prstGeom prst="rect">
            <a:avLst/>
          </a:prstGeom>
          <a:noFill/>
          <a:ln/>
        </p:spPr>
        <p:txBody>
          <a:bodyPr wrap="square" lIns="0" tIns="0" rIns="0" bIns="0" rtlCol="0" anchor="t"/>
          <a:lstStyle/>
          <a:p>
            <a:pPr indent="0" marL="0">
              <a:buNone/>
            </a:pPr>
            <a:r>
              <a:rPr lang="en-US" sz="1400" b="1" dirty="0">
                <a:solidFill>
                  <a:schemeClr val="tx1"/>
                </a:solidFill>
              </a:rPr>
              <a:t>Used once</a:t>
            </a:r>
            <a:endParaRPr lang="en-US" sz="1400" dirty="0"/>
          </a:p>
        </p:txBody>
      </p:sp>
      <p:sp>
        <p:nvSpPr>
          <p:cNvPr id="24" name="text-109"/>
          <p:cNvSpPr txBox="1"/>
          <p:nvPr/>
        </p:nvSpPr>
        <p:spPr>
          <a:xfrm>
            <a:off x="5852160" y="4178808"/>
            <a:ext cx="2743200" cy="411480"/>
          </a:xfrm>
          <a:prstGeom prst="rect">
            <a:avLst/>
          </a:prstGeom>
          <a:noFill/>
          <a:ln/>
        </p:spPr>
        <p:txBody>
          <a:bodyPr wrap="square" lIns="0" tIns="0" rIns="0" bIns="0" rtlCol="0" anchor="t"/>
          <a:lstStyle/>
          <a:p>
            <a:pPr indent="0" marL="0">
              <a:buNone/>
            </a:pPr>
            <a:r>
              <a:rPr lang="en-US" sz="1200" dirty="0">
                <a:solidFill>
                  <a:schemeClr val="accent6"/>
                </a:solidFill>
              </a:rPr>
              <a:t>Validation picks checkpoints and fits the temperature; test is touched once</a:t>
            </a:r>
            <a:endParaRPr lang="en-US" sz="1200" dirty="0"/>
          </a:p>
        </p:txBody>
      </p:sp>
      <p:sp>
        <p:nvSpPr>
          <p:cNvPr id="25" name="Slide Number Placeholder 0"/>
          <p:cNvSpPr>
            <a:spLocks noGrp="1"/>
          </p:cNvSpPr>
          <p:nvPr>
            <p:ph type="sldNum" sz="quarter" idx="4294967295"/>
          </p:nvPr>
        </p:nvSpPr>
        <p:spPr>
          <a:xfrm>
            <a:off x="8229600" y="4828032"/>
            <a:ext cx="457200" cy="22860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defRPr>
            </a:lvl1pPr>
          </a:lstStyle>
          <a:p>
            <a:pPr algn="r"/>
            <a:fld id="{F7021451-1387-4CA6-816F-3879F97B5CBC}" type="slidenum">
              <a:rPr b="0" lang="en-US"/>
              <a:t>7</a:t>
            </a:fld>
            <a:endParaRPr lang="en-US"/>
          </a:p>
        </p:txBody>
      </p:sp>
      <p:pic>
        <p:nvPicPr>
          <p:cNvPr id="26" name="Picture 25" descr="chart_slide7_split.png"/>
          <p:cNvPicPr>
            <a:picLocks noChangeAspect="1"/>
          </p:cNvPicPr>
          <p:nvPr/>
        </p:nvPicPr>
        <p:blipFill>
          <a:blip r:embed="rId4"/>
          <a:stretch>
            <a:fillRect/>
          </a:stretch>
        </p:blipFill>
        <p:spPr>
          <a:xfrm>
            <a:off x="365760" y="1051560"/>
            <a:ext cx="4572000" cy="3611880"/>
          </a:xfrm>
          <a:prstGeom prst="rect">
            <a:avLst/>
          </a:prstGeom>
        </p:spPr>
      </p:pic>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p:nvPr>
            <p:ph idx="100" type="title" hasCustomPrompt="1"/>
          </p:nvPr>
        </p:nvSpPr>
        <p:spPr>
          <a:xfrm>
            <a:off x="457200" y="256032"/>
            <a:ext cx="8229600" cy="685800"/>
          </a:xfrm>
          <a:prstGeom prst="rect">
            <a:avLst/>
          </a:prstGeom>
          <a:noFill/>
          <a:ln/>
        </p:spPr>
        <p:txBody>
          <a:bodyPr wrap="square" lIns="0" tIns="0" rIns="0" bIns="0" rtlCol="0" anchor="ctr"/>
          <a:lstStyle/>
          <a:p>
            <a:pPr algn="l" indent="0" marL="0">
              <a:buNone/>
            </a:pPr>
            <a:r>
              <a:rPr lang="en-US" sz="2800" b="1" dirty="0">
                <a:solidFill>
                  <a:schemeClr val="tx1"/>
                </a:solidFill>
              </a:rPr>
              <a:t>Preprocessing and augmentation</a:t>
            </a:r>
            <a:endParaRPr lang="en-US" sz="2800" dirty="0"/>
          </a:p>
        </p:txBody>
      </p:sp>
      <p:pic>
        <p:nvPicPr>
          <p:cNvPr id="4" name="image-110" descr="/private/tmp/claude-501/-Users-parthsharma-Desktop-XAI-PDS/20cb58d2-ae23-468c-9c17-7a209704af59/scratchpad/deck/assets/pre_steps.png">    </p:cNvPr>
          <p:cNvPicPr>
            <a:picLocks noChangeAspect="1"/>
          </p:cNvPicPr>
          <p:nvPr/>
        </p:nvPicPr>
        <p:blipFill>
          <a:blip r:embed="rId1"/>
          <a:stretch>
            <a:fillRect/>
          </a:stretch>
        </p:blipFill>
        <p:spPr>
          <a:xfrm>
            <a:off x="457200" y="1051560"/>
            <a:ext cx="5760720" cy="1504188"/>
          </a:xfrm>
          <a:prstGeom prst="rect">
            <a:avLst/>
          </a:prstGeom>
        </p:spPr>
      </p:pic>
      <p:sp>
        <p:nvSpPr>
          <p:cNvPr id="5" name="card-111"/>
          <p:cNvSpPr/>
          <p:nvPr/>
        </p:nvSpPr>
        <p:spPr>
          <a:xfrm>
            <a:off x="6400800" y="1097280"/>
            <a:ext cx="2286000" cy="1463040"/>
          </a:xfrm>
          <a:prstGeom prst="roundRect">
            <a:avLst>
              <a:gd name="adj" fmla="val 5000"/>
            </a:avLst>
          </a:prstGeom>
          <a:solidFill>
            <a:schemeClr val="bg2"/>
          </a:solidFill>
          <a:ln w="12700">
            <a:solidFill>
              <a:schemeClr val="bg2"/>
            </a:solidFill>
            <a:prstDash val="solid"/>
          </a:ln>
        </p:spPr>
      </p:sp>
      <p:sp>
        <p:nvSpPr>
          <p:cNvPr id="6" name="text-112"/>
          <p:cNvSpPr txBox="1"/>
          <p:nvPr/>
        </p:nvSpPr>
        <p:spPr>
          <a:xfrm>
            <a:off x="6537960" y="1188720"/>
            <a:ext cx="2011680" cy="1325880"/>
          </a:xfrm>
          <a:prstGeom prst="rect">
            <a:avLst/>
          </a:prstGeom>
          <a:noFill/>
          <a:ln/>
        </p:spPr>
        <p:txBody>
          <a:bodyPr wrap="square" lIns="0" tIns="0" rIns="0" bIns="0" rtlCol="0" anchor="t"/>
          <a:lstStyle/>
          <a:p>
            <a:pPr indent="0" marL="0">
              <a:spcAft>
                <a:spcPts val="800"/>
              </a:spcAft>
              <a:buNone/>
            </a:pPr>
            <a:r>
              <a:rPr lang="en-US" sz="1500" b="1" dirty="0">
                <a:solidFill>
                  <a:schemeClr val="tx1"/>
                </a:solidFill>
              </a:rPr>
              <a:t>Every image</a:t>
            </a:r>
            <a:endParaRPr lang="en-US" sz="1400" dirty="0"/>
          </a:p>
          <a:p>
            <a:pPr indent="0" marL="0">
              <a:buNone/>
            </a:pPr>
            <a:r>
              <a:rPr lang="en-US" sz="1250" dirty="0">
                <a:solidFill>
                  <a:schemeClr val="tx1"/>
                </a:solidFill>
              </a:rPr>
              <a:t>Resize to 224 × 224, center crop, normalize with ImageNet mean and std.</a:t>
            </a:r>
            <a:endParaRPr lang="en-US" sz="1400" dirty="0"/>
          </a:p>
        </p:txBody>
      </p:sp>
      <p:pic>
        <p:nvPicPr>
          <p:cNvPr id="7" name="image-113" descr="/private/tmp/claude-501/-Users-parthsharma-Desktop-XAI-PDS/20cb58d2-ae23-468c-9c17-7a209704af59/scratchpad/deck/assets/aug_examples.png">    </p:cNvPr>
          <p:cNvPicPr>
            <a:picLocks noChangeAspect="1"/>
          </p:cNvPicPr>
          <p:nvPr/>
        </p:nvPicPr>
        <p:blipFill>
          <a:blip r:embed="rId2"/>
          <a:stretch>
            <a:fillRect/>
          </a:stretch>
        </p:blipFill>
        <p:spPr>
          <a:xfrm>
            <a:off x="457200" y="2788920"/>
            <a:ext cx="5760720" cy="1280160"/>
          </a:xfrm>
          <a:prstGeom prst="rect">
            <a:avLst/>
          </a:prstGeom>
        </p:spPr>
      </p:pic>
      <p:sp>
        <p:nvSpPr>
          <p:cNvPr id="8" name="card-114"/>
          <p:cNvSpPr/>
          <p:nvPr/>
        </p:nvSpPr>
        <p:spPr>
          <a:xfrm>
            <a:off x="6400800" y="2743200"/>
            <a:ext cx="2286000" cy="1371600"/>
          </a:xfrm>
          <a:prstGeom prst="roundRect">
            <a:avLst>
              <a:gd name="adj" fmla="val 5333"/>
            </a:avLst>
          </a:prstGeom>
          <a:solidFill>
            <a:schemeClr val="bg2"/>
          </a:solidFill>
          <a:ln w="12700">
            <a:solidFill>
              <a:schemeClr val="bg2"/>
            </a:solidFill>
            <a:prstDash val="solid"/>
          </a:ln>
        </p:spPr>
      </p:sp>
      <p:sp>
        <p:nvSpPr>
          <p:cNvPr id="9" name="text-115"/>
          <p:cNvSpPr txBox="1"/>
          <p:nvPr/>
        </p:nvSpPr>
        <p:spPr>
          <a:xfrm>
            <a:off x="6537960" y="2834640"/>
            <a:ext cx="2011680" cy="1234440"/>
          </a:xfrm>
          <a:prstGeom prst="rect">
            <a:avLst/>
          </a:prstGeom>
          <a:noFill/>
          <a:ln/>
        </p:spPr>
        <p:txBody>
          <a:bodyPr wrap="square" lIns="0" tIns="0" rIns="0" bIns="0" rtlCol="0" anchor="t"/>
          <a:lstStyle/>
          <a:p>
            <a:pPr indent="0" marL="0">
              <a:spcAft>
                <a:spcPts val="800"/>
              </a:spcAft>
              <a:buNone/>
            </a:pPr>
            <a:r>
              <a:rPr lang="en-US" sz="1500" b="1" dirty="0">
                <a:solidFill>
                  <a:schemeClr val="tx1"/>
                </a:solidFill>
              </a:rPr>
              <a:t>Training only</a:t>
            </a:r>
            <a:endParaRPr lang="en-US" sz="1400" dirty="0"/>
          </a:p>
          <a:p>
            <a:pPr indent="0" marL="0">
              <a:buNone/>
            </a:pPr>
            <a:r>
              <a:rPr lang="en-US" sz="1250" dirty="0">
                <a:solidFill>
                  <a:schemeClr val="tx1"/>
                </a:solidFill>
              </a:rPr>
              <a:t>Zoom crop, flip, rotation ±20°, brightness and contrast jitter 0.2.</a:t>
            </a:r>
            <a:endParaRPr lang="en-US" sz="1400" dirty="0"/>
          </a:p>
        </p:txBody>
      </p:sp>
      <p:sp>
        <p:nvSpPr>
          <p:cNvPr id="10" name="card-116"/>
          <p:cNvSpPr/>
          <p:nvPr/>
        </p:nvSpPr>
        <p:spPr>
          <a:xfrm>
            <a:off x="457200" y="4251960"/>
            <a:ext cx="8229600" cy="457200"/>
          </a:xfrm>
          <a:prstGeom prst="roundRect">
            <a:avLst>
              <a:gd name="adj" fmla="val 16000"/>
            </a:avLst>
          </a:prstGeom>
          <a:solidFill>
            <a:srgbClr val="FBEDEA"/>
          </a:solidFill>
          <a:ln w="12700">
            <a:solidFill>
              <a:srgbClr val="FBEDEA"/>
            </a:solidFill>
            <a:prstDash val="solid"/>
          </a:ln>
        </p:spPr>
      </p:sp>
      <p:sp>
        <p:nvSpPr>
          <p:cNvPr id="11" name="text-117"/>
          <p:cNvSpPr txBox="1"/>
          <p:nvPr/>
        </p:nvSpPr>
        <p:spPr>
          <a:xfrm>
            <a:off x="640080" y="4251960"/>
            <a:ext cx="7863840" cy="457200"/>
          </a:xfrm>
          <a:prstGeom prst="rect">
            <a:avLst/>
          </a:prstGeom>
          <a:noFill/>
          <a:ln/>
        </p:spPr>
        <p:txBody>
          <a:bodyPr wrap="square" lIns="0" tIns="0" rIns="0" bIns="0" rtlCol="0" anchor="ctr"/>
          <a:lstStyle/>
          <a:p>
            <a:pPr indent="0" marL="0">
              <a:buNone/>
            </a:pPr>
            <a:r>
              <a:rPr lang="en-US" sz="1300" b="1" dirty="0">
                <a:solidFill>
                  <a:schemeClr val="accent4"/>
                </a:solidFill>
              </a:rPr>
              <a:t>Not used: CutMix, random cutout, elastic distortion. They can hide or bend the lesion pattern the model must learn.</a:t>
            </a:r>
            <a:endParaRPr lang="en-US" sz="1300" dirty="0"/>
          </a:p>
        </p:txBody>
      </p:sp>
      <p:sp>
        <p:nvSpPr>
          <p:cNvPr id="25" name="Slide Number Placeholder 0"/>
          <p:cNvSpPr>
            <a:spLocks noGrp="1"/>
          </p:cNvSpPr>
          <p:nvPr>
            <p:ph type="sldNum" sz="quarter" idx="4294967295"/>
          </p:nvPr>
        </p:nvSpPr>
        <p:spPr>
          <a:xfrm>
            <a:off x="8229600" y="4828032"/>
            <a:ext cx="457200" cy="22860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defRPr>
            </a:lvl1pPr>
          </a:lstStyle>
          <a:p>
            <a:pPr algn="r"/>
            <a:fld id="{F7021451-1387-4CA6-816F-3879F97B5CBC}" type="slidenum">
              <a:rPr b="0" lang="en-US"/>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p:nvPr>
            <p:ph idx="100" type="title" hasCustomPrompt="1"/>
          </p:nvPr>
        </p:nvSpPr>
        <p:spPr>
          <a:xfrm>
            <a:off x="457200" y="256032"/>
            <a:ext cx="8229600" cy="685800"/>
          </a:xfrm>
          <a:prstGeom prst="rect">
            <a:avLst/>
          </a:prstGeom>
          <a:noFill/>
          <a:ln/>
        </p:spPr>
        <p:txBody>
          <a:bodyPr wrap="square" lIns="0" tIns="0" rIns="0" bIns="0" rtlCol="0" anchor="ctr"/>
          <a:lstStyle/>
          <a:p>
            <a:pPr algn="l" indent="0" marL="0">
              <a:buNone/>
            </a:pPr>
            <a:r>
              <a:rPr lang="en-US" sz="2800" b="1" dirty="0">
                <a:solidFill>
                  <a:schemeClr val="tx1"/>
                </a:solidFill>
              </a:rPr>
              <a:t>Why EfficientNet-B0?</a:t>
            </a:r>
            <a:endParaRPr lang="en-US" sz="2800" dirty="0"/>
          </a:p>
        </p:txBody>
      </p:sp>
      <p:sp>
        <p:nvSpPr>
          <p:cNvPr id="4" name="card-118"/>
          <p:cNvSpPr/>
          <p:nvPr/>
        </p:nvSpPr>
        <p:spPr>
          <a:xfrm>
            <a:off x="457200" y="1097280"/>
            <a:ext cx="2377440" cy="1645920"/>
          </a:xfrm>
          <a:prstGeom prst="roundRect">
            <a:avLst>
              <a:gd name="adj" fmla="val 4444"/>
            </a:avLst>
          </a:prstGeom>
          <a:solidFill>
            <a:schemeClr val="bg2"/>
          </a:solidFill>
          <a:ln w="12700">
            <a:solidFill>
              <a:schemeClr val="bg2"/>
            </a:solidFill>
            <a:prstDash val="solid"/>
          </a:ln>
        </p:spPr>
      </p:sp>
      <p:sp>
        <p:nvSpPr>
          <p:cNvPr id="5" name="text-119"/>
          <p:cNvSpPr txBox="1"/>
          <p:nvPr/>
        </p:nvSpPr>
        <p:spPr>
          <a:xfrm>
            <a:off x="621792" y="1207008"/>
            <a:ext cx="2103120" cy="548640"/>
          </a:xfrm>
          <a:prstGeom prst="rect">
            <a:avLst/>
          </a:prstGeom>
          <a:noFill/>
          <a:ln/>
        </p:spPr>
        <p:txBody>
          <a:bodyPr wrap="square" lIns="0" tIns="0" rIns="0" bIns="0" rtlCol="0" anchor="t"/>
          <a:lstStyle/>
          <a:p>
            <a:pPr indent="0" marL="0">
              <a:buNone/>
            </a:pPr>
            <a:r>
              <a:rPr lang="en-US" sz="2800" b="1" dirty="0">
                <a:solidFill>
                  <a:schemeClr val="accent1"/>
                </a:solidFill>
                <a:latin typeface="Cambria" pitchFamily="34" charset="0"/>
                <a:ea typeface="Cambria" pitchFamily="34" charset="-122"/>
                <a:cs typeface="Cambria" pitchFamily="34" charset="-120"/>
              </a:rPr>
              <a:t>4.03 M</a:t>
            </a:r>
            <a:endParaRPr lang="en-US" sz="2800" dirty="0"/>
          </a:p>
        </p:txBody>
      </p:sp>
      <p:sp>
        <p:nvSpPr>
          <p:cNvPr id="6" name="text-120"/>
          <p:cNvSpPr txBox="1"/>
          <p:nvPr/>
        </p:nvSpPr>
        <p:spPr>
          <a:xfrm>
            <a:off x="621792" y="1783080"/>
            <a:ext cx="2103120" cy="274320"/>
          </a:xfrm>
          <a:prstGeom prst="rect">
            <a:avLst/>
          </a:prstGeom>
          <a:noFill/>
          <a:ln/>
        </p:spPr>
        <p:txBody>
          <a:bodyPr wrap="square" lIns="0" tIns="0" rIns="0" bIns="0" rtlCol="0" anchor="t"/>
          <a:lstStyle/>
          <a:p>
            <a:pPr indent="0" marL="0">
              <a:buNone/>
            </a:pPr>
            <a:r>
              <a:rPr lang="en-US" sz="1300" b="1" dirty="0">
                <a:solidFill>
                  <a:schemeClr val="tx1"/>
                </a:solidFill>
              </a:rPr>
              <a:t>trainable parameters</a:t>
            </a:r>
            <a:endParaRPr lang="en-US" sz="1300" dirty="0"/>
          </a:p>
        </p:txBody>
      </p:sp>
      <p:sp>
        <p:nvSpPr>
          <p:cNvPr id="7" name="text-121"/>
          <p:cNvSpPr txBox="1"/>
          <p:nvPr/>
        </p:nvSpPr>
        <p:spPr>
          <a:xfrm>
            <a:off x="621792" y="2084832"/>
            <a:ext cx="2103120" cy="640080"/>
          </a:xfrm>
          <a:prstGeom prst="rect">
            <a:avLst/>
          </a:prstGeom>
          <a:noFill/>
          <a:ln/>
        </p:spPr>
        <p:txBody>
          <a:bodyPr wrap="square" lIns="0" tIns="0" rIns="0" bIns="0" rtlCol="0" anchor="t"/>
          <a:lstStyle/>
          <a:p>
            <a:pPr indent="0" marL="0">
              <a:buNone/>
            </a:pPr>
            <a:r>
              <a:rPr lang="en-US" sz="1150" dirty="0">
                <a:solidFill>
                  <a:schemeClr val="accent6"/>
                </a:solidFill>
              </a:rPr>
              <a:t>15.65 MB on disk, ≈83% smaller than ResNet-50 (≈94 MB in fp32)</a:t>
            </a:r>
            <a:endParaRPr lang="en-US" sz="1150" dirty="0"/>
          </a:p>
        </p:txBody>
      </p:sp>
      <p:sp>
        <p:nvSpPr>
          <p:cNvPr id="8" name="card-122"/>
          <p:cNvSpPr/>
          <p:nvPr/>
        </p:nvSpPr>
        <p:spPr>
          <a:xfrm>
            <a:off x="2971800" y="1097280"/>
            <a:ext cx="2377440" cy="1645920"/>
          </a:xfrm>
          <a:prstGeom prst="roundRect">
            <a:avLst>
              <a:gd name="adj" fmla="val 4444"/>
            </a:avLst>
          </a:prstGeom>
          <a:solidFill>
            <a:schemeClr val="bg2"/>
          </a:solidFill>
          <a:ln w="12700">
            <a:solidFill>
              <a:schemeClr val="bg2"/>
            </a:solidFill>
            <a:prstDash val="solid"/>
          </a:ln>
        </p:spPr>
      </p:sp>
      <p:sp>
        <p:nvSpPr>
          <p:cNvPr id="9" name="text-123"/>
          <p:cNvSpPr txBox="1"/>
          <p:nvPr/>
        </p:nvSpPr>
        <p:spPr>
          <a:xfrm>
            <a:off x="3136392" y="1207008"/>
            <a:ext cx="2103120" cy="548640"/>
          </a:xfrm>
          <a:prstGeom prst="rect">
            <a:avLst/>
          </a:prstGeom>
          <a:noFill/>
          <a:ln/>
        </p:spPr>
        <p:txBody>
          <a:bodyPr wrap="square" lIns="0" tIns="0" rIns="0" bIns="0" rtlCol="0" anchor="t"/>
          <a:lstStyle/>
          <a:p>
            <a:pPr indent="0" marL="0">
              <a:buNone/>
            </a:pPr>
            <a:r>
              <a:rPr lang="en-US" sz="2800" b="1" dirty="0">
                <a:solidFill>
                  <a:schemeClr val="accent1"/>
                </a:solidFill>
                <a:latin typeface="Cambria" pitchFamily="34" charset="0"/>
                <a:ea typeface="Cambria" pitchFamily="34" charset="-122"/>
                <a:cs typeface="Cambria" pitchFamily="34" charset="-120"/>
              </a:rPr>
              <a:t>0.38</a:t>
            </a:r>
            <a:endParaRPr lang="en-US" sz="2800" dirty="0"/>
          </a:p>
        </p:txBody>
      </p:sp>
      <p:sp>
        <p:nvSpPr>
          <p:cNvPr id="10" name="text-124"/>
          <p:cNvSpPr txBox="1"/>
          <p:nvPr/>
        </p:nvSpPr>
        <p:spPr>
          <a:xfrm>
            <a:off x="3136392" y="1783080"/>
            <a:ext cx="2103120" cy="274320"/>
          </a:xfrm>
          <a:prstGeom prst="rect">
            <a:avLst/>
          </a:prstGeom>
          <a:noFill/>
          <a:ln/>
        </p:spPr>
        <p:txBody>
          <a:bodyPr wrap="square" lIns="0" tIns="0" rIns="0" bIns="0" rtlCol="0" anchor="t"/>
          <a:lstStyle/>
          <a:p>
            <a:pPr indent="0" marL="0">
              <a:buNone/>
            </a:pPr>
            <a:r>
              <a:rPr lang="en-US" sz="1300" b="1" dirty="0">
                <a:solidFill>
                  <a:schemeClr val="tx1"/>
                </a:solidFill>
              </a:rPr>
              <a:t>GFLOPs per image</a:t>
            </a:r>
            <a:endParaRPr lang="en-US" sz="1300" dirty="0"/>
          </a:p>
        </p:txBody>
      </p:sp>
      <p:sp>
        <p:nvSpPr>
          <p:cNvPr id="11" name="text-125"/>
          <p:cNvSpPr txBox="1"/>
          <p:nvPr/>
        </p:nvSpPr>
        <p:spPr>
          <a:xfrm>
            <a:off x="3136392" y="2084832"/>
            <a:ext cx="2103120" cy="640080"/>
          </a:xfrm>
          <a:prstGeom prst="rect">
            <a:avLst/>
          </a:prstGeom>
          <a:noFill/>
          <a:ln/>
        </p:spPr>
        <p:txBody>
          <a:bodyPr wrap="square" lIns="0" tIns="0" rIns="0" bIns="0" rtlCol="0" anchor="t"/>
          <a:lstStyle/>
          <a:p>
            <a:pPr indent="0" marL="0">
              <a:buNone/>
            </a:pPr>
            <a:r>
              <a:rPr lang="en-US" sz="1150" dirty="0">
                <a:solidFill>
                  <a:schemeClr val="accent6"/>
                </a:solidFill>
              </a:rPr>
              <a:t>ResNet-50 needs 4.09: about 91% fewer operations</a:t>
            </a:r>
            <a:endParaRPr lang="en-US" sz="1150" dirty="0"/>
          </a:p>
        </p:txBody>
      </p:sp>
      <p:sp>
        <p:nvSpPr>
          <p:cNvPr id="12" name="card-126"/>
          <p:cNvSpPr/>
          <p:nvPr/>
        </p:nvSpPr>
        <p:spPr>
          <a:xfrm>
            <a:off x="457200" y="2880360"/>
            <a:ext cx="2377440" cy="1645920"/>
          </a:xfrm>
          <a:prstGeom prst="roundRect">
            <a:avLst>
              <a:gd name="adj" fmla="val 4444"/>
            </a:avLst>
          </a:prstGeom>
          <a:solidFill>
            <a:schemeClr val="bg2"/>
          </a:solidFill>
          <a:ln w="12700">
            <a:solidFill>
              <a:schemeClr val="bg2"/>
            </a:solidFill>
            <a:prstDash val="solid"/>
          </a:ln>
        </p:spPr>
      </p:sp>
      <p:sp>
        <p:nvSpPr>
          <p:cNvPr id="13" name="text-127"/>
          <p:cNvSpPr txBox="1"/>
          <p:nvPr/>
        </p:nvSpPr>
        <p:spPr>
          <a:xfrm>
            <a:off x="621792" y="2990088"/>
            <a:ext cx="2103120" cy="548640"/>
          </a:xfrm>
          <a:prstGeom prst="rect">
            <a:avLst/>
          </a:prstGeom>
          <a:noFill/>
          <a:ln/>
        </p:spPr>
        <p:txBody>
          <a:bodyPr wrap="square" lIns="0" tIns="0" rIns="0" bIns="0" rtlCol="0" anchor="t"/>
          <a:lstStyle/>
          <a:p>
            <a:pPr indent="0" marL="0">
              <a:buNone/>
            </a:pPr>
            <a:r>
              <a:rPr lang="en-US" sz="2800" b="1" dirty="0">
                <a:solidFill>
                  <a:schemeClr val="accent1"/>
                </a:solidFill>
                <a:latin typeface="Cambria" pitchFamily="34" charset="0"/>
                <a:ea typeface="Cambria" pitchFamily="34" charset="-122"/>
                <a:cs typeface="Cambria" pitchFamily="34" charset="-120"/>
              </a:rPr>
              <a:t>7 × 7</a:t>
            </a:r>
            <a:endParaRPr lang="en-US" sz="2800" dirty="0"/>
          </a:p>
        </p:txBody>
      </p:sp>
      <p:sp>
        <p:nvSpPr>
          <p:cNvPr id="14" name="text-128"/>
          <p:cNvSpPr txBox="1"/>
          <p:nvPr/>
        </p:nvSpPr>
        <p:spPr>
          <a:xfrm>
            <a:off x="621792" y="3566160"/>
            <a:ext cx="2103120" cy="274320"/>
          </a:xfrm>
          <a:prstGeom prst="rect">
            <a:avLst/>
          </a:prstGeom>
          <a:noFill/>
          <a:ln/>
        </p:spPr>
        <p:txBody>
          <a:bodyPr wrap="square" lIns="0" tIns="0" rIns="0" bIns="0" rtlCol="0" anchor="t"/>
          <a:lstStyle/>
          <a:p>
            <a:pPr indent="0" marL="0">
              <a:buNone/>
            </a:pPr>
            <a:r>
              <a:rPr lang="en-US" sz="1300" b="1" dirty="0">
                <a:solidFill>
                  <a:schemeClr val="tx1"/>
                </a:solidFill>
              </a:rPr>
              <a:t>feature maps at the last block</a:t>
            </a:r>
            <a:endParaRPr lang="en-US" sz="1300" dirty="0"/>
          </a:p>
        </p:txBody>
      </p:sp>
      <p:sp>
        <p:nvSpPr>
          <p:cNvPr id="15" name="text-129"/>
          <p:cNvSpPr txBox="1"/>
          <p:nvPr/>
        </p:nvSpPr>
        <p:spPr>
          <a:xfrm>
            <a:off x="621792" y="3867912"/>
            <a:ext cx="2103120" cy="640080"/>
          </a:xfrm>
          <a:prstGeom prst="rect">
            <a:avLst/>
          </a:prstGeom>
          <a:noFill/>
          <a:ln/>
        </p:spPr>
        <p:txBody>
          <a:bodyPr wrap="square" lIns="0" tIns="0" rIns="0" bIns="0" rtlCol="0" anchor="t"/>
          <a:lstStyle/>
          <a:p>
            <a:pPr indent="0" marL="0">
              <a:buNone/>
            </a:pPr>
            <a:r>
              <a:rPr lang="en-US" sz="1150" dirty="0">
                <a:solidFill>
                  <a:schemeClr val="accent6"/>
                </a:solidFill>
              </a:rPr>
              <a:t>A clean layer for Grad-CAM to read</a:t>
            </a:r>
            <a:endParaRPr lang="en-US" sz="1150" dirty="0"/>
          </a:p>
        </p:txBody>
      </p:sp>
      <p:sp>
        <p:nvSpPr>
          <p:cNvPr id="16" name="card-130"/>
          <p:cNvSpPr/>
          <p:nvPr/>
        </p:nvSpPr>
        <p:spPr>
          <a:xfrm>
            <a:off x="2971800" y="2880360"/>
            <a:ext cx="2377440" cy="1645920"/>
          </a:xfrm>
          <a:prstGeom prst="roundRect">
            <a:avLst>
              <a:gd name="adj" fmla="val 4444"/>
            </a:avLst>
          </a:prstGeom>
          <a:solidFill>
            <a:schemeClr val="bg2"/>
          </a:solidFill>
          <a:ln w="12700">
            <a:solidFill>
              <a:schemeClr val="bg2"/>
            </a:solidFill>
            <a:prstDash val="solid"/>
          </a:ln>
        </p:spPr>
      </p:sp>
      <p:sp>
        <p:nvSpPr>
          <p:cNvPr id="17" name="text-131"/>
          <p:cNvSpPr txBox="1"/>
          <p:nvPr/>
        </p:nvSpPr>
        <p:spPr>
          <a:xfrm>
            <a:off x="3136392" y="2990088"/>
            <a:ext cx="2103120" cy="548640"/>
          </a:xfrm>
          <a:prstGeom prst="rect">
            <a:avLst/>
          </a:prstGeom>
          <a:noFill/>
          <a:ln/>
        </p:spPr>
        <p:txBody>
          <a:bodyPr wrap="square" lIns="0" tIns="0" rIns="0" bIns="0" rtlCol="0" anchor="t"/>
          <a:lstStyle/>
          <a:p>
            <a:pPr indent="0" marL="0">
              <a:buNone/>
            </a:pPr>
            <a:r>
              <a:rPr lang="en-US" sz="2800" b="1" dirty="0">
                <a:solidFill>
                  <a:schemeClr val="accent1"/>
                </a:solidFill>
                <a:latin typeface="Cambria" pitchFamily="34" charset="0"/>
                <a:ea typeface="Cambria" pitchFamily="34" charset="-122"/>
                <a:cs typeface="Cambria" pitchFamily="34" charset="-120"/>
              </a:rPr>
              <a:t>98.13%</a:t>
            </a:r>
            <a:endParaRPr lang="en-US" sz="2800" dirty="0"/>
          </a:p>
        </p:txBody>
      </p:sp>
      <p:sp>
        <p:nvSpPr>
          <p:cNvPr id="18" name="text-132"/>
          <p:cNvSpPr txBox="1"/>
          <p:nvPr/>
        </p:nvSpPr>
        <p:spPr>
          <a:xfrm>
            <a:off x="3136392" y="3566160"/>
            <a:ext cx="2103120" cy="274320"/>
          </a:xfrm>
          <a:prstGeom prst="rect">
            <a:avLst/>
          </a:prstGeom>
          <a:noFill/>
          <a:ln/>
        </p:spPr>
        <p:txBody>
          <a:bodyPr wrap="square" lIns="0" tIns="0" rIns="0" bIns="0" rtlCol="0" anchor="t"/>
          <a:lstStyle/>
          <a:p>
            <a:pPr indent="0" marL="0">
              <a:buNone/>
            </a:pPr>
            <a:r>
              <a:rPr lang="en-US" sz="1300" b="1" dirty="0">
                <a:solidFill>
                  <a:schemeClr val="tx1"/>
                </a:solidFill>
              </a:rPr>
              <a:t>test accuracy</a:t>
            </a:r>
            <a:endParaRPr lang="en-US" sz="1300" dirty="0"/>
          </a:p>
        </p:txBody>
      </p:sp>
      <p:sp>
        <p:nvSpPr>
          <p:cNvPr id="19" name="text-133"/>
          <p:cNvSpPr txBox="1"/>
          <p:nvPr/>
        </p:nvSpPr>
        <p:spPr>
          <a:xfrm>
            <a:off x="3136392" y="3867912"/>
            <a:ext cx="2103120" cy="640080"/>
          </a:xfrm>
          <a:prstGeom prst="rect">
            <a:avLst/>
          </a:prstGeom>
          <a:noFill/>
          <a:ln/>
        </p:spPr>
        <p:txBody>
          <a:bodyPr wrap="square" lIns="0" tIns="0" rIns="0" bIns="0" rtlCol="0" anchor="t"/>
          <a:lstStyle/>
          <a:p>
            <a:pPr indent="0" marL="0">
              <a:buNone/>
            </a:pPr>
            <a:r>
              <a:rPr lang="en-US" sz="1150" dirty="0">
                <a:solidFill>
                  <a:schemeClr val="accent6"/>
                </a:solidFill>
              </a:rPr>
              <a:t>Measured on 3,107 photos the model never saw</a:t>
            </a:r>
            <a:endParaRPr lang="en-US" sz="1150" dirty="0"/>
          </a:p>
        </p:txBody>
      </p:sp>
      <p:sp>
        <p:nvSpPr>
          <p:cNvPr id="25" name="Slide Number Placeholder 0"/>
          <p:cNvSpPr>
            <a:spLocks noGrp="1"/>
          </p:cNvSpPr>
          <p:nvPr>
            <p:ph type="sldNum" sz="quarter" idx="4294967295"/>
          </p:nvPr>
        </p:nvSpPr>
        <p:spPr>
          <a:xfrm>
            <a:off x="8229600" y="4828032"/>
            <a:ext cx="457200" cy="22860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defRPr>
            </a:lvl1pPr>
          </a:lstStyle>
          <a:p>
            <a:pPr algn="r"/>
            <a:fld id="{F7021451-1387-4CA6-816F-3879F97B5CBC}" type="slidenum">
              <a:rPr b="0" lang="en-US"/>
              <a:t>9</a:t>
            </a:fld>
            <a:endParaRPr lang="en-US"/>
          </a:p>
        </p:txBody>
      </p:sp>
      <p:pic>
        <p:nvPicPr>
          <p:cNvPr id="26" name="Picture 25" descr="chart_slide9_gflops.png"/>
          <p:cNvPicPr>
            <a:picLocks noChangeAspect="1"/>
          </p:cNvPicPr>
          <p:nvPr/>
        </p:nvPicPr>
        <p:blipFill>
          <a:blip r:embed="rId4"/>
          <a:stretch>
            <a:fillRect/>
          </a:stretch>
        </p:blipFill>
        <p:spPr>
          <a:xfrm>
            <a:off x="5486400" y="1051560"/>
            <a:ext cx="3291840" cy="3611880"/>
          </a:xfrm>
          <a:prstGeom prst="rect">
            <a:avLst/>
          </a:prstGeom>
        </p:spPr>
      </p:pic>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p:nvPr>
            <p:ph idx="100" type="title" hasCustomPrompt="1"/>
          </p:nvPr>
        </p:nvSpPr>
        <p:spPr>
          <a:xfrm>
            <a:off x="457200" y="256032"/>
            <a:ext cx="8229600" cy="685800"/>
          </a:xfrm>
          <a:prstGeom prst="rect">
            <a:avLst/>
          </a:prstGeom>
          <a:noFill/>
          <a:ln/>
        </p:spPr>
        <p:txBody>
          <a:bodyPr wrap="square" lIns="0" tIns="0" rIns="0" bIns="0" rtlCol="0" anchor="ctr"/>
          <a:lstStyle/>
          <a:p>
            <a:pPr algn="l" indent="0" marL="0">
              <a:buNone/>
            </a:pPr>
            <a:r>
              <a:rPr lang="en-US" sz="2800" b="1" dirty="0">
                <a:solidFill>
                  <a:schemeClr val="tx1"/>
                </a:solidFill>
              </a:rPr>
              <a:t>Architecture comparison</a:t>
            </a:r>
            <a:endParaRPr lang="en-US" sz="2800" dirty="0"/>
          </a:p>
        </p:txBody>
      </p:sp>
      <p:graphicFrame>
        <p:nvGraphicFramePr>
          <p:cNvPr id="11" name="model-table"/>
          <p:cNvGraphicFramePr>
            <a:graphicFrameLocks noGrp="1"/>
          </p:cNvGraphicFramePr>
          <p:nvPr>
            <p:extLst>
              <p:ext uri="{D42A27DB-BD31-4B8C-83A1-F6EECF244321}">
                <p14:modId xmlns:p14="http://schemas.microsoft.com/office/powerpoint/2010/main" val="1579011935"/>
              </p:ext>
            </p:extLst>
          </p:nvPr>
        </p:nvGraphicFramePr>
        <p:xfrm>
          <a:off x="457200" y="1097280"/>
          <a:ext cx="8229600" cy="914400"/>
        </p:xfrm>
        <a:graphic>
          <a:graphicData uri="http://schemas.openxmlformats.org/drawingml/2006/table">
            <a:tbl>
              <a:tblPr/>
              <a:tblGrid>
                <a:gridCol w="1783080"/>
                <a:gridCol w="2240280"/>
                <a:gridCol w="914400"/>
                <a:gridCol w="777240"/>
                <a:gridCol w="1005840"/>
                <a:gridCol w="1508760"/>
              </a:tblGrid>
              <a:tr h="512064">
                <a:tc>
                  <a:txBody>
                    <a:bodyPr/>
                    <a:lstStyle/>
                    <a:p>
                      <a:pPr indent="0" marL="0">
                        <a:buNone/>
                      </a:pPr>
                      <a:r>
                        <a:rPr lang="en-US" sz="1350" b="1" dirty="0">
                          <a:solidFill>
                            <a:schemeClr val="bg1"/>
                          </a:solidFill>
                        </a:rPr>
                        <a:t>Architecture</a:t>
                      </a:r>
                      <a:endParaRPr lang="en-US" sz="1350" dirty="0"/>
                    </a:p>
                  </a:txBody>
                  <a:tcPr marL="91440" marR="91440" marT="45720" marB="45720" anchor="ctr">
                    <a:lnL w="6350" cap="flat" cmpd="sng" algn="ctr">
                      <a:solidFill>
                        <a:srgbClr val="D3DFD8"/>
                      </a:solidFill>
                      <a:prstDash val="solid"/>
                      <a:round/>
                      <a:headEnd type="none" w="med" len="med"/>
                      <a:tailEnd type="none" w="med" len="med"/>
                    </a:lnL>
                    <a:lnR w="6350" cap="flat" cmpd="sng" algn="ctr">
                      <a:solidFill>
                        <a:srgbClr val="D3DFD8"/>
                      </a:solidFill>
                      <a:prstDash val="solid"/>
                      <a:round/>
                      <a:headEnd type="none" w="med" len="med"/>
                      <a:tailEnd type="none" w="med" len="med"/>
                    </a:lnR>
                    <a:lnT w="6350" cap="flat" cmpd="sng" algn="ctr">
                      <a:solidFill>
                        <a:srgbClr val="D3DFD8"/>
                      </a:solidFill>
                      <a:prstDash val="solid"/>
                      <a:round/>
                      <a:headEnd type="none" w="med" len="med"/>
                      <a:tailEnd type="none" w="med" len="med"/>
                    </a:lnT>
                    <a:lnB w="6350" cap="flat" cmpd="sng" algn="ctr">
                      <a:solidFill>
                        <a:srgbClr val="D3DFD8"/>
                      </a:solidFill>
                      <a:prstDash val="solid"/>
                      <a:round/>
                      <a:headEnd type="none" w="med" len="med"/>
                      <a:tailEnd type="none" w="med" len="med"/>
                    </a:lnB>
                    <a:solidFill>
                      <a:schemeClr val="tx2"/>
                    </a:solidFill>
                  </a:tcPr>
                </a:tc>
                <a:tc>
                  <a:txBody>
                    <a:bodyPr/>
                    <a:lstStyle/>
                    <a:p>
                      <a:pPr indent="0" marL="0">
                        <a:buNone/>
                      </a:pPr>
                      <a:r>
                        <a:rPr lang="en-US" sz="1350" b="1" dirty="0">
                          <a:solidFill>
                            <a:schemeClr val="bg1"/>
                          </a:solidFill>
                        </a:rPr>
                        <a:t>Scaling idea</a:t>
                      </a:r>
                      <a:endParaRPr lang="en-US" sz="1350" dirty="0"/>
                    </a:p>
                  </a:txBody>
                  <a:tcPr marL="91440" marR="91440" marT="45720" marB="45720" anchor="ctr">
                    <a:lnL w="6350" cap="flat" cmpd="sng" algn="ctr">
                      <a:solidFill>
                        <a:srgbClr val="D3DFD8"/>
                      </a:solidFill>
                      <a:prstDash val="solid"/>
                      <a:round/>
                      <a:headEnd type="none" w="med" len="med"/>
                      <a:tailEnd type="none" w="med" len="med"/>
                    </a:lnL>
                    <a:lnR w="6350" cap="flat" cmpd="sng" algn="ctr">
                      <a:solidFill>
                        <a:srgbClr val="D3DFD8"/>
                      </a:solidFill>
                      <a:prstDash val="solid"/>
                      <a:round/>
                      <a:headEnd type="none" w="med" len="med"/>
                      <a:tailEnd type="none" w="med" len="med"/>
                    </a:lnR>
                    <a:lnT w="6350" cap="flat" cmpd="sng" algn="ctr">
                      <a:solidFill>
                        <a:srgbClr val="D3DFD8"/>
                      </a:solidFill>
                      <a:prstDash val="solid"/>
                      <a:round/>
                      <a:headEnd type="none" w="med" len="med"/>
                      <a:tailEnd type="none" w="med" len="med"/>
                    </a:lnT>
                    <a:lnB w="6350" cap="flat" cmpd="sng" algn="ctr">
                      <a:solidFill>
                        <a:srgbClr val="D3DFD8"/>
                      </a:solidFill>
                      <a:prstDash val="solid"/>
                      <a:round/>
                      <a:headEnd type="none" w="med" len="med"/>
                      <a:tailEnd type="none" w="med" len="med"/>
                    </a:lnB>
                    <a:solidFill>
                      <a:schemeClr val="tx2"/>
                    </a:solidFill>
                  </a:tcPr>
                </a:tc>
                <a:tc>
                  <a:txBody>
                    <a:bodyPr/>
                    <a:lstStyle/>
                    <a:p>
                      <a:pPr indent="0" marL="0">
                        <a:buNone/>
                      </a:pPr>
                      <a:r>
                        <a:rPr lang="en-US" sz="1350" b="1" dirty="0">
                          <a:solidFill>
                            <a:schemeClr val="bg1"/>
                          </a:solidFill>
                        </a:rPr>
                        <a:t>Params (M)</a:t>
                      </a:r>
                      <a:endParaRPr lang="en-US" sz="1350" dirty="0"/>
                    </a:p>
                  </a:txBody>
                  <a:tcPr marL="91440" marR="91440" marT="45720" marB="45720" anchor="ctr">
                    <a:lnL w="6350" cap="flat" cmpd="sng" algn="ctr">
                      <a:solidFill>
                        <a:srgbClr val="D3DFD8"/>
                      </a:solidFill>
                      <a:prstDash val="solid"/>
                      <a:round/>
                      <a:headEnd type="none" w="med" len="med"/>
                      <a:tailEnd type="none" w="med" len="med"/>
                    </a:lnL>
                    <a:lnR w="6350" cap="flat" cmpd="sng" algn="ctr">
                      <a:solidFill>
                        <a:srgbClr val="D3DFD8"/>
                      </a:solidFill>
                      <a:prstDash val="solid"/>
                      <a:round/>
                      <a:headEnd type="none" w="med" len="med"/>
                      <a:tailEnd type="none" w="med" len="med"/>
                    </a:lnR>
                    <a:lnT w="6350" cap="flat" cmpd="sng" algn="ctr">
                      <a:solidFill>
                        <a:srgbClr val="D3DFD8"/>
                      </a:solidFill>
                      <a:prstDash val="solid"/>
                      <a:round/>
                      <a:headEnd type="none" w="med" len="med"/>
                      <a:tailEnd type="none" w="med" len="med"/>
                    </a:lnT>
                    <a:lnB w="6350" cap="flat" cmpd="sng" algn="ctr">
                      <a:solidFill>
                        <a:srgbClr val="D3DFD8"/>
                      </a:solidFill>
                      <a:prstDash val="solid"/>
                      <a:round/>
                      <a:headEnd type="none" w="med" len="med"/>
                      <a:tailEnd type="none" w="med" len="med"/>
                    </a:lnB>
                    <a:solidFill>
                      <a:schemeClr val="tx2"/>
                    </a:solidFill>
                  </a:tcPr>
                </a:tc>
                <a:tc>
                  <a:txBody>
                    <a:bodyPr/>
                    <a:lstStyle/>
                    <a:p>
                      <a:pPr indent="0" marL="0">
                        <a:buNone/>
                      </a:pPr>
                      <a:r>
                        <a:rPr lang="en-US" sz="1350" b="1" dirty="0">
                          <a:solidFill>
                            <a:schemeClr val="bg1"/>
                          </a:solidFill>
                        </a:rPr>
                        <a:t>GFLOPs</a:t>
                      </a:r>
                      <a:endParaRPr lang="en-US" sz="1350" dirty="0"/>
                    </a:p>
                  </a:txBody>
                  <a:tcPr marL="91440" marR="91440" marT="45720" marB="45720" anchor="ctr">
                    <a:lnL w="6350" cap="flat" cmpd="sng" algn="ctr">
                      <a:solidFill>
                        <a:srgbClr val="D3DFD8"/>
                      </a:solidFill>
                      <a:prstDash val="solid"/>
                      <a:round/>
                      <a:headEnd type="none" w="med" len="med"/>
                      <a:tailEnd type="none" w="med" len="med"/>
                    </a:lnL>
                    <a:lnR w="6350" cap="flat" cmpd="sng" algn="ctr">
                      <a:solidFill>
                        <a:srgbClr val="D3DFD8"/>
                      </a:solidFill>
                      <a:prstDash val="solid"/>
                      <a:round/>
                      <a:headEnd type="none" w="med" len="med"/>
                      <a:tailEnd type="none" w="med" len="med"/>
                    </a:lnR>
                    <a:lnT w="6350" cap="flat" cmpd="sng" algn="ctr">
                      <a:solidFill>
                        <a:srgbClr val="D3DFD8"/>
                      </a:solidFill>
                      <a:prstDash val="solid"/>
                      <a:round/>
                      <a:headEnd type="none" w="med" len="med"/>
                      <a:tailEnd type="none" w="med" len="med"/>
                    </a:lnT>
                    <a:lnB w="6350" cap="flat" cmpd="sng" algn="ctr">
                      <a:solidFill>
                        <a:srgbClr val="D3DFD8"/>
                      </a:solidFill>
                      <a:prstDash val="solid"/>
                      <a:round/>
                      <a:headEnd type="none" w="med" len="med"/>
                      <a:tailEnd type="none" w="med" len="med"/>
                    </a:lnB>
                    <a:solidFill>
                      <a:schemeClr val="tx2"/>
                    </a:solidFill>
                  </a:tcPr>
                </a:tc>
                <a:tc>
                  <a:txBody>
                    <a:bodyPr/>
                    <a:lstStyle/>
                    <a:p>
                      <a:pPr indent="0" marL="0">
                        <a:buNone/>
                      </a:pPr>
                      <a:r>
                        <a:rPr lang="en-US" sz="1350" b="1" dirty="0">
                          <a:solidFill>
                            <a:schemeClr val="bg1"/>
                          </a:solidFill>
                        </a:rPr>
                        <a:t>Latency (ms)</a:t>
                      </a:r>
                      <a:endParaRPr lang="en-US" sz="1350" dirty="0"/>
                    </a:p>
                  </a:txBody>
                  <a:tcPr marL="91440" marR="91440" marT="45720" marB="45720" anchor="ctr">
                    <a:lnL w="6350" cap="flat" cmpd="sng" algn="ctr">
                      <a:solidFill>
                        <a:srgbClr val="D3DFD8"/>
                      </a:solidFill>
                      <a:prstDash val="solid"/>
                      <a:round/>
                      <a:headEnd type="none" w="med" len="med"/>
                      <a:tailEnd type="none" w="med" len="med"/>
                    </a:lnL>
                    <a:lnR w="6350" cap="flat" cmpd="sng" algn="ctr">
                      <a:solidFill>
                        <a:srgbClr val="D3DFD8"/>
                      </a:solidFill>
                      <a:prstDash val="solid"/>
                      <a:round/>
                      <a:headEnd type="none" w="med" len="med"/>
                      <a:tailEnd type="none" w="med" len="med"/>
                    </a:lnR>
                    <a:lnT w="6350" cap="flat" cmpd="sng" algn="ctr">
                      <a:solidFill>
                        <a:srgbClr val="D3DFD8"/>
                      </a:solidFill>
                      <a:prstDash val="solid"/>
                      <a:round/>
                      <a:headEnd type="none" w="med" len="med"/>
                      <a:tailEnd type="none" w="med" len="med"/>
                    </a:lnT>
                    <a:lnB w="6350" cap="flat" cmpd="sng" algn="ctr">
                      <a:solidFill>
                        <a:srgbClr val="D3DFD8"/>
                      </a:solidFill>
                      <a:prstDash val="solid"/>
                      <a:round/>
                      <a:headEnd type="none" w="med" len="med"/>
                      <a:tailEnd type="none" w="med" len="med"/>
                    </a:lnB>
                    <a:solidFill>
                      <a:schemeClr val="tx2"/>
                    </a:solidFill>
                  </a:tcPr>
                </a:tc>
                <a:tc>
                  <a:txBody>
                    <a:bodyPr/>
                    <a:lstStyle/>
                    <a:p>
                      <a:pPr indent="0" marL="0">
                        <a:buNone/>
                      </a:pPr>
                      <a:r>
                        <a:rPr lang="en-US" sz="1350" b="1" dirty="0">
                          <a:solidFill>
                            <a:schemeClr val="bg1"/>
                          </a:solidFill>
                        </a:rPr>
                        <a:t>Status</a:t>
                      </a:r>
                      <a:endParaRPr lang="en-US" sz="1350" dirty="0"/>
                    </a:p>
                  </a:txBody>
                  <a:tcPr marL="91440" marR="91440" marT="45720" marB="45720" anchor="ctr">
                    <a:lnL w="6350" cap="flat" cmpd="sng" algn="ctr">
                      <a:solidFill>
                        <a:srgbClr val="D3DFD8"/>
                      </a:solidFill>
                      <a:prstDash val="solid"/>
                      <a:round/>
                      <a:headEnd type="none" w="med" len="med"/>
                      <a:tailEnd type="none" w="med" len="med"/>
                    </a:lnL>
                    <a:lnR w="6350" cap="flat" cmpd="sng" algn="ctr">
                      <a:solidFill>
                        <a:srgbClr val="D3DFD8"/>
                      </a:solidFill>
                      <a:prstDash val="solid"/>
                      <a:round/>
                      <a:headEnd type="none" w="med" len="med"/>
                      <a:tailEnd type="none" w="med" len="med"/>
                    </a:lnR>
                    <a:lnT w="6350" cap="flat" cmpd="sng" algn="ctr">
                      <a:solidFill>
                        <a:srgbClr val="D3DFD8"/>
                      </a:solidFill>
                      <a:prstDash val="solid"/>
                      <a:round/>
                      <a:headEnd type="none" w="med" len="med"/>
                      <a:tailEnd type="none" w="med" len="med"/>
                    </a:lnT>
                    <a:lnB w="6350" cap="flat" cmpd="sng" algn="ctr">
                      <a:solidFill>
                        <a:srgbClr val="D3DFD8"/>
                      </a:solidFill>
                      <a:prstDash val="solid"/>
                      <a:round/>
                      <a:headEnd type="none" w="med" len="med"/>
                      <a:tailEnd type="none" w="med" len="med"/>
                    </a:lnB>
                    <a:solidFill>
                      <a:schemeClr val="tx2"/>
                    </a:solidFill>
                  </a:tcPr>
                </a:tc>
              </a:tr>
              <a:tr h="512064">
                <a:tc>
                  <a:txBody>
                    <a:bodyPr/>
                    <a:lstStyle/>
                    <a:p>
                      <a:pPr algn="l" indent="0" marL="0">
                        <a:buNone/>
                      </a:pPr>
                      <a:r>
                        <a:rPr lang="en-US" sz="1350" b="1" dirty="0">
                          <a:solidFill>
                            <a:srgbClr val="000000"/>
                          </a:solidFill>
                        </a:rPr>
                        <a:t>EfficientNet-B0 (ours)</a:t>
                      </a:r>
                      <a:endParaRPr lang="en-US" sz="1350" dirty="0"/>
                    </a:p>
                  </a:txBody>
                  <a:tcPr marL="91440" marR="91440" marT="45720" marB="45720" anchor="ctr">
                    <a:lnL w="6350" cap="flat" cmpd="sng" algn="ctr">
                      <a:solidFill>
                        <a:srgbClr val="D3DFD8"/>
                      </a:solidFill>
                      <a:prstDash val="solid"/>
                      <a:round/>
                      <a:headEnd type="none" w="med" len="med"/>
                      <a:tailEnd type="none" w="med" len="med"/>
                    </a:lnL>
                    <a:lnR w="6350" cap="flat" cmpd="sng" algn="ctr">
                      <a:solidFill>
                        <a:srgbClr val="D3DFD8"/>
                      </a:solidFill>
                      <a:prstDash val="solid"/>
                      <a:round/>
                      <a:headEnd type="none" w="med" len="med"/>
                      <a:tailEnd type="none" w="med" len="med"/>
                    </a:lnR>
                    <a:lnT w="6350" cap="flat" cmpd="sng" algn="ctr">
                      <a:solidFill>
                        <a:srgbClr val="D3DFD8"/>
                      </a:solidFill>
                      <a:prstDash val="solid"/>
                      <a:round/>
                      <a:headEnd type="none" w="med" len="med"/>
                      <a:tailEnd type="none" w="med" len="med"/>
                    </a:lnT>
                    <a:lnB w="6350" cap="flat" cmpd="sng" algn="ctr">
                      <a:solidFill>
                        <a:srgbClr val="D3DFD8"/>
                      </a:solidFill>
                      <a:prstDash val="solid"/>
                      <a:round/>
                      <a:headEnd type="none" w="med" len="med"/>
                      <a:tailEnd type="none" w="med" len="med"/>
                    </a:lnB>
                    <a:solidFill>
                      <a:srgbClr val="DCEFE4"/>
                    </a:solidFill>
                  </a:tcPr>
                </a:tc>
                <a:tc>
                  <a:txBody>
                    <a:bodyPr/>
                    <a:lstStyle/>
                    <a:p>
                      <a:pPr algn="l" indent="0" marL="0">
                        <a:buNone/>
                      </a:pPr>
                      <a:r>
                        <a:rPr lang="en-US" sz="1350" b="1" dirty="0">
                          <a:solidFill>
                            <a:srgbClr val="000000"/>
                          </a:solidFill>
                        </a:rPr>
                        <a:t>Compound scaling</a:t>
                      </a:r>
                      <a:endParaRPr lang="en-US" sz="1350" dirty="0"/>
                    </a:p>
                  </a:txBody>
                  <a:tcPr marL="91440" marR="91440" marT="45720" marB="45720" anchor="ctr">
                    <a:lnL w="6350" cap="flat" cmpd="sng" algn="ctr">
                      <a:solidFill>
                        <a:srgbClr val="D3DFD8"/>
                      </a:solidFill>
                      <a:prstDash val="solid"/>
                      <a:round/>
                      <a:headEnd type="none" w="med" len="med"/>
                      <a:tailEnd type="none" w="med" len="med"/>
                    </a:lnL>
                    <a:lnR w="6350" cap="flat" cmpd="sng" algn="ctr">
                      <a:solidFill>
                        <a:srgbClr val="D3DFD8"/>
                      </a:solidFill>
                      <a:prstDash val="solid"/>
                      <a:round/>
                      <a:headEnd type="none" w="med" len="med"/>
                      <a:tailEnd type="none" w="med" len="med"/>
                    </a:lnR>
                    <a:lnT w="6350" cap="flat" cmpd="sng" algn="ctr">
                      <a:solidFill>
                        <a:srgbClr val="D3DFD8"/>
                      </a:solidFill>
                      <a:prstDash val="solid"/>
                      <a:round/>
                      <a:headEnd type="none" w="med" len="med"/>
                      <a:tailEnd type="none" w="med" len="med"/>
                    </a:lnT>
                    <a:lnB w="6350" cap="flat" cmpd="sng" algn="ctr">
                      <a:solidFill>
                        <a:srgbClr val="D3DFD8"/>
                      </a:solidFill>
                      <a:prstDash val="solid"/>
                      <a:round/>
                      <a:headEnd type="none" w="med" len="med"/>
                      <a:tailEnd type="none" w="med" len="med"/>
                    </a:lnB>
                    <a:solidFill>
                      <a:srgbClr val="DCEFE4"/>
                    </a:solidFill>
                  </a:tcPr>
                </a:tc>
                <a:tc>
                  <a:txBody>
                    <a:bodyPr/>
                    <a:lstStyle/>
                    <a:p>
                      <a:pPr algn="r" indent="0" marL="0">
                        <a:buNone/>
                      </a:pPr>
                      <a:r>
                        <a:rPr lang="en-US" sz="1350" b="1" dirty="0">
                          <a:solidFill>
                            <a:srgbClr val="000000"/>
                          </a:solidFill>
                        </a:rPr>
                        <a:t>4.03</a:t>
                      </a:r>
                      <a:endParaRPr lang="en-US" sz="1350" dirty="0"/>
                    </a:p>
                  </a:txBody>
                  <a:tcPr marL="91440" marR="91440" marT="45720" marB="45720" anchor="ctr">
                    <a:lnL w="6350" cap="flat" cmpd="sng" algn="ctr">
                      <a:solidFill>
                        <a:srgbClr val="D3DFD8"/>
                      </a:solidFill>
                      <a:prstDash val="solid"/>
                      <a:round/>
                      <a:headEnd type="none" w="med" len="med"/>
                      <a:tailEnd type="none" w="med" len="med"/>
                    </a:lnL>
                    <a:lnR w="6350" cap="flat" cmpd="sng" algn="ctr">
                      <a:solidFill>
                        <a:srgbClr val="D3DFD8"/>
                      </a:solidFill>
                      <a:prstDash val="solid"/>
                      <a:round/>
                      <a:headEnd type="none" w="med" len="med"/>
                      <a:tailEnd type="none" w="med" len="med"/>
                    </a:lnR>
                    <a:lnT w="6350" cap="flat" cmpd="sng" algn="ctr">
                      <a:solidFill>
                        <a:srgbClr val="D3DFD8"/>
                      </a:solidFill>
                      <a:prstDash val="solid"/>
                      <a:round/>
                      <a:headEnd type="none" w="med" len="med"/>
                      <a:tailEnd type="none" w="med" len="med"/>
                    </a:lnT>
                    <a:lnB w="6350" cap="flat" cmpd="sng" algn="ctr">
                      <a:solidFill>
                        <a:srgbClr val="D3DFD8"/>
                      </a:solidFill>
                      <a:prstDash val="solid"/>
                      <a:round/>
                      <a:headEnd type="none" w="med" len="med"/>
                      <a:tailEnd type="none" w="med" len="med"/>
                    </a:lnB>
                    <a:solidFill>
                      <a:srgbClr val="DCEFE4"/>
                    </a:solidFill>
                  </a:tcPr>
                </a:tc>
                <a:tc>
                  <a:txBody>
                    <a:bodyPr/>
                    <a:lstStyle/>
                    <a:p>
                      <a:pPr algn="r" indent="0" marL="0">
                        <a:buNone/>
                      </a:pPr>
                      <a:r>
                        <a:rPr lang="en-US" sz="1350" b="1" dirty="0">
                          <a:solidFill>
                            <a:srgbClr val="000000"/>
                          </a:solidFill>
                        </a:rPr>
                        <a:t>0.38</a:t>
                      </a:r>
                      <a:endParaRPr lang="en-US" sz="1350" dirty="0"/>
                    </a:p>
                  </a:txBody>
                  <a:tcPr marL="91440" marR="91440" marT="45720" marB="45720" anchor="ctr">
                    <a:lnL w="6350" cap="flat" cmpd="sng" algn="ctr">
                      <a:solidFill>
                        <a:srgbClr val="D3DFD8"/>
                      </a:solidFill>
                      <a:prstDash val="solid"/>
                      <a:round/>
                      <a:headEnd type="none" w="med" len="med"/>
                      <a:tailEnd type="none" w="med" len="med"/>
                    </a:lnL>
                    <a:lnR w="6350" cap="flat" cmpd="sng" algn="ctr">
                      <a:solidFill>
                        <a:srgbClr val="D3DFD8"/>
                      </a:solidFill>
                      <a:prstDash val="solid"/>
                      <a:round/>
                      <a:headEnd type="none" w="med" len="med"/>
                      <a:tailEnd type="none" w="med" len="med"/>
                    </a:lnR>
                    <a:lnT w="6350" cap="flat" cmpd="sng" algn="ctr">
                      <a:solidFill>
                        <a:srgbClr val="D3DFD8"/>
                      </a:solidFill>
                      <a:prstDash val="solid"/>
                      <a:round/>
                      <a:headEnd type="none" w="med" len="med"/>
                      <a:tailEnd type="none" w="med" len="med"/>
                    </a:lnT>
                    <a:lnB w="6350" cap="flat" cmpd="sng" algn="ctr">
                      <a:solidFill>
                        <a:srgbClr val="D3DFD8"/>
                      </a:solidFill>
                      <a:prstDash val="solid"/>
                      <a:round/>
                      <a:headEnd type="none" w="med" len="med"/>
                      <a:tailEnd type="none" w="med" len="med"/>
                    </a:lnB>
                    <a:solidFill>
                      <a:srgbClr val="DCEFE4"/>
                    </a:solidFill>
                  </a:tcPr>
                </a:tc>
                <a:tc>
                  <a:txBody>
                    <a:bodyPr/>
                    <a:lstStyle/>
                    <a:p>
                      <a:pPr algn="r" indent="0" marL="0">
                        <a:buNone/>
                      </a:pPr>
                      <a:r>
                        <a:rPr lang="en-US" sz="1350" b="1" dirty="0">
                          <a:solidFill>
                            <a:srgbClr val="000000"/>
                          </a:solidFill>
                        </a:rPr>
                        <a:t>4.6</a:t>
                      </a:r>
                      <a:endParaRPr lang="en-US" sz="1350" dirty="0"/>
                    </a:p>
                  </a:txBody>
                  <a:tcPr marL="91440" marR="91440" marT="45720" marB="45720" anchor="ctr">
                    <a:lnL w="6350" cap="flat" cmpd="sng" algn="ctr">
                      <a:solidFill>
                        <a:srgbClr val="D3DFD8"/>
                      </a:solidFill>
                      <a:prstDash val="solid"/>
                      <a:round/>
                      <a:headEnd type="none" w="med" len="med"/>
                      <a:tailEnd type="none" w="med" len="med"/>
                    </a:lnL>
                    <a:lnR w="6350" cap="flat" cmpd="sng" algn="ctr">
                      <a:solidFill>
                        <a:srgbClr val="D3DFD8"/>
                      </a:solidFill>
                      <a:prstDash val="solid"/>
                      <a:round/>
                      <a:headEnd type="none" w="med" len="med"/>
                      <a:tailEnd type="none" w="med" len="med"/>
                    </a:lnR>
                    <a:lnT w="6350" cap="flat" cmpd="sng" algn="ctr">
                      <a:solidFill>
                        <a:srgbClr val="D3DFD8"/>
                      </a:solidFill>
                      <a:prstDash val="solid"/>
                      <a:round/>
                      <a:headEnd type="none" w="med" len="med"/>
                      <a:tailEnd type="none" w="med" len="med"/>
                    </a:lnT>
                    <a:lnB w="6350" cap="flat" cmpd="sng" algn="ctr">
                      <a:solidFill>
                        <a:srgbClr val="D3DFD8"/>
                      </a:solidFill>
                      <a:prstDash val="solid"/>
                      <a:round/>
                      <a:headEnd type="none" w="med" len="med"/>
                      <a:tailEnd type="none" w="med" len="med"/>
                    </a:lnB>
                    <a:solidFill>
                      <a:srgbClr val="DCEFE4"/>
                    </a:solidFill>
                  </a:tcPr>
                </a:tc>
                <a:tc>
                  <a:txBody>
                    <a:bodyPr/>
                    <a:lstStyle/>
                    <a:p>
                      <a:pPr algn="l" indent="0" marL="0">
                        <a:buNone/>
                      </a:pPr>
                      <a:r>
                        <a:rPr lang="en-US" sz="1350" b="1" dirty="0">
                          <a:solidFill>
                            <a:srgbClr val="000000"/>
                          </a:solidFill>
                        </a:rPr>
                        <a:t>Trained, 98.13%</a:t>
                      </a:r>
                      <a:endParaRPr lang="en-US" sz="1350" dirty="0"/>
                    </a:p>
                  </a:txBody>
                  <a:tcPr marL="91440" marR="91440" marT="45720" marB="45720" anchor="ctr">
                    <a:lnL w="6350" cap="flat" cmpd="sng" algn="ctr">
                      <a:solidFill>
                        <a:srgbClr val="D3DFD8"/>
                      </a:solidFill>
                      <a:prstDash val="solid"/>
                      <a:round/>
                      <a:headEnd type="none" w="med" len="med"/>
                      <a:tailEnd type="none" w="med" len="med"/>
                    </a:lnL>
                    <a:lnR w="6350" cap="flat" cmpd="sng" algn="ctr">
                      <a:solidFill>
                        <a:srgbClr val="D3DFD8"/>
                      </a:solidFill>
                      <a:prstDash val="solid"/>
                      <a:round/>
                      <a:headEnd type="none" w="med" len="med"/>
                      <a:tailEnd type="none" w="med" len="med"/>
                    </a:lnR>
                    <a:lnT w="6350" cap="flat" cmpd="sng" algn="ctr">
                      <a:solidFill>
                        <a:srgbClr val="D3DFD8"/>
                      </a:solidFill>
                      <a:prstDash val="solid"/>
                      <a:round/>
                      <a:headEnd type="none" w="med" len="med"/>
                      <a:tailEnd type="none" w="med" len="med"/>
                    </a:lnT>
                    <a:lnB w="6350" cap="flat" cmpd="sng" algn="ctr">
                      <a:solidFill>
                        <a:srgbClr val="D3DFD8"/>
                      </a:solidFill>
                      <a:prstDash val="solid"/>
                      <a:round/>
                      <a:headEnd type="none" w="med" len="med"/>
                      <a:tailEnd type="none" w="med" len="med"/>
                    </a:lnB>
                    <a:solidFill>
                      <a:srgbClr val="DCEFE4"/>
                    </a:solidFill>
                  </a:tcPr>
                </a:tc>
              </a:tr>
              <a:tr h="512064">
                <a:tc>
                  <a:txBody>
                    <a:bodyPr/>
                    <a:lstStyle/>
                    <a:p>
                      <a:pPr algn="l" indent="0" marL="0">
                        <a:buNone/>
                      </a:pPr>
                      <a:r>
                        <a:rPr lang="en-US" sz="1350" dirty="0">
                          <a:solidFill>
                            <a:srgbClr val="000000"/>
                          </a:solidFill>
                        </a:rPr>
                        <a:t>MobileNetV3-Large</a:t>
                      </a:r>
                      <a:endParaRPr lang="en-US" sz="1350" dirty="0"/>
                    </a:p>
                  </a:txBody>
                  <a:tcPr marL="91440" marR="91440" marT="45720" marB="45720" anchor="ctr">
                    <a:lnL w="6350" cap="flat" cmpd="sng" algn="ctr">
                      <a:solidFill>
                        <a:srgbClr val="D3DFD8"/>
                      </a:solidFill>
                      <a:prstDash val="solid"/>
                      <a:round/>
                      <a:headEnd type="none" w="med" len="med"/>
                      <a:tailEnd type="none" w="med" len="med"/>
                    </a:lnL>
                    <a:lnR w="6350" cap="flat" cmpd="sng" algn="ctr">
                      <a:solidFill>
                        <a:srgbClr val="D3DFD8"/>
                      </a:solidFill>
                      <a:prstDash val="solid"/>
                      <a:round/>
                      <a:headEnd type="none" w="med" len="med"/>
                      <a:tailEnd type="none" w="med" len="med"/>
                    </a:lnR>
                    <a:lnT w="6350" cap="flat" cmpd="sng" algn="ctr">
                      <a:solidFill>
                        <a:srgbClr val="D3DFD8"/>
                      </a:solidFill>
                      <a:prstDash val="solid"/>
                      <a:round/>
                      <a:headEnd type="none" w="med" len="med"/>
                      <a:tailEnd type="none" w="med" len="med"/>
                    </a:lnT>
                    <a:lnB w="6350" cap="flat" cmpd="sng" algn="ctr">
                      <a:solidFill>
                        <a:srgbClr val="D3DFD8"/>
                      </a:solidFill>
                      <a:prstDash val="solid"/>
                      <a:round/>
                      <a:headEnd type="none" w="med" len="med"/>
                      <a:tailEnd type="none" w="med" len="med"/>
                    </a:lnB>
                    <a:solidFill>
                      <a:srgbClr val="F1F6F3"/>
                    </a:solidFill>
                  </a:tcPr>
                </a:tc>
                <a:tc>
                  <a:txBody>
                    <a:bodyPr/>
                    <a:lstStyle/>
                    <a:p>
                      <a:pPr algn="l" indent="0" marL="0">
                        <a:buNone/>
                      </a:pPr>
                      <a:r>
                        <a:rPr lang="en-US" sz="1350" dirty="0">
                          <a:solidFill>
                            <a:srgbClr val="000000"/>
                          </a:solidFill>
                        </a:rPr>
                        <a:t>Hardware search + hard-swish</a:t>
                      </a:r>
                      <a:endParaRPr lang="en-US" sz="1350" dirty="0"/>
                    </a:p>
                  </a:txBody>
                  <a:tcPr marL="91440" marR="91440" marT="45720" marB="45720" anchor="ctr">
                    <a:lnL w="6350" cap="flat" cmpd="sng" algn="ctr">
                      <a:solidFill>
                        <a:srgbClr val="D3DFD8"/>
                      </a:solidFill>
                      <a:prstDash val="solid"/>
                      <a:round/>
                      <a:headEnd type="none" w="med" len="med"/>
                      <a:tailEnd type="none" w="med" len="med"/>
                    </a:lnL>
                    <a:lnR w="6350" cap="flat" cmpd="sng" algn="ctr">
                      <a:solidFill>
                        <a:srgbClr val="D3DFD8"/>
                      </a:solidFill>
                      <a:prstDash val="solid"/>
                      <a:round/>
                      <a:headEnd type="none" w="med" len="med"/>
                      <a:tailEnd type="none" w="med" len="med"/>
                    </a:lnR>
                    <a:lnT w="6350" cap="flat" cmpd="sng" algn="ctr">
                      <a:solidFill>
                        <a:srgbClr val="D3DFD8"/>
                      </a:solidFill>
                      <a:prstDash val="solid"/>
                      <a:round/>
                      <a:headEnd type="none" w="med" len="med"/>
                      <a:tailEnd type="none" w="med" len="med"/>
                    </a:lnT>
                    <a:lnB w="6350" cap="flat" cmpd="sng" algn="ctr">
                      <a:solidFill>
                        <a:srgbClr val="D3DFD8"/>
                      </a:solidFill>
                      <a:prstDash val="solid"/>
                      <a:round/>
                      <a:headEnd type="none" w="med" len="med"/>
                      <a:tailEnd type="none" w="med" len="med"/>
                    </a:lnB>
                    <a:solidFill>
                      <a:srgbClr val="F1F6F3"/>
                    </a:solidFill>
                  </a:tcPr>
                </a:tc>
                <a:tc>
                  <a:txBody>
                    <a:bodyPr/>
                    <a:lstStyle/>
                    <a:p>
                      <a:pPr algn="r" indent="0" marL="0">
                        <a:buNone/>
                      </a:pPr>
                      <a:r>
                        <a:rPr lang="en-US" sz="1350" dirty="0">
                          <a:solidFill>
                            <a:srgbClr val="000000"/>
                          </a:solidFill>
                        </a:rPr>
                        <a:t>3.97</a:t>
                      </a:r>
                      <a:endParaRPr lang="en-US" sz="1350" dirty="0"/>
                    </a:p>
                  </a:txBody>
                  <a:tcPr marL="91440" marR="91440" marT="45720" marB="45720" anchor="ctr">
                    <a:lnL w="6350" cap="flat" cmpd="sng" algn="ctr">
                      <a:solidFill>
                        <a:srgbClr val="D3DFD8"/>
                      </a:solidFill>
                      <a:prstDash val="solid"/>
                      <a:round/>
                      <a:headEnd type="none" w="med" len="med"/>
                      <a:tailEnd type="none" w="med" len="med"/>
                    </a:lnL>
                    <a:lnR w="6350" cap="flat" cmpd="sng" algn="ctr">
                      <a:solidFill>
                        <a:srgbClr val="D3DFD8"/>
                      </a:solidFill>
                      <a:prstDash val="solid"/>
                      <a:round/>
                      <a:headEnd type="none" w="med" len="med"/>
                      <a:tailEnd type="none" w="med" len="med"/>
                    </a:lnR>
                    <a:lnT w="6350" cap="flat" cmpd="sng" algn="ctr">
                      <a:solidFill>
                        <a:srgbClr val="D3DFD8"/>
                      </a:solidFill>
                      <a:prstDash val="solid"/>
                      <a:round/>
                      <a:headEnd type="none" w="med" len="med"/>
                      <a:tailEnd type="none" w="med" len="med"/>
                    </a:lnT>
                    <a:lnB w="6350" cap="flat" cmpd="sng" algn="ctr">
                      <a:solidFill>
                        <a:srgbClr val="D3DFD8"/>
                      </a:solidFill>
                      <a:prstDash val="solid"/>
                      <a:round/>
                      <a:headEnd type="none" w="med" len="med"/>
                      <a:tailEnd type="none" w="med" len="med"/>
                    </a:lnB>
                    <a:solidFill>
                      <a:srgbClr val="F1F6F3"/>
                    </a:solidFill>
                  </a:tcPr>
                </a:tc>
                <a:tc>
                  <a:txBody>
                    <a:bodyPr/>
                    <a:lstStyle/>
                    <a:p>
                      <a:pPr algn="r" indent="0" marL="0">
                        <a:buNone/>
                      </a:pPr>
                      <a:r>
                        <a:rPr lang="en-US" sz="1350" dirty="0">
                          <a:solidFill>
                            <a:srgbClr val="000000"/>
                          </a:solidFill>
                        </a:rPr>
                        <a:t>0.22</a:t>
                      </a:r>
                      <a:endParaRPr lang="en-US" sz="1350" dirty="0"/>
                    </a:p>
                  </a:txBody>
                  <a:tcPr marL="91440" marR="91440" marT="45720" marB="45720" anchor="ctr">
                    <a:lnL w="6350" cap="flat" cmpd="sng" algn="ctr">
                      <a:solidFill>
                        <a:srgbClr val="D3DFD8"/>
                      </a:solidFill>
                      <a:prstDash val="solid"/>
                      <a:round/>
                      <a:headEnd type="none" w="med" len="med"/>
                      <a:tailEnd type="none" w="med" len="med"/>
                    </a:lnL>
                    <a:lnR w="6350" cap="flat" cmpd="sng" algn="ctr">
                      <a:solidFill>
                        <a:srgbClr val="D3DFD8"/>
                      </a:solidFill>
                      <a:prstDash val="solid"/>
                      <a:round/>
                      <a:headEnd type="none" w="med" len="med"/>
                      <a:tailEnd type="none" w="med" len="med"/>
                    </a:lnR>
                    <a:lnT w="6350" cap="flat" cmpd="sng" algn="ctr">
                      <a:solidFill>
                        <a:srgbClr val="D3DFD8"/>
                      </a:solidFill>
                      <a:prstDash val="solid"/>
                      <a:round/>
                      <a:headEnd type="none" w="med" len="med"/>
                      <a:tailEnd type="none" w="med" len="med"/>
                    </a:lnT>
                    <a:lnB w="6350" cap="flat" cmpd="sng" algn="ctr">
                      <a:solidFill>
                        <a:srgbClr val="D3DFD8"/>
                      </a:solidFill>
                      <a:prstDash val="solid"/>
                      <a:round/>
                      <a:headEnd type="none" w="med" len="med"/>
                      <a:tailEnd type="none" w="med" len="med"/>
                    </a:lnB>
                    <a:solidFill>
                      <a:srgbClr val="F1F6F3"/>
                    </a:solidFill>
                  </a:tcPr>
                </a:tc>
                <a:tc>
                  <a:txBody>
                    <a:bodyPr/>
                    <a:lstStyle/>
                    <a:p>
                      <a:pPr algn="r" indent="0" marL="0">
                        <a:buNone/>
                      </a:pPr>
                      <a:r>
                        <a:rPr lang="en-US" sz="1350" dirty="0">
                          <a:solidFill>
                            <a:srgbClr val="000000"/>
                          </a:solidFill>
                        </a:rPr>
                        <a:t>3.6</a:t>
                      </a:r>
                      <a:endParaRPr lang="en-US" sz="1350" dirty="0"/>
                    </a:p>
                  </a:txBody>
                  <a:tcPr marL="91440" marR="91440" marT="45720" marB="45720" anchor="ctr">
                    <a:lnL w="6350" cap="flat" cmpd="sng" algn="ctr">
                      <a:solidFill>
                        <a:srgbClr val="D3DFD8"/>
                      </a:solidFill>
                      <a:prstDash val="solid"/>
                      <a:round/>
                      <a:headEnd type="none" w="med" len="med"/>
                      <a:tailEnd type="none" w="med" len="med"/>
                    </a:lnL>
                    <a:lnR w="6350" cap="flat" cmpd="sng" algn="ctr">
                      <a:solidFill>
                        <a:srgbClr val="D3DFD8"/>
                      </a:solidFill>
                      <a:prstDash val="solid"/>
                      <a:round/>
                      <a:headEnd type="none" w="med" len="med"/>
                      <a:tailEnd type="none" w="med" len="med"/>
                    </a:lnR>
                    <a:lnT w="6350" cap="flat" cmpd="sng" algn="ctr">
                      <a:solidFill>
                        <a:srgbClr val="D3DFD8"/>
                      </a:solidFill>
                      <a:prstDash val="solid"/>
                      <a:round/>
                      <a:headEnd type="none" w="med" len="med"/>
                      <a:tailEnd type="none" w="med" len="med"/>
                    </a:lnT>
                    <a:lnB w="6350" cap="flat" cmpd="sng" algn="ctr">
                      <a:solidFill>
                        <a:srgbClr val="D3DFD8"/>
                      </a:solidFill>
                      <a:prstDash val="solid"/>
                      <a:round/>
                      <a:headEnd type="none" w="med" len="med"/>
                      <a:tailEnd type="none" w="med" len="med"/>
                    </a:lnB>
                    <a:solidFill>
                      <a:srgbClr val="F1F6F3"/>
                    </a:solidFill>
                  </a:tcPr>
                </a:tc>
                <a:tc>
                  <a:txBody>
                    <a:bodyPr/>
                    <a:lstStyle/>
                    <a:p>
                      <a:pPr algn="l" indent="0" marL="0">
                        <a:buNone/>
                      </a:pPr>
                      <a:r>
                        <a:rPr lang="en-US" sz="1350" dirty="0">
                          <a:solidFill>
                            <a:srgbClr val="000000"/>
                          </a:solidFill>
                        </a:rPr>
                        <a:t>Not trained</a:t>
                      </a:r>
                      <a:endParaRPr lang="en-US" sz="1350" dirty="0"/>
                    </a:p>
                  </a:txBody>
                  <a:tcPr marL="91440" marR="91440" marT="45720" marB="45720" anchor="ctr">
                    <a:lnL w="6350" cap="flat" cmpd="sng" algn="ctr">
                      <a:solidFill>
                        <a:srgbClr val="D3DFD8"/>
                      </a:solidFill>
                      <a:prstDash val="solid"/>
                      <a:round/>
                      <a:headEnd type="none" w="med" len="med"/>
                      <a:tailEnd type="none" w="med" len="med"/>
                    </a:lnL>
                    <a:lnR w="6350" cap="flat" cmpd="sng" algn="ctr">
                      <a:solidFill>
                        <a:srgbClr val="D3DFD8"/>
                      </a:solidFill>
                      <a:prstDash val="solid"/>
                      <a:round/>
                      <a:headEnd type="none" w="med" len="med"/>
                      <a:tailEnd type="none" w="med" len="med"/>
                    </a:lnR>
                    <a:lnT w="6350" cap="flat" cmpd="sng" algn="ctr">
                      <a:solidFill>
                        <a:srgbClr val="D3DFD8"/>
                      </a:solidFill>
                      <a:prstDash val="solid"/>
                      <a:round/>
                      <a:headEnd type="none" w="med" len="med"/>
                      <a:tailEnd type="none" w="med" len="med"/>
                    </a:lnT>
                    <a:lnB w="6350" cap="flat" cmpd="sng" algn="ctr">
                      <a:solidFill>
                        <a:srgbClr val="D3DFD8"/>
                      </a:solidFill>
                      <a:prstDash val="solid"/>
                      <a:round/>
                      <a:headEnd type="none" w="med" len="med"/>
                      <a:tailEnd type="none" w="med" len="med"/>
                    </a:lnB>
                    <a:solidFill>
                      <a:srgbClr val="F1F6F3"/>
                    </a:solidFill>
                  </a:tcPr>
                </a:tc>
              </a:tr>
              <a:tr h="512064">
                <a:tc>
                  <a:txBody>
                    <a:bodyPr/>
                    <a:lstStyle/>
                    <a:p>
                      <a:pPr algn="l" indent="0" marL="0">
                        <a:buNone/>
                      </a:pPr>
                      <a:r>
                        <a:rPr lang="en-US" sz="1350" dirty="0">
                          <a:solidFill>
                            <a:srgbClr val="000000"/>
                          </a:solidFill>
                        </a:rPr>
                        <a:t>ResNet-50</a:t>
                      </a:r>
                      <a:endParaRPr lang="en-US" sz="1350" dirty="0"/>
                    </a:p>
                  </a:txBody>
                  <a:tcPr marL="91440" marR="91440" marT="45720" marB="45720" anchor="ctr">
                    <a:lnL w="6350" cap="flat" cmpd="sng" algn="ctr">
                      <a:solidFill>
                        <a:srgbClr val="D3DFD8"/>
                      </a:solidFill>
                      <a:prstDash val="solid"/>
                      <a:round/>
                      <a:headEnd type="none" w="med" len="med"/>
                      <a:tailEnd type="none" w="med" len="med"/>
                    </a:lnL>
                    <a:lnR w="6350" cap="flat" cmpd="sng" algn="ctr">
                      <a:solidFill>
                        <a:srgbClr val="D3DFD8"/>
                      </a:solidFill>
                      <a:prstDash val="solid"/>
                      <a:round/>
                      <a:headEnd type="none" w="med" len="med"/>
                      <a:tailEnd type="none" w="med" len="med"/>
                    </a:lnR>
                    <a:lnT w="6350" cap="flat" cmpd="sng" algn="ctr">
                      <a:solidFill>
                        <a:srgbClr val="D3DFD8"/>
                      </a:solidFill>
                      <a:prstDash val="solid"/>
                      <a:round/>
                      <a:headEnd type="none" w="med" len="med"/>
                      <a:tailEnd type="none" w="med" len="med"/>
                    </a:lnT>
                    <a:lnB w="6350" cap="flat" cmpd="sng" algn="ctr">
                      <a:solidFill>
                        <a:srgbClr val="D3DFD8"/>
                      </a:solidFill>
                      <a:prstDash val="solid"/>
                      <a:round/>
                      <a:headEnd type="none" w="med" len="med"/>
                      <a:tailEnd type="none" w="med" len="med"/>
                    </a:lnB>
                    <a:solidFill>
                      <a:srgbClr val="FFFFFF"/>
                    </a:solidFill>
                  </a:tcPr>
                </a:tc>
                <a:tc>
                  <a:txBody>
                    <a:bodyPr/>
                    <a:lstStyle/>
                    <a:p>
                      <a:pPr algn="l" indent="0" marL="0">
                        <a:buNone/>
                      </a:pPr>
                      <a:r>
                        <a:rPr lang="en-US" sz="1350" dirty="0">
                          <a:solidFill>
                            <a:srgbClr val="000000"/>
                          </a:solidFill>
                        </a:rPr>
                        <a:t>Residual skip connections</a:t>
                      </a:r>
                      <a:endParaRPr lang="en-US" sz="1350" dirty="0"/>
                    </a:p>
                  </a:txBody>
                  <a:tcPr marL="91440" marR="91440" marT="45720" marB="45720" anchor="ctr">
                    <a:lnL w="6350" cap="flat" cmpd="sng" algn="ctr">
                      <a:solidFill>
                        <a:srgbClr val="D3DFD8"/>
                      </a:solidFill>
                      <a:prstDash val="solid"/>
                      <a:round/>
                      <a:headEnd type="none" w="med" len="med"/>
                      <a:tailEnd type="none" w="med" len="med"/>
                    </a:lnL>
                    <a:lnR w="6350" cap="flat" cmpd="sng" algn="ctr">
                      <a:solidFill>
                        <a:srgbClr val="D3DFD8"/>
                      </a:solidFill>
                      <a:prstDash val="solid"/>
                      <a:round/>
                      <a:headEnd type="none" w="med" len="med"/>
                      <a:tailEnd type="none" w="med" len="med"/>
                    </a:lnR>
                    <a:lnT w="6350" cap="flat" cmpd="sng" algn="ctr">
                      <a:solidFill>
                        <a:srgbClr val="D3DFD8"/>
                      </a:solidFill>
                      <a:prstDash val="solid"/>
                      <a:round/>
                      <a:headEnd type="none" w="med" len="med"/>
                      <a:tailEnd type="none" w="med" len="med"/>
                    </a:lnT>
                    <a:lnB w="6350" cap="flat" cmpd="sng" algn="ctr">
                      <a:solidFill>
                        <a:srgbClr val="D3DFD8"/>
                      </a:solidFill>
                      <a:prstDash val="solid"/>
                      <a:round/>
                      <a:headEnd type="none" w="med" len="med"/>
                      <a:tailEnd type="none" w="med" len="med"/>
                    </a:lnB>
                    <a:solidFill>
                      <a:srgbClr val="FFFFFF"/>
                    </a:solidFill>
                  </a:tcPr>
                </a:tc>
                <a:tc>
                  <a:txBody>
                    <a:bodyPr/>
                    <a:lstStyle/>
                    <a:p>
                      <a:pPr algn="r" indent="0" marL="0">
                        <a:buNone/>
                      </a:pPr>
                      <a:r>
                        <a:rPr lang="en-US" sz="1350" dirty="0">
                          <a:solidFill>
                            <a:srgbClr val="000000"/>
                          </a:solidFill>
                        </a:rPr>
                        <a:t>23.54</a:t>
                      </a:r>
                      <a:endParaRPr lang="en-US" sz="1350" dirty="0"/>
                    </a:p>
                  </a:txBody>
                  <a:tcPr marL="91440" marR="91440" marT="45720" marB="45720" anchor="ctr">
                    <a:lnL w="6350" cap="flat" cmpd="sng" algn="ctr">
                      <a:solidFill>
                        <a:srgbClr val="D3DFD8"/>
                      </a:solidFill>
                      <a:prstDash val="solid"/>
                      <a:round/>
                      <a:headEnd type="none" w="med" len="med"/>
                      <a:tailEnd type="none" w="med" len="med"/>
                    </a:lnL>
                    <a:lnR w="6350" cap="flat" cmpd="sng" algn="ctr">
                      <a:solidFill>
                        <a:srgbClr val="D3DFD8"/>
                      </a:solidFill>
                      <a:prstDash val="solid"/>
                      <a:round/>
                      <a:headEnd type="none" w="med" len="med"/>
                      <a:tailEnd type="none" w="med" len="med"/>
                    </a:lnR>
                    <a:lnT w="6350" cap="flat" cmpd="sng" algn="ctr">
                      <a:solidFill>
                        <a:srgbClr val="D3DFD8"/>
                      </a:solidFill>
                      <a:prstDash val="solid"/>
                      <a:round/>
                      <a:headEnd type="none" w="med" len="med"/>
                      <a:tailEnd type="none" w="med" len="med"/>
                    </a:lnT>
                    <a:lnB w="6350" cap="flat" cmpd="sng" algn="ctr">
                      <a:solidFill>
                        <a:srgbClr val="D3DFD8"/>
                      </a:solidFill>
                      <a:prstDash val="solid"/>
                      <a:round/>
                      <a:headEnd type="none" w="med" len="med"/>
                      <a:tailEnd type="none" w="med" len="med"/>
                    </a:lnB>
                    <a:solidFill>
                      <a:srgbClr val="FFFFFF"/>
                    </a:solidFill>
                  </a:tcPr>
                </a:tc>
                <a:tc>
                  <a:txBody>
                    <a:bodyPr/>
                    <a:lstStyle/>
                    <a:p>
                      <a:pPr algn="r" indent="0" marL="0">
                        <a:buNone/>
                      </a:pPr>
                      <a:r>
                        <a:rPr lang="en-US" sz="1350" dirty="0">
                          <a:solidFill>
                            <a:srgbClr val="000000"/>
                          </a:solidFill>
                        </a:rPr>
                        <a:t>4.09</a:t>
                      </a:r>
                      <a:endParaRPr lang="en-US" sz="1350" dirty="0"/>
                    </a:p>
                  </a:txBody>
                  <a:tcPr marL="91440" marR="91440" marT="45720" marB="45720" anchor="ctr">
                    <a:lnL w="6350" cap="flat" cmpd="sng" algn="ctr">
                      <a:solidFill>
                        <a:srgbClr val="D3DFD8"/>
                      </a:solidFill>
                      <a:prstDash val="solid"/>
                      <a:round/>
                      <a:headEnd type="none" w="med" len="med"/>
                      <a:tailEnd type="none" w="med" len="med"/>
                    </a:lnL>
                    <a:lnR w="6350" cap="flat" cmpd="sng" algn="ctr">
                      <a:solidFill>
                        <a:srgbClr val="D3DFD8"/>
                      </a:solidFill>
                      <a:prstDash val="solid"/>
                      <a:round/>
                      <a:headEnd type="none" w="med" len="med"/>
                      <a:tailEnd type="none" w="med" len="med"/>
                    </a:lnR>
                    <a:lnT w="6350" cap="flat" cmpd="sng" algn="ctr">
                      <a:solidFill>
                        <a:srgbClr val="D3DFD8"/>
                      </a:solidFill>
                      <a:prstDash val="solid"/>
                      <a:round/>
                      <a:headEnd type="none" w="med" len="med"/>
                      <a:tailEnd type="none" w="med" len="med"/>
                    </a:lnT>
                    <a:lnB w="6350" cap="flat" cmpd="sng" algn="ctr">
                      <a:solidFill>
                        <a:srgbClr val="D3DFD8"/>
                      </a:solidFill>
                      <a:prstDash val="solid"/>
                      <a:round/>
                      <a:headEnd type="none" w="med" len="med"/>
                      <a:tailEnd type="none" w="med" len="med"/>
                    </a:lnB>
                    <a:solidFill>
                      <a:srgbClr val="FFFFFF"/>
                    </a:solidFill>
                  </a:tcPr>
                </a:tc>
                <a:tc>
                  <a:txBody>
                    <a:bodyPr/>
                    <a:lstStyle/>
                    <a:p>
                      <a:pPr algn="r" indent="0" marL="0">
                        <a:buNone/>
                      </a:pPr>
                      <a:r>
                        <a:rPr lang="en-US" sz="1350" dirty="0">
                          <a:solidFill>
                            <a:srgbClr val="000000"/>
                          </a:solidFill>
                        </a:rPr>
                        <a:t>3.6</a:t>
                      </a:r>
                      <a:endParaRPr lang="en-US" sz="1350" dirty="0"/>
                    </a:p>
                  </a:txBody>
                  <a:tcPr marL="91440" marR="91440" marT="45720" marB="45720" anchor="ctr">
                    <a:lnL w="6350" cap="flat" cmpd="sng" algn="ctr">
                      <a:solidFill>
                        <a:srgbClr val="D3DFD8"/>
                      </a:solidFill>
                      <a:prstDash val="solid"/>
                      <a:round/>
                      <a:headEnd type="none" w="med" len="med"/>
                      <a:tailEnd type="none" w="med" len="med"/>
                    </a:lnL>
                    <a:lnR w="6350" cap="flat" cmpd="sng" algn="ctr">
                      <a:solidFill>
                        <a:srgbClr val="D3DFD8"/>
                      </a:solidFill>
                      <a:prstDash val="solid"/>
                      <a:round/>
                      <a:headEnd type="none" w="med" len="med"/>
                      <a:tailEnd type="none" w="med" len="med"/>
                    </a:lnR>
                    <a:lnT w="6350" cap="flat" cmpd="sng" algn="ctr">
                      <a:solidFill>
                        <a:srgbClr val="D3DFD8"/>
                      </a:solidFill>
                      <a:prstDash val="solid"/>
                      <a:round/>
                      <a:headEnd type="none" w="med" len="med"/>
                      <a:tailEnd type="none" w="med" len="med"/>
                    </a:lnT>
                    <a:lnB w="6350" cap="flat" cmpd="sng" algn="ctr">
                      <a:solidFill>
                        <a:srgbClr val="D3DFD8"/>
                      </a:solidFill>
                      <a:prstDash val="solid"/>
                      <a:round/>
                      <a:headEnd type="none" w="med" len="med"/>
                      <a:tailEnd type="none" w="med" len="med"/>
                    </a:lnB>
                    <a:solidFill>
                      <a:srgbClr val="FFFFFF"/>
                    </a:solidFill>
                  </a:tcPr>
                </a:tc>
                <a:tc>
                  <a:txBody>
                    <a:bodyPr/>
                    <a:lstStyle/>
                    <a:p>
                      <a:pPr algn="l" indent="0" marL="0">
                        <a:buNone/>
                      </a:pPr>
                      <a:r>
                        <a:rPr lang="en-US" sz="1350" dirty="0">
                          <a:solidFill>
                            <a:srgbClr val="000000"/>
                          </a:solidFill>
                        </a:rPr>
                        <a:t>Not trained</a:t>
                      </a:r>
                      <a:endParaRPr lang="en-US" sz="1350" dirty="0"/>
                    </a:p>
                  </a:txBody>
                  <a:tcPr marL="91440" marR="91440" marT="45720" marB="45720" anchor="ctr">
                    <a:lnL w="6350" cap="flat" cmpd="sng" algn="ctr">
                      <a:solidFill>
                        <a:srgbClr val="D3DFD8"/>
                      </a:solidFill>
                      <a:prstDash val="solid"/>
                      <a:round/>
                      <a:headEnd type="none" w="med" len="med"/>
                      <a:tailEnd type="none" w="med" len="med"/>
                    </a:lnL>
                    <a:lnR w="6350" cap="flat" cmpd="sng" algn="ctr">
                      <a:solidFill>
                        <a:srgbClr val="D3DFD8"/>
                      </a:solidFill>
                      <a:prstDash val="solid"/>
                      <a:round/>
                      <a:headEnd type="none" w="med" len="med"/>
                      <a:tailEnd type="none" w="med" len="med"/>
                    </a:lnR>
                    <a:lnT w="6350" cap="flat" cmpd="sng" algn="ctr">
                      <a:solidFill>
                        <a:srgbClr val="D3DFD8"/>
                      </a:solidFill>
                      <a:prstDash val="solid"/>
                      <a:round/>
                      <a:headEnd type="none" w="med" len="med"/>
                      <a:tailEnd type="none" w="med" len="med"/>
                    </a:lnT>
                    <a:lnB w="6350" cap="flat" cmpd="sng" algn="ctr">
                      <a:solidFill>
                        <a:srgbClr val="D3DFD8"/>
                      </a:solidFill>
                      <a:prstDash val="solid"/>
                      <a:round/>
                      <a:headEnd type="none" w="med" len="med"/>
                      <a:tailEnd type="none" w="med" len="med"/>
                    </a:lnB>
                    <a:solidFill>
                      <a:srgbClr val="FFFFFF"/>
                    </a:solidFill>
                  </a:tcPr>
                </a:tc>
              </a:tr>
              <a:tr h="512064">
                <a:tc>
                  <a:txBody>
                    <a:bodyPr/>
                    <a:lstStyle/>
                    <a:p>
                      <a:pPr algn="l" indent="0" marL="0">
                        <a:buNone/>
                      </a:pPr>
                      <a:r>
                        <a:rPr lang="en-US" sz="1350" dirty="0">
                          <a:solidFill>
                            <a:srgbClr val="000000"/>
                          </a:solidFill>
                        </a:rPr>
                        <a:t>DenseNet-121</a:t>
                      </a:r>
                      <a:endParaRPr lang="en-US" sz="1350" dirty="0"/>
                    </a:p>
                  </a:txBody>
                  <a:tcPr marL="91440" marR="91440" marT="45720" marB="45720" anchor="ctr">
                    <a:lnL w="6350" cap="flat" cmpd="sng" algn="ctr">
                      <a:solidFill>
                        <a:srgbClr val="D3DFD8"/>
                      </a:solidFill>
                      <a:prstDash val="solid"/>
                      <a:round/>
                      <a:headEnd type="none" w="med" len="med"/>
                      <a:tailEnd type="none" w="med" len="med"/>
                    </a:lnL>
                    <a:lnR w="6350" cap="flat" cmpd="sng" algn="ctr">
                      <a:solidFill>
                        <a:srgbClr val="D3DFD8"/>
                      </a:solidFill>
                      <a:prstDash val="solid"/>
                      <a:round/>
                      <a:headEnd type="none" w="med" len="med"/>
                      <a:tailEnd type="none" w="med" len="med"/>
                    </a:lnR>
                    <a:lnT w="6350" cap="flat" cmpd="sng" algn="ctr">
                      <a:solidFill>
                        <a:srgbClr val="D3DFD8"/>
                      </a:solidFill>
                      <a:prstDash val="solid"/>
                      <a:round/>
                      <a:headEnd type="none" w="med" len="med"/>
                      <a:tailEnd type="none" w="med" len="med"/>
                    </a:lnT>
                    <a:lnB w="6350" cap="flat" cmpd="sng" algn="ctr">
                      <a:solidFill>
                        <a:srgbClr val="D3DFD8"/>
                      </a:solidFill>
                      <a:prstDash val="solid"/>
                      <a:round/>
                      <a:headEnd type="none" w="med" len="med"/>
                      <a:tailEnd type="none" w="med" len="med"/>
                    </a:lnB>
                    <a:solidFill>
                      <a:srgbClr val="F1F6F3"/>
                    </a:solidFill>
                  </a:tcPr>
                </a:tc>
                <a:tc>
                  <a:txBody>
                    <a:bodyPr/>
                    <a:lstStyle/>
                    <a:p>
                      <a:pPr algn="l" indent="0" marL="0">
                        <a:buNone/>
                      </a:pPr>
                      <a:r>
                        <a:rPr lang="en-US" sz="1350" dirty="0">
                          <a:solidFill>
                            <a:srgbClr val="000000"/>
                          </a:solidFill>
                        </a:rPr>
                        <a:t>Feature reuse (concatenation)</a:t>
                      </a:r>
                      <a:endParaRPr lang="en-US" sz="1350" dirty="0"/>
                    </a:p>
                  </a:txBody>
                  <a:tcPr marL="91440" marR="91440" marT="45720" marB="45720" anchor="ctr">
                    <a:lnL w="6350" cap="flat" cmpd="sng" algn="ctr">
                      <a:solidFill>
                        <a:srgbClr val="D3DFD8"/>
                      </a:solidFill>
                      <a:prstDash val="solid"/>
                      <a:round/>
                      <a:headEnd type="none" w="med" len="med"/>
                      <a:tailEnd type="none" w="med" len="med"/>
                    </a:lnL>
                    <a:lnR w="6350" cap="flat" cmpd="sng" algn="ctr">
                      <a:solidFill>
                        <a:srgbClr val="D3DFD8"/>
                      </a:solidFill>
                      <a:prstDash val="solid"/>
                      <a:round/>
                      <a:headEnd type="none" w="med" len="med"/>
                      <a:tailEnd type="none" w="med" len="med"/>
                    </a:lnR>
                    <a:lnT w="6350" cap="flat" cmpd="sng" algn="ctr">
                      <a:solidFill>
                        <a:srgbClr val="D3DFD8"/>
                      </a:solidFill>
                      <a:prstDash val="solid"/>
                      <a:round/>
                      <a:headEnd type="none" w="med" len="med"/>
                      <a:tailEnd type="none" w="med" len="med"/>
                    </a:lnT>
                    <a:lnB w="6350" cap="flat" cmpd="sng" algn="ctr">
                      <a:solidFill>
                        <a:srgbClr val="D3DFD8"/>
                      </a:solidFill>
                      <a:prstDash val="solid"/>
                      <a:round/>
                      <a:headEnd type="none" w="med" len="med"/>
                      <a:tailEnd type="none" w="med" len="med"/>
                    </a:lnB>
                    <a:solidFill>
                      <a:srgbClr val="F1F6F3"/>
                    </a:solidFill>
                  </a:tcPr>
                </a:tc>
                <a:tc>
                  <a:txBody>
                    <a:bodyPr/>
                    <a:lstStyle/>
                    <a:p>
                      <a:pPr algn="r" indent="0" marL="0">
                        <a:buNone/>
                      </a:pPr>
                      <a:r>
                        <a:rPr lang="en-US" sz="1350" dirty="0">
                          <a:solidFill>
                            <a:srgbClr val="000000"/>
                          </a:solidFill>
                        </a:rPr>
                        <a:t>6.97</a:t>
                      </a:r>
                      <a:endParaRPr lang="en-US" sz="1350" dirty="0"/>
                    </a:p>
                  </a:txBody>
                  <a:tcPr marL="91440" marR="91440" marT="45720" marB="45720" anchor="ctr">
                    <a:lnL w="6350" cap="flat" cmpd="sng" algn="ctr">
                      <a:solidFill>
                        <a:srgbClr val="D3DFD8"/>
                      </a:solidFill>
                      <a:prstDash val="solid"/>
                      <a:round/>
                      <a:headEnd type="none" w="med" len="med"/>
                      <a:tailEnd type="none" w="med" len="med"/>
                    </a:lnL>
                    <a:lnR w="6350" cap="flat" cmpd="sng" algn="ctr">
                      <a:solidFill>
                        <a:srgbClr val="D3DFD8"/>
                      </a:solidFill>
                      <a:prstDash val="solid"/>
                      <a:round/>
                      <a:headEnd type="none" w="med" len="med"/>
                      <a:tailEnd type="none" w="med" len="med"/>
                    </a:lnR>
                    <a:lnT w="6350" cap="flat" cmpd="sng" algn="ctr">
                      <a:solidFill>
                        <a:srgbClr val="D3DFD8"/>
                      </a:solidFill>
                      <a:prstDash val="solid"/>
                      <a:round/>
                      <a:headEnd type="none" w="med" len="med"/>
                      <a:tailEnd type="none" w="med" len="med"/>
                    </a:lnT>
                    <a:lnB w="6350" cap="flat" cmpd="sng" algn="ctr">
                      <a:solidFill>
                        <a:srgbClr val="D3DFD8"/>
                      </a:solidFill>
                      <a:prstDash val="solid"/>
                      <a:round/>
                      <a:headEnd type="none" w="med" len="med"/>
                      <a:tailEnd type="none" w="med" len="med"/>
                    </a:lnB>
                    <a:solidFill>
                      <a:srgbClr val="F1F6F3"/>
                    </a:solidFill>
                  </a:tcPr>
                </a:tc>
                <a:tc>
                  <a:txBody>
                    <a:bodyPr/>
                    <a:lstStyle/>
                    <a:p>
                      <a:pPr algn="r" indent="0" marL="0">
                        <a:buNone/>
                      </a:pPr>
                      <a:r>
                        <a:rPr lang="en-US" sz="1350" dirty="0">
                          <a:solidFill>
                            <a:srgbClr val="000000"/>
                          </a:solidFill>
                        </a:rPr>
                        <a:t>2.83</a:t>
                      </a:r>
                      <a:endParaRPr lang="en-US" sz="1350" dirty="0"/>
                    </a:p>
                  </a:txBody>
                  <a:tcPr marL="91440" marR="91440" marT="45720" marB="45720" anchor="ctr">
                    <a:lnL w="6350" cap="flat" cmpd="sng" algn="ctr">
                      <a:solidFill>
                        <a:srgbClr val="D3DFD8"/>
                      </a:solidFill>
                      <a:prstDash val="solid"/>
                      <a:round/>
                      <a:headEnd type="none" w="med" len="med"/>
                      <a:tailEnd type="none" w="med" len="med"/>
                    </a:lnL>
                    <a:lnR w="6350" cap="flat" cmpd="sng" algn="ctr">
                      <a:solidFill>
                        <a:srgbClr val="D3DFD8"/>
                      </a:solidFill>
                      <a:prstDash val="solid"/>
                      <a:round/>
                      <a:headEnd type="none" w="med" len="med"/>
                      <a:tailEnd type="none" w="med" len="med"/>
                    </a:lnR>
                    <a:lnT w="6350" cap="flat" cmpd="sng" algn="ctr">
                      <a:solidFill>
                        <a:srgbClr val="D3DFD8"/>
                      </a:solidFill>
                      <a:prstDash val="solid"/>
                      <a:round/>
                      <a:headEnd type="none" w="med" len="med"/>
                      <a:tailEnd type="none" w="med" len="med"/>
                    </a:lnT>
                    <a:lnB w="6350" cap="flat" cmpd="sng" algn="ctr">
                      <a:solidFill>
                        <a:srgbClr val="D3DFD8"/>
                      </a:solidFill>
                      <a:prstDash val="solid"/>
                      <a:round/>
                      <a:headEnd type="none" w="med" len="med"/>
                      <a:tailEnd type="none" w="med" len="med"/>
                    </a:lnB>
                    <a:solidFill>
                      <a:srgbClr val="F1F6F3"/>
                    </a:solidFill>
                  </a:tcPr>
                </a:tc>
                <a:tc>
                  <a:txBody>
                    <a:bodyPr/>
                    <a:lstStyle/>
                    <a:p>
                      <a:pPr algn="r" indent="0" marL="0">
                        <a:buNone/>
                      </a:pPr>
                      <a:r>
                        <a:rPr lang="en-US" sz="1350" dirty="0">
                          <a:solidFill>
                            <a:srgbClr val="000000"/>
                          </a:solidFill>
                        </a:rPr>
                        <a:t>8.3</a:t>
                      </a:r>
                      <a:endParaRPr lang="en-US" sz="1350" dirty="0"/>
                    </a:p>
                  </a:txBody>
                  <a:tcPr marL="91440" marR="91440" marT="45720" marB="45720" anchor="ctr">
                    <a:lnL w="6350" cap="flat" cmpd="sng" algn="ctr">
                      <a:solidFill>
                        <a:srgbClr val="D3DFD8"/>
                      </a:solidFill>
                      <a:prstDash val="solid"/>
                      <a:round/>
                      <a:headEnd type="none" w="med" len="med"/>
                      <a:tailEnd type="none" w="med" len="med"/>
                    </a:lnL>
                    <a:lnR w="6350" cap="flat" cmpd="sng" algn="ctr">
                      <a:solidFill>
                        <a:srgbClr val="D3DFD8"/>
                      </a:solidFill>
                      <a:prstDash val="solid"/>
                      <a:round/>
                      <a:headEnd type="none" w="med" len="med"/>
                      <a:tailEnd type="none" w="med" len="med"/>
                    </a:lnR>
                    <a:lnT w="6350" cap="flat" cmpd="sng" algn="ctr">
                      <a:solidFill>
                        <a:srgbClr val="D3DFD8"/>
                      </a:solidFill>
                      <a:prstDash val="solid"/>
                      <a:round/>
                      <a:headEnd type="none" w="med" len="med"/>
                      <a:tailEnd type="none" w="med" len="med"/>
                    </a:lnT>
                    <a:lnB w="6350" cap="flat" cmpd="sng" algn="ctr">
                      <a:solidFill>
                        <a:srgbClr val="D3DFD8"/>
                      </a:solidFill>
                      <a:prstDash val="solid"/>
                      <a:round/>
                      <a:headEnd type="none" w="med" len="med"/>
                      <a:tailEnd type="none" w="med" len="med"/>
                    </a:lnB>
                    <a:solidFill>
                      <a:srgbClr val="F1F6F3"/>
                    </a:solidFill>
                  </a:tcPr>
                </a:tc>
                <a:tc>
                  <a:txBody>
                    <a:bodyPr/>
                    <a:lstStyle/>
                    <a:p>
                      <a:pPr algn="l" indent="0" marL="0">
                        <a:buNone/>
                      </a:pPr>
                      <a:r>
                        <a:rPr lang="en-US" sz="1350" dirty="0">
                          <a:solidFill>
                            <a:srgbClr val="000000"/>
                          </a:solidFill>
                        </a:rPr>
                        <a:t>Not trained</a:t>
                      </a:r>
                      <a:endParaRPr lang="en-US" sz="1350" dirty="0"/>
                    </a:p>
                  </a:txBody>
                  <a:tcPr marL="91440" marR="91440" marT="45720" marB="45720" anchor="ctr">
                    <a:lnL w="6350" cap="flat" cmpd="sng" algn="ctr">
                      <a:solidFill>
                        <a:srgbClr val="D3DFD8"/>
                      </a:solidFill>
                      <a:prstDash val="solid"/>
                      <a:round/>
                      <a:headEnd type="none" w="med" len="med"/>
                      <a:tailEnd type="none" w="med" len="med"/>
                    </a:lnL>
                    <a:lnR w="6350" cap="flat" cmpd="sng" algn="ctr">
                      <a:solidFill>
                        <a:srgbClr val="D3DFD8"/>
                      </a:solidFill>
                      <a:prstDash val="solid"/>
                      <a:round/>
                      <a:headEnd type="none" w="med" len="med"/>
                      <a:tailEnd type="none" w="med" len="med"/>
                    </a:lnR>
                    <a:lnT w="6350" cap="flat" cmpd="sng" algn="ctr">
                      <a:solidFill>
                        <a:srgbClr val="D3DFD8"/>
                      </a:solidFill>
                      <a:prstDash val="solid"/>
                      <a:round/>
                      <a:headEnd type="none" w="med" len="med"/>
                      <a:tailEnd type="none" w="med" len="med"/>
                    </a:lnT>
                    <a:lnB w="6350" cap="flat" cmpd="sng" algn="ctr">
                      <a:solidFill>
                        <a:srgbClr val="D3DFD8"/>
                      </a:solidFill>
                      <a:prstDash val="solid"/>
                      <a:round/>
                      <a:headEnd type="none" w="med" len="med"/>
                      <a:tailEnd type="none" w="med" len="med"/>
                    </a:lnB>
                    <a:solidFill>
                      <a:srgbClr val="F1F6F3"/>
                    </a:solidFill>
                  </a:tcPr>
                </a:tc>
              </a:tr>
            </a:tbl>
          </a:graphicData>
        </a:graphic>
      </p:graphicFrame>
      <p:sp>
        <p:nvSpPr>
          <p:cNvPr id="5" name="card-134"/>
          <p:cNvSpPr/>
          <p:nvPr/>
        </p:nvSpPr>
        <p:spPr>
          <a:xfrm>
            <a:off x="457200" y="3840480"/>
            <a:ext cx="8229600" cy="868680"/>
          </a:xfrm>
          <a:prstGeom prst="roundRect">
            <a:avLst>
              <a:gd name="adj" fmla="val 8421"/>
            </a:avLst>
          </a:prstGeom>
          <a:solidFill>
            <a:srgbClr val="DCEFE4"/>
          </a:solidFill>
          <a:ln w="12700">
            <a:solidFill>
              <a:srgbClr val="DCEFE4"/>
            </a:solidFill>
            <a:prstDash val="solid"/>
          </a:ln>
        </p:spPr>
      </p:sp>
      <p:sp>
        <p:nvSpPr>
          <p:cNvPr id="6" name="text-135"/>
          <p:cNvSpPr txBox="1"/>
          <p:nvPr/>
        </p:nvSpPr>
        <p:spPr>
          <a:xfrm>
            <a:off x="640080" y="3840480"/>
            <a:ext cx="7863840" cy="868680"/>
          </a:xfrm>
          <a:prstGeom prst="rect">
            <a:avLst/>
          </a:prstGeom>
          <a:noFill/>
          <a:ln/>
        </p:spPr>
        <p:txBody>
          <a:bodyPr wrap="square" lIns="0" tIns="0" rIns="0" bIns="0" rtlCol="0" anchor="ctr"/>
          <a:lstStyle/>
          <a:p>
            <a:pPr indent="0" marL="0">
              <a:buNone/>
            </a:pPr>
            <a:r>
              <a:rPr lang="en-US" sz="1300" b="1" dirty="0">
                <a:solidFill>
                  <a:schemeClr val="tx2"/>
                </a:solidFill>
              </a:rPr>
              <a:t>ResNet-50 is slightly faster on this GPU despite 6× the parameters. </a:t>
            </a:r>
            <a:pPr indent="0" marL="0">
              <a:buNone/>
            </a:pPr>
            <a:r>
              <a:rPr lang="en-US" sz="1300" dirty="0">
                <a:solidFill>
                  <a:schemeClr val="tx2"/>
                </a:solidFill>
              </a:rPr>
              <a:t>We chose EfficientNet-B0 for size, compute cost and a layer that suits Grad-CAM. Latency: one 224 × 224 image on Apple MPS; candidates use untrained weights, so their accuracy is not compared.</a:t>
            </a:r>
            <a:endParaRPr lang="en-US" sz="1300" dirty="0"/>
          </a:p>
        </p:txBody>
      </p:sp>
      <p:sp>
        <p:nvSpPr>
          <p:cNvPr id="25" name="Slide Number Placeholder 0"/>
          <p:cNvSpPr>
            <a:spLocks noGrp="1"/>
          </p:cNvSpPr>
          <p:nvPr>
            <p:ph type="sldNum" sz="quarter" idx="4294967295"/>
          </p:nvPr>
        </p:nvSpPr>
        <p:spPr>
          <a:xfrm>
            <a:off x="8229600" y="4828032"/>
            <a:ext cx="457200" cy="22860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defRPr>
            </a:lvl1pPr>
          </a:lstStyle>
          <a:p>
            <a:pPr algn="r"/>
            <a:fld id="{F7021451-1387-4CA6-816F-3879F97B5CBC}" type="slidenum">
              <a:rPr b="0" lang="en-US"/>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0"/>
          <p:cNvSpPr/>
          <p:nvPr>
            <p:ph idx="100" type="title" hasCustomPrompt="1"/>
          </p:nvPr>
        </p:nvSpPr>
        <p:spPr>
          <a:xfrm>
            <a:off x="457200" y="256032"/>
            <a:ext cx="8229600" cy="685800"/>
          </a:xfrm>
          <a:prstGeom prst="rect">
            <a:avLst/>
          </a:prstGeom>
          <a:noFill/>
          <a:ln/>
        </p:spPr>
        <p:txBody>
          <a:bodyPr wrap="square" lIns="0" tIns="0" rIns="0" bIns="0" rtlCol="0" anchor="ctr"/>
          <a:lstStyle/>
          <a:p>
            <a:pPr algn="l" indent="0" marL="0">
              <a:buNone/>
            </a:pPr>
            <a:r>
              <a:rPr lang="en-US" sz="2800" b="1" dirty="0">
                <a:solidFill>
                  <a:schemeClr val="tx1"/>
                </a:solidFill>
              </a:rPr>
              <a:t>Two-stage transfer learning</a:t>
            </a:r>
            <a:endParaRPr lang="en-US" sz="2800" dirty="0"/>
          </a:p>
        </p:txBody>
      </p:sp>
      <p:sp>
        <p:nvSpPr>
          <p:cNvPr id="4" name="block-136"/>
          <p:cNvSpPr/>
          <p:nvPr/>
        </p:nvSpPr>
        <p:spPr>
          <a:xfrm>
            <a:off x="457200" y="1417320"/>
            <a:ext cx="566928" cy="548640"/>
          </a:xfrm>
          <a:prstGeom prst="roundRect">
            <a:avLst>
              <a:gd name="adj" fmla="val 8333"/>
            </a:avLst>
          </a:prstGeom>
          <a:solidFill>
            <a:schemeClr val="accent6"/>
          </a:solidFill>
          <a:ln w="12700">
            <a:solidFill>
              <a:schemeClr val="bg1"/>
            </a:solidFill>
            <a:prstDash val="solid"/>
          </a:ln>
        </p:spPr>
      </p:sp>
      <p:sp>
        <p:nvSpPr>
          <p:cNvPr id="5" name="block-label-137"/>
          <p:cNvSpPr txBox="1"/>
          <p:nvPr/>
        </p:nvSpPr>
        <p:spPr>
          <a:xfrm>
            <a:off x="457200" y="1417320"/>
            <a:ext cx="566928" cy="548640"/>
          </a:xfrm>
          <a:prstGeom prst="rect">
            <a:avLst/>
          </a:prstGeom>
          <a:noFill/>
          <a:ln/>
        </p:spPr>
        <p:txBody>
          <a:bodyPr wrap="square" lIns="0" tIns="0" rIns="0" bIns="0" rtlCol="0" anchor="ctr"/>
          <a:lstStyle/>
          <a:p>
            <a:pPr algn="ctr" indent="0" marL="0">
              <a:buNone/>
            </a:pPr>
            <a:r>
              <a:rPr lang="en-US" sz="1400" b="1" dirty="0">
                <a:solidFill>
                  <a:schemeClr val="bg1"/>
                </a:solidFill>
              </a:rPr>
              <a:t>0</a:t>
            </a:r>
            <a:endParaRPr lang="en-US" sz="1400" dirty="0"/>
          </a:p>
        </p:txBody>
      </p:sp>
      <p:sp>
        <p:nvSpPr>
          <p:cNvPr id="6" name="block-138"/>
          <p:cNvSpPr/>
          <p:nvPr/>
        </p:nvSpPr>
        <p:spPr>
          <a:xfrm>
            <a:off x="1097280" y="1417320"/>
            <a:ext cx="566928" cy="548640"/>
          </a:xfrm>
          <a:prstGeom prst="roundRect">
            <a:avLst>
              <a:gd name="adj" fmla="val 8333"/>
            </a:avLst>
          </a:prstGeom>
          <a:solidFill>
            <a:schemeClr val="accent6"/>
          </a:solidFill>
          <a:ln w="12700">
            <a:solidFill>
              <a:schemeClr val="bg1"/>
            </a:solidFill>
            <a:prstDash val="solid"/>
          </a:ln>
        </p:spPr>
      </p:sp>
      <p:sp>
        <p:nvSpPr>
          <p:cNvPr id="7" name="block-label-139"/>
          <p:cNvSpPr txBox="1"/>
          <p:nvPr/>
        </p:nvSpPr>
        <p:spPr>
          <a:xfrm>
            <a:off x="1097280" y="1417320"/>
            <a:ext cx="566928" cy="548640"/>
          </a:xfrm>
          <a:prstGeom prst="rect">
            <a:avLst/>
          </a:prstGeom>
          <a:noFill/>
          <a:ln/>
        </p:spPr>
        <p:txBody>
          <a:bodyPr wrap="square" lIns="0" tIns="0" rIns="0" bIns="0" rtlCol="0" anchor="ctr"/>
          <a:lstStyle/>
          <a:p>
            <a:pPr algn="ctr" indent="0" marL="0">
              <a:buNone/>
            </a:pPr>
            <a:r>
              <a:rPr lang="en-US" sz="1400" b="1" dirty="0">
                <a:solidFill>
                  <a:schemeClr val="bg1"/>
                </a:solidFill>
              </a:rPr>
              <a:t>1</a:t>
            </a:r>
            <a:endParaRPr lang="en-US" sz="1400" dirty="0"/>
          </a:p>
        </p:txBody>
      </p:sp>
      <p:sp>
        <p:nvSpPr>
          <p:cNvPr id="8" name="block-140"/>
          <p:cNvSpPr/>
          <p:nvPr/>
        </p:nvSpPr>
        <p:spPr>
          <a:xfrm>
            <a:off x="1737360" y="1417320"/>
            <a:ext cx="566928" cy="548640"/>
          </a:xfrm>
          <a:prstGeom prst="roundRect">
            <a:avLst>
              <a:gd name="adj" fmla="val 8333"/>
            </a:avLst>
          </a:prstGeom>
          <a:solidFill>
            <a:schemeClr val="accent6"/>
          </a:solidFill>
          <a:ln w="12700">
            <a:solidFill>
              <a:schemeClr val="bg1"/>
            </a:solidFill>
            <a:prstDash val="solid"/>
          </a:ln>
        </p:spPr>
      </p:sp>
      <p:sp>
        <p:nvSpPr>
          <p:cNvPr id="9" name="block-label-141"/>
          <p:cNvSpPr txBox="1"/>
          <p:nvPr/>
        </p:nvSpPr>
        <p:spPr>
          <a:xfrm>
            <a:off x="1737360" y="1417320"/>
            <a:ext cx="566928" cy="548640"/>
          </a:xfrm>
          <a:prstGeom prst="rect">
            <a:avLst/>
          </a:prstGeom>
          <a:noFill/>
          <a:ln/>
        </p:spPr>
        <p:txBody>
          <a:bodyPr wrap="square" lIns="0" tIns="0" rIns="0" bIns="0" rtlCol="0" anchor="ctr"/>
          <a:lstStyle/>
          <a:p>
            <a:pPr algn="ctr" indent="0" marL="0">
              <a:buNone/>
            </a:pPr>
            <a:r>
              <a:rPr lang="en-US" sz="1400" b="1" dirty="0">
                <a:solidFill>
                  <a:schemeClr val="bg1"/>
                </a:solidFill>
              </a:rPr>
              <a:t>2</a:t>
            </a:r>
            <a:endParaRPr lang="en-US" sz="1400" dirty="0"/>
          </a:p>
        </p:txBody>
      </p:sp>
      <p:sp>
        <p:nvSpPr>
          <p:cNvPr id="10" name="block-142"/>
          <p:cNvSpPr/>
          <p:nvPr/>
        </p:nvSpPr>
        <p:spPr>
          <a:xfrm>
            <a:off x="2377440" y="1417320"/>
            <a:ext cx="566928" cy="548640"/>
          </a:xfrm>
          <a:prstGeom prst="roundRect">
            <a:avLst>
              <a:gd name="adj" fmla="val 8333"/>
            </a:avLst>
          </a:prstGeom>
          <a:solidFill>
            <a:schemeClr val="accent6"/>
          </a:solidFill>
          <a:ln w="12700">
            <a:solidFill>
              <a:schemeClr val="bg1"/>
            </a:solidFill>
            <a:prstDash val="solid"/>
          </a:ln>
        </p:spPr>
      </p:sp>
      <p:sp>
        <p:nvSpPr>
          <p:cNvPr id="11" name="block-label-143"/>
          <p:cNvSpPr txBox="1"/>
          <p:nvPr/>
        </p:nvSpPr>
        <p:spPr>
          <a:xfrm>
            <a:off x="2377440" y="1417320"/>
            <a:ext cx="566928" cy="548640"/>
          </a:xfrm>
          <a:prstGeom prst="rect">
            <a:avLst/>
          </a:prstGeom>
          <a:noFill/>
          <a:ln/>
        </p:spPr>
        <p:txBody>
          <a:bodyPr wrap="square" lIns="0" tIns="0" rIns="0" bIns="0" rtlCol="0" anchor="ctr"/>
          <a:lstStyle/>
          <a:p>
            <a:pPr algn="ctr" indent="0" marL="0">
              <a:buNone/>
            </a:pPr>
            <a:r>
              <a:rPr lang="en-US" sz="1400" b="1" dirty="0">
                <a:solidFill>
                  <a:schemeClr val="bg1"/>
                </a:solidFill>
              </a:rPr>
              <a:t>3</a:t>
            </a:r>
            <a:endParaRPr lang="en-US" sz="1400" dirty="0"/>
          </a:p>
        </p:txBody>
      </p:sp>
      <p:sp>
        <p:nvSpPr>
          <p:cNvPr id="12" name="block-144"/>
          <p:cNvSpPr/>
          <p:nvPr/>
        </p:nvSpPr>
        <p:spPr>
          <a:xfrm>
            <a:off x="3017520" y="1417320"/>
            <a:ext cx="566928" cy="548640"/>
          </a:xfrm>
          <a:prstGeom prst="roundRect">
            <a:avLst>
              <a:gd name="adj" fmla="val 8333"/>
            </a:avLst>
          </a:prstGeom>
          <a:solidFill>
            <a:schemeClr val="accent6"/>
          </a:solidFill>
          <a:ln w="12700">
            <a:solidFill>
              <a:schemeClr val="bg1"/>
            </a:solidFill>
            <a:prstDash val="solid"/>
          </a:ln>
        </p:spPr>
      </p:sp>
      <p:sp>
        <p:nvSpPr>
          <p:cNvPr id="13" name="block-label-145"/>
          <p:cNvSpPr txBox="1"/>
          <p:nvPr/>
        </p:nvSpPr>
        <p:spPr>
          <a:xfrm>
            <a:off x="3017520" y="1417320"/>
            <a:ext cx="566928" cy="548640"/>
          </a:xfrm>
          <a:prstGeom prst="rect">
            <a:avLst/>
          </a:prstGeom>
          <a:noFill/>
          <a:ln/>
        </p:spPr>
        <p:txBody>
          <a:bodyPr wrap="square" lIns="0" tIns="0" rIns="0" bIns="0" rtlCol="0" anchor="ctr"/>
          <a:lstStyle/>
          <a:p>
            <a:pPr algn="ctr" indent="0" marL="0">
              <a:buNone/>
            </a:pPr>
            <a:r>
              <a:rPr lang="en-US" sz="1400" b="1" dirty="0">
                <a:solidFill>
                  <a:schemeClr val="bg1"/>
                </a:solidFill>
              </a:rPr>
              <a:t>4</a:t>
            </a:r>
            <a:endParaRPr lang="en-US" sz="1400" dirty="0"/>
          </a:p>
        </p:txBody>
      </p:sp>
      <p:sp>
        <p:nvSpPr>
          <p:cNvPr id="14" name="block-146"/>
          <p:cNvSpPr/>
          <p:nvPr/>
        </p:nvSpPr>
        <p:spPr>
          <a:xfrm>
            <a:off x="3657600" y="1417320"/>
            <a:ext cx="566928" cy="548640"/>
          </a:xfrm>
          <a:prstGeom prst="roundRect">
            <a:avLst>
              <a:gd name="adj" fmla="val 8333"/>
            </a:avLst>
          </a:prstGeom>
          <a:solidFill>
            <a:schemeClr val="accent6"/>
          </a:solidFill>
          <a:ln w="12700">
            <a:solidFill>
              <a:schemeClr val="bg1"/>
            </a:solidFill>
            <a:prstDash val="solid"/>
          </a:ln>
        </p:spPr>
      </p:sp>
      <p:sp>
        <p:nvSpPr>
          <p:cNvPr id="15" name="block-label-147"/>
          <p:cNvSpPr txBox="1"/>
          <p:nvPr/>
        </p:nvSpPr>
        <p:spPr>
          <a:xfrm>
            <a:off x="3657600" y="1417320"/>
            <a:ext cx="566928" cy="548640"/>
          </a:xfrm>
          <a:prstGeom prst="rect">
            <a:avLst/>
          </a:prstGeom>
          <a:noFill/>
          <a:ln/>
        </p:spPr>
        <p:txBody>
          <a:bodyPr wrap="square" lIns="0" tIns="0" rIns="0" bIns="0" rtlCol="0" anchor="ctr"/>
          <a:lstStyle/>
          <a:p>
            <a:pPr algn="ctr" indent="0" marL="0">
              <a:buNone/>
            </a:pPr>
            <a:r>
              <a:rPr lang="en-US" sz="1400" b="1" dirty="0">
                <a:solidFill>
                  <a:schemeClr val="bg1"/>
                </a:solidFill>
              </a:rPr>
              <a:t>5</a:t>
            </a:r>
            <a:endParaRPr lang="en-US" sz="1400" dirty="0"/>
          </a:p>
        </p:txBody>
      </p:sp>
      <p:sp>
        <p:nvSpPr>
          <p:cNvPr id="16" name="block-148"/>
          <p:cNvSpPr/>
          <p:nvPr/>
        </p:nvSpPr>
        <p:spPr>
          <a:xfrm>
            <a:off x="4297680" y="1417320"/>
            <a:ext cx="566928" cy="548640"/>
          </a:xfrm>
          <a:prstGeom prst="roundRect">
            <a:avLst>
              <a:gd name="adj" fmla="val 8333"/>
            </a:avLst>
          </a:prstGeom>
          <a:solidFill>
            <a:schemeClr val="accent1"/>
          </a:solidFill>
          <a:ln w="12700">
            <a:solidFill>
              <a:schemeClr val="bg1"/>
            </a:solidFill>
            <a:prstDash val="solid"/>
          </a:ln>
        </p:spPr>
      </p:sp>
      <p:sp>
        <p:nvSpPr>
          <p:cNvPr id="17" name="block-label-149"/>
          <p:cNvSpPr txBox="1"/>
          <p:nvPr/>
        </p:nvSpPr>
        <p:spPr>
          <a:xfrm>
            <a:off x="4297680" y="1417320"/>
            <a:ext cx="566928" cy="548640"/>
          </a:xfrm>
          <a:prstGeom prst="rect">
            <a:avLst/>
          </a:prstGeom>
          <a:noFill/>
          <a:ln/>
        </p:spPr>
        <p:txBody>
          <a:bodyPr wrap="square" lIns="0" tIns="0" rIns="0" bIns="0" rtlCol="0" anchor="ctr"/>
          <a:lstStyle/>
          <a:p>
            <a:pPr algn="ctr" indent="0" marL="0">
              <a:buNone/>
            </a:pPr>
            <a:r>
              <a:rPr lang="en-US" sz="1400" b="1" dirty="0">
                <a:solidFill>
                  <a:schemeClr val="bg1"/>
                </a:solidFill>
              </a:rPr>
              <a:t>6</a:t>
            </a:r>
            <a:endParaRPr lang="en-US" sz="1400" dirty="0"/>
          </a:p>
        </p:txBody>
      </p:sp>
      <p:sp>
        <p:nvSpPr>
          <p:cNvPr id="18" name="block-150"/>
          <p:cNvSpPr/>
          <p:nvPr/>
        </p:nvSpPr>
        <p:spPr>
          <a:xfrm>
            <a:off x="4937760" y="1417320"/>
            <a:ext cx="566928" cy="548640"/>
          </a:xfrm>
          <a:prstGeom prst="roundRect">
            <a:avLst>
              <a:gd name="adj" fmla="val 8333"/>
            </a:avLst>
          </a:prstGeom>
          <a:solidFill>
            <a:schemeClr val="accent1"/>
          </a:solidFill>
          <a:ln w="12700">
            <a:solidFill>
              <a:schemeClr val="bg1"/>
            </a:solidFill>
            <a:prstDash val="solid"/>
          </a:ln>
        </p:spPr>
      </p:sp>
      <p:sp>
        <p:nvSpPr>
          <p:cNvPr id="19" name="block-label-151"/>
          <p:cNvSpPr txBox="1"/>
          <p:nvPr/>
        </p:nvSpPr>
        <p:spPr>
          <a:xfrm>
            <a:off x="4937760" y="1417320"/>
            <a:ext cx="566928" cy="548640"/>
          </a:xfrm>
          <a:prstGeom prst="rect">
            <a:avLst/>
          </a:prstGeom>
          <a:noFill/>
          <a:ln/>
        </p:spPr>
        <p:txBody>
          <a:bodyPr wrap="square" lIns="0" tIns="0" rIns="0" bIns="0" rtlCol="0" anchor="ctr"/>
          <a:lstStyle/>
          <a:p>
            <a:pPr algn="ctr" indent="0" marL="0">
              <a:buNone/>
            </a:pPr>
            <a:r>
              <a:rPr lang="en-US" sz="1400" b="1" dirty="0">
                <a:solidFill>
                  <a:schemeClr val="bg1"/>
                </a:solidFill>
              </a:rPr>
              <a:t>7</a:t>
            </a:r>
            <a:endParaRPr lang="en-US" sz="1400" dirty="0"/>
          </a:p>
        </p:txBody>
      </p:sp>
      <p:sp>
        <p:nvSpPr>
          <p:cNvPr id="20" name="block-152"/>
          <p:cNvSpPr/>
          <p:nvPr/>
        </p:nvSpPr>
        <p:spPr>
          <a:xfrm>
            <a:off x="5577840" y="1417320"/>
            <a:ext cx="566928" cy="548640"/>
          </a:xfrm>
          <a:prstGeom prst="roundRect">
            <a:avLst>
              <a:gd name="adj" fmla="val 8333"/>
            </a:avLst>
          </a:prstGeom>
          <a:solidFill>
            <a:schemeClr val="accent1"/>
          </a:solidFill>
          <a:ln w="12700">
            <a:solidFill>
              <a:schemeClr val="bg1"/>
            </a:solidFill>
            <a:prstDash val="solid"/>
          </a:ln>
        </p:spPr>
      </p:sp>
      <p:sp>
        <p:nvSpPr>
          <p:cNvPr id="21" name="block-label-153"/>
          <p:cNvSpPr txBox="1"/>
          <p:nvPr/>
        </p:nvSpPr>
        <p:spPr>
          <a:xfrm>
            <a:off x="5577840" y="1417320"/>
            <a:ext cx="566928" cy="548640"/>
          </a:xfrm>
          <a:prstGeom prst="rect">
            <a:avLst/>
          </a:prstGeom>
          <a:noFill/>
          <a:ln/>
        </p:spPr>
        <p:txBody>
          <a:bodyPr wrap="square" lIns="0" tIns="0" rIns="0" bIns="0" rtlCol="0" anchor="ctr"/>
          <a:lstStyle/>
          <a:p>
            <a:pPr algn="ctr" indent="0" marL="0">
              <a:buNone/>
            </a:pPr>
            <a:r>
              <a:rPr lang="en-US" sz="1400" b="1" dirty="0">
                <a:solidFill>
                  <a:schemeClr val="bg1"/>
                </a:solidFill>
              </a:rPr>
              <a:t>8</a:t>
            </a:r>
            <a:endParaRPr lang="en-US" sz="1400" dirty="0"/>
          </a:p>
        </p:txBody>
      </p:sp>
      <p:sp>
        <p:nvSpPr>
          <p:cNvPr id="22" name="head-154"/>
          <p:cNvSpPr/>
          <p:nvPr/>
        </p:nvSpPr>
        <p:spPr>
          <a:xfrm>
            <a:off x="6309360" y="1417320"/>
            <a:ext cx="2377440" cy="548640"/>
          </a:xfrm>
          <a:prstGeom prst="roundRect">
            <a:avLst>
              <a:gd name="adj" fmla="val 8333"/>
            </a:avLst>
          </a:prstGeom>
          <a:solidFill>
            <a:schemeClr val="accent2"/>
          </a:solidFill>
          <a:ln w="12700">
            <a:solidFill>
              <a:schemeClr val="bg1"/>
            </a:solidFill>
            <a:prstDash val="solid"/>
          </a:ln>
        </p:spPr>
      </p:sp>
      <p:sp>
        <p:nvSpPr>
          <p:cNvPr id="23" name="head-label-155"/>
          <p:cNvSpPr txBox="1"/>
          <p:nvPr/>
        </p:nvSpPr>
        <p:spPr>
          <a:xfrm>
            <a:off x="6309360" y="1417320"/>
            <a:ext cx="2377440" cy="548640"/>
          </a:xfrm>
          <a:prstGeom prst="rect">
            <a:avLst/>
          </a:prstGeom>
          <a:noFill/>
          <a:ln/>
        </p:spPr>
        <p:txBody>
          <a:bodyPr wrap="square" lIns="0" tIns="0" rIns="0" bIns="0" rtlCol="0" anchor="ctr"/>
          <a:lstStyle/>
          <a:p>
            <a:pPr algn="ctr" indent="0" marL="0">
              <a:buNone/>
            </a:pPr>
            <a:r>
              <a:rPr lang="en-US" sz="1300" b="1" dirty="0">
                <a:solidFill>
                  <a:schemeClr val="bg1"/>
                </a:solidFill>
              </a:rPr>
              <a:t>Head</a:t>
            </a:r>
            <a:endParaRPr lang="en-US" sz="1300" dirty="0"/>
          </a:p>
        </p:txBody>
      </p:sp>
      <p:sp>
        <p:nvSpPr>
          <p:cNvPr id="24" name="text-156"/>
          <p:cNvSpPr txBox="1"/>
          <p:nvPr/>
        </p:nvSpPr>
        <p:spPr>
          <a:xfrm>
            <a:off x="457200" y="1097280"/>
            <a:ext cx="5029200" cy="274320"/>
          </a:xfrm>
          <a:prstGeom prst="rect">
            <a:avLst/>
          </a:prstGeom>
          <a:noFill/>
          <a:ln/>
        </p:spPr>
        <p:txBody>
          <a:bodyPr wrap="square" lIns="0" tIns="0" rIns="0" bIns="0" rtlCol="0" anchor="t"/>
          <a:lstStyle/>
          <a:p>
            <a:pPr indent="0" marL="0">
              <a:buNone/>
            </a:pPr>
            <a:r>
              <a:rPr lang="en-US" sz="1300" b="1" dirty="0">
                <a:solidFill>
                  <a:schemeClr val="tx1"/>
                </a:solidFill>
              </a:rPr>
              <a:t>EfficientNet-B0 feature blocks 0 to 8</a:t>
            </a:r>
            <a:endParaRPr lang="en-US" sz="1300" dirty="0"/>
          </a:p>
        </p:txBody>
      </p:sp>
      <p:sp>
        <p:nvSpPr>
          <p:cNvPr id="25" name="text-157"/>
          <p:cNvSpPr txBox="1"/>
          <p:nvPr/>
        </p:nvSpPr>
        <p:spPr>
          <a:xfrm>
            <a:off x="457200" y="2011680"/>
            <a:ext cx="3749040" cy="274320"/>
          </a:xfrm>
          <a:prstGeom prst="rect">
            <a:avLst/>
          </a:prstGeom>
          <a:noFill/>
          <a:ln/>
        </p:spPr>
        <p:txBody>
          <a:bodyPr wrap="square" lIns="0" tIns="0" rIns="0" bIns="0" rtlCol="0" anchor="t"/>
          <a:lstStyle/>
          <a:p>
            <a:pPr indent="0" marL="0">
              <a:buNone/>
            </a:pPr>
            <a:r>
              <a:rPr lang="en-US" sz="1250" dirty="0">
                <a:solidFill>
                  <a:schemeClr val="accent6"/>
                </a:solidFill>
              </a:rPr>
              <a:t>Frozen in both stages: edges and textures</a:t>
            </a:r>
            <a:endParaRPr lang="en-US" sz="1250" dirty="0"/>
          </a:p>
        </p:txBody>
      </p:sp>
      <p:sp>
        <p:nvSpPr>
          <p:cNvPr id="26" name="text-158"/>
          <p:cNvSpPr txBox="1"/>
          <p:nvPr/>
        </p:nvSpPr>
        <p:spPr>
          <a:xfrm>
            <a:off x="4297680" y="2011680"/>
            <a:ext cx="1920240" cy="274320"/>
          </a:xfrm>
          <a:prstGeom prst="rect">
            <a:avLst/>
          </a:prstGeom>
          <a:noFill/>
          <a:ln/>
        </p:spPr>
        <p:txBody>
          <a:bodyPr wrap="square" lIns="0" tIns="0" rIns="0" bIns="0" rtlCol="0" anchor="t"/>
          <a:lstStyle/>
          <a:p>
            <a:pPr indent="0" marL="0">
              <a:buNone/>
            </a:pPr>
            <a:r>
              <a:rPr lang="en-US" sz="1250" b="1" dirty="0">
                <a:solidFill>
                  <a:schemeClr val="accent1"/>
                </a:solidFill>
              </a:rPr>
              <a:t>Unfrozen in stage 2</a:t>
            </a:r>
            <a:endParaRPr lang="en-US" sz="1250" dirty="0"/>
          </a:p>
        </p:txBody>
      </p:sp>
      <p:sp>
        <p:nvSpPr>
          <p:cNvPr id="27" name="text-159"/>
          <p:cNvSpPr txBox="1"/>
          <p:nvPr/>
        </p:nvSpPr>
        <p:spPr>
          <a:xfrm>
            <a:off x="6309360" y="2011680"/>
            <a:ext cx="2377440" cy="274320"/>
          </a:xfrm>
          <a:prstGeom prst="rect">
            <a:avLst/>
          </a:prstGeom>
          <a:noFill/>
          <a:ln/>
        </p:spPr>
        <p:txBody>
          <a:bodyPr wrap="square" lIns="0" tIns="0" rIns="0" bIns="0" rtlCol="0" anchor="t"/>
          <a:lstStyle/>
          <a:p>
            <a:pPr algn="ctr" indent="0" marL="0">
              <a:buNone/>
            </a:pPr>
            <a:r>
              <a:rPr lang="en-US" sz="1200" b="1" dirty="0">
                <a:solidFill>
                  <a:schemeClr val="accent2"/>
                </a:solidFill>
              </a:rPr>
              <a:t>Dropout 0.3 + linear (15)</a:t>
            </a:r>
            <a:endParaRPr lang="en-US" sz="1200" dirty="0"/>
          </a:p>
        </p:txBody>
      </p:sp>
      <p:pic>
        <p:nvPicPr>
          <p:cNvPr id="28" name="image-160" descr="/Users/parthsharma/Desktop/XAI PDS/reports/study/figures/fig_training_curves.png">    </p:cNvPr>
          <p:cNvPicPr>
            <a:picLocks noChangeAspect="1"/>
          </p:cNvPicPr>
          <p:nvPr/>
        </p:nvPicPr>
        <p:blipFill>
          <a:blip r:embed="rId1"/>
          <a:stretch>
            <a:fillRect/>
          </a:stretch>
        </p:blipFill>
        <p:spPr>
          <a:xfrm>
            <a:off x="457200" y="2606040"/>
            <a:ext cx="5029200" cy="2011680"/>
          </a:xfrm>
          <a:prstGeom prst="rect">
            <a:avLst/>
          </a:prstGeom>
        </p:spPr>
      </p:pic>
      <p:sp>
        <p:nvSpPr>
          <p:cNvPr id="29" name="card-161"/>
          <p:cNvSpPr/>
          <p:nvPr/>
        </p:nvSpPr>
        <p:spPr>
          <a:xfrm>
            <a:off x="5669280" y="2606040"/>
            <a:ext cx="3017520" cy="2057400"/>
          </a:xfrm>
          <a:prstGeom prst="roundRect">
            <a:avLst>
              <a:gd name="adj" fmla="val 3556"/>
            </a:avLst>
          </a:prstGeom>
          <a:solidFill>
            <a:schemeClr val="bg2"/>
          </a:solidFill>
          <a:ln w="12700">
            <a:solidFill>
              <a:schemeClr val="bg2"/>
            </a:solidFill>
            <a:prstDash val="solid"/>
          </a:ln>
        </p:spPr>
      </p:sp>
      <p:sp>
        <p:nvSpPr>
          <p:cNvPr id="30" name="text-162"/>
          <p:cNvSpPr txBox="1"/>
          <p:nvPr/>
        </p:nvSpPr>
        <p:spPr>
          <a:xfrm>
            <a:off x="5806440" y="2697480"/>
            <a:ext cx="2743200" cy="1920240"/>
          </a:xfrm>
          <a:prstGeom prst="rect">
            <a:avLst/>
          </a:prstGeom>
          <a:noFill/>
          <a:ln/>
        </p:spPr>
        <p:txBody>
          <a:bodyPr wrap="square" lIns="0" tIns="0" rIns="0" bIns="0" rtlCol="0" anchor="t"/>
          <a:lstStyle/>
          <a:p>
            <a:pPr indent="0" marL="0">
              <a:spcAft>
                <a:spcPts val="800"/>
              </a:spcAft>
              <a:buNone/>
            </a:pPr>
            <a:r>
              <a:rPr lang="en-US" sz="1500" b="1" dirty="0">
                <a:solidFill>
                  <a:schemeClr val="tx1"/>
                </a:solidFill>
              </a:rPr>
              <a:t>Training schedule</a:t>
            </a:r>
            <a:endParaRPr lang="en-US" sz="1400" dirty="0"/>
          </a:p>
          <a:p>
            <a:pPr marL="342900" indent="-342900">
              <a:spcAft>
                <a:spcPts val="600"/>
              </a:spcAft>
              <a:buSzPct val="100000"/>
              <a:buChar char="•"/>
            </a:pPr>
            <a:r>
              <a:rPr lang="en-US" sz="1200" dirty="0">
                <a:solidFill>
                  <a:schemeClr val="tx1"/>
                </a:solidFill>
              </a:rPr>
              <a:t>Stage 1: head only, 5 epochs, lr 1e-4</a:t>
            </a:r>
            <a:endParaRPr lang="en-US" sz="1400" dirty="0"/>
          </a:p>
          <a:p>
            <a:pPr marL="342900" indent="-342900">
              <a:spcAft>
                <a:spcPts val="600"/>
              </a:spcAft>
              <a:buSzPct val="100000"/>
              <a:buChar char="•"/>
            </a:pPr>
            <a:r>
              <a:rPr lang="en-US" sz="1200" dirty="0">
                <a:solidFill>
                  <a:schemeClr val="tx1"/>
                </a:solidFill>
              </a:rPr>
              <a:t>Stage 2: blocks 6 to 8, lr 1e-5, up to 20 epochs</a:t>
            </a:r>
            <a:endParaRPr lang="en-US" sz="1400" dirty="0"/>
          </a:p>
          <a:p>
            <a:pPr marL="342900" indent="-342900">
              <a:spcAft>
                <a:spcPts val="600"/>
              </a:spcAft>
              <a:buSzPct val="100000"/>
              <a:buChar char="•"/>
            </a:pPr>
            <a:r>
              <a:rPr lang="en-US" sz="1200" dirty="0">
                <a:solidFill>
                  <a:schemeClr val="tx1"/>
                </a:solidFill>
              </a:rPr>
              <a:t>AdamW, weight decay 1e-4, batch 32</a:t>
            </a:r>
            <a:endParaRPr lang="en-US" sz="1400" dirty="0"/>
          </a:p>
          <a:p>
            <a:pPr marL="342900" indent="-342900">
              <a:spcAft>
                <a:spcPts val="600"/>
              </a:spcAft>
              <a:buSzPct val="100000"/>
              <a:buChar char="•"/>
            </a:pPr>
            <a:r>
              <a:rPr lang="en-US" sz="1200" dirty="0">
                <a:solidFill>
                  <a:schemeClr val="tx1"/>
                </a:solidFill>
              </a:rPr>
              <a:t>Early stopping (patience 5), best-validation checkpoint, seed 42</a:t>
            </a:r>
            <a:endParaRPr lang="en-US" sz="1400" dirty="0"/>
          </a:p>
        </p:txBody>
      </p:sp>
      <p:sp>
        <p:nvSpPr>
          <p:cNvPr id="25" name="Slide Number Placeholder 0"/>
          <p:cNvSpPr>
            <a:spLocks noGrp="1"/>
          </p:cNvSpPr>
          <p:nvPr>
            <p:ph type="sldNum" sz="quarter" idx="4294967295"/>
          </p:nvPr>
        </p:nvSpPr>
        <p:spPr>
          <a:xfrm>
            <a:off x="8229600" y="4828032"/>
            <a:ext cx="457200" cy="22860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defRPr>
            </a:lvl1pPr>
          </a:lstStyle>
          <a:p>
            <a:pPr algn="r"/>
            <a:fld id="{F7021451-1387-4CA6-816F-3879F97B5CBC}" type="slidenum">
              <a:rPr b="0" lang="en-US"/>
              <a:t>11</a:t>
            </a:fld>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0"/>
          <p:cNvSpPr/>
          <p:nvPr>
            <p:ph idx="100" type="title" hasCustomPrompt="1"/>
          </p:nvPr>
        </p:nvSpPr>
        <p:spPr>
          <a:xfrm>
            <a:off x="457200" y="256032"/>
            <a:ext cx="8229600" cy="685800"/>
          </a:xfrm>
          <a:prstGeom prst="rect">
            <a:avLst/>
          </a:prstGeom>
          <a:noFill/>
          <a:ln/>
        </p:spPr>
        <p:txBody>
          <a:bodyPr wrap="square" lIns="0" tIns="0" rIns="0" bIns="0" rtlCol="0" anchor="ctr"/>
          <a:lstStyle/>
          <a:p>
            <a:pPr algn="l" indent="0" marL="0">
              <a:buNone/>
            </a:pPr>
            <a:r>
              <a:rPr lang="en-US" sz="2800" b="1" dirty="0">
                <a:solidFill>
                  <a:schemeClr val="tx1"/>
                </a:solidFill>
              </a:rPr>
              <a:t>System architecture</a:t>
            </a:r>
            <a:endParaRPr lang="en-US" sz="2800" dirty="0"/>
          </a:p>
        </p:txBody>
      </p:sp>
      <p:sp>
        <p:nvSpPr>
          <p:cNvPr id="4" name="card-163"/>
          <p:cNvSpPr/>
          <p:nvPr/>
        </p:nvSpPr>
        <p:spPr>
          <a:xfrm>
            <a:off x="457200" y="1051560"/>
            <a:ext cx="8229600" cy="3611880"/>
          </a:xfrm>
          <a:prstGeom prst="roundRect">
            <a:avLst>
              <a:gd name="adj" fmla="val 2025"/>
            </a:avLst>
          </a:prstGeom>
          <a:solidFill>
            <a:srgbClr val="FFFFFF"/>
          </a:solidFill>
          <a:ln w="12700">
            <a:solidFill>
              <a:srgbClr val="FFFFFF"/>
            </a:solidFill>
            <a:prstDash val="solid"/>
          </a:ln>
        </p:spPr>
      </p:sp>
      <p:pic>
        <p:nvPicPr>
          <p:cNvPr id="5" name="image-164" descr="/Users/parthsharma/Desktop/XAI PDS/reports/study/figures/fig_architecture_system.png">    </p:cNvPr>
          <p:cNvPicPr>
            <a:picLocks noChangeAspect="1"/>
          </p:cNvPicPr>
          <p:nvPr/>
        </p:nvPicPr>
        <p:blipFill>
          <a:blip r:embed="rId1"/>
          <a:stretch>
            <a:fillRect/>
          </a:stretch>
        </p:blipFill>
        <p:spPr>
          <a:xfrm>
            <a:off x="996553" y="1097280"/>
            <a:ext cx="7150894" cy="3520440"/>
          </a:xfrm>
          <a:prstGeom prst="rect">
            <a:avLst/>
          </a:prstGeom>
        </p:spPr>
      </p:pic>
      <p:sp>
        <p:nvSpPr>
          <p:cNvPr id="25" name="Slide Number Placeholder 0"/>
          <p:cNvSpPr>
            <a:spLocks noGrp="1"/>
          </p:cNvSpPr>
          <p:nvPr>
            <p:ph type="sldNum" sz="quarter" idx="4294967295"/>
          </p:nvPr>
        </p:nvSpPr>
        <p:spPr>
          <a:xfrm>
            <a:off x="8229600" y="4828032"/>
            <a:ext cx="457200" cy="22860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defRPr>
            </a:lvl1pPr>
          </a:lstStyle>
          <a:p>
            <a:pPr algn="r"/>
            <a:fld id="{F7021451-1387-4CA6-816F-3879F97B5CBC}" type="slidenum">
              <a:rPr b="0" lang="en-US"/>
              <a:t>12</a:t>
            </a:fld>
            <a:endParaRPr 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Text 0"/>
          <p:cNvSpPr/>
          <p:nvPr>
            <p:ph idx="100" type="title" hasCustomPrompt="1"/>
          </p:nvPr>
        </p:nvSpPr>
        <p:spPr>
          <a:xfrm>
            <a:off x="457200" y="256032"/>
            <a:ext cx="8229600" cy="685800"/>
          </a:xfrm>
          <a:prstGeom prst="rect">
            <a:avLst/>
          </a:prstGeom>
          <a:noFill/>
          <a:ln/>
        </p:spPr>
        <p:txBody>
          <a:bodyPr wrap="square" lIns="0" tIns="0" rIns="0" bIns="0" rtlCol="0" anchor="ctr"/>
          <a:lstStyle/>
          <a:p>
            <a:pPr algn="l" indent="0" marL="0">
              <a:buNone/>
            </a:pPr>
            <a:r>
              <a:rPr lang="en-US" sz="2800" b="1" dirty="0">
                <a:solidFill>
                  <a:schemeClr val="tx1"/>
                </a:solidFill>
              </a:rPr>
              <a:t>Serving: diagnosis first, detail behind it</a:t>
            </a:r>
            <a:endParaRPr lang="en-US" sz="2800" dirty="0"/>
          </a:p>
        </p:txBody>
      </p:sp>
      <p:sp>
        <p:nvSpPr>
          <p:cNvPr id="4" name="card-165"/>
          <p:cNvSpPr/>
          <p:nvPr/>
        </p:nvSpPr>
        <p:spPr>
          <a:xfrm>
            <a:off x="457200" y="1097280"/>
            <a:ext cx="4023360" cy="1078992"/>
          </a:xfrm>
          <a:prstGeom prst="roundRect">
            <a:avLst>
              <a:gd name="adj" fmla="val 6780"/>
            </a:avLst>
          </a:prstGeom>
          <a:solidFill>
            <a:schemeClr val="bg2"/>
          </a:solidFill>
          <a:ln w="12700">
            <a:solidFill>
              <a:schemeClr val="bg2"/>
            </a:solidFill>
            <a:prstDash val="solid"/>
          </a:ln>
        </p:spPr>
      </p:sp>
      <p:sp>
        <p:nvSpPr>
          <p:cNvPr id="5" name="badge-166"/>
          <p:cNvSpPr/>
          <p:nvPr/>
        </p:nvSpPr>
        <p:spPr>
          <a:xfrm>
            <a:off x="594360" y="1225296"/>
            <a:ext cx="365760" cy="365760"/>
          </a:xfrm>
          <a:prstGeom prst="ellipse">
            <a:avLst/>
          </a:prstGeom>
          <a:solidFill>
            <a:schemeClr val="accent1"/>
          </a:solidFill>
          <a:ln w="12700">
            <a:solidFill>
              <a:schemeClr val="accent1"/>
            </a:solidFill>
            <a:prstDash val="solid"/>
          </a:ln>
        </p:spPr>
      </p:sp>
      <p:sp>
        <p:nvSpPr>
          <p:cNvPr id="6" name="badge-text-167"/>
          <p:cNvSpPr txBox="1"/>
          <p:nvPr/>
        </p:nvSpPr>
        <p:spPr>
          <a:xfrm>
            <a:off x="594360" y="1225296"/>
            <a:ext cx="365760" cy="365760"/>
          </a:xfrm>
          <a:prstGeom prst="rect">
            <a:avLst/>
          </a:prstGeom>
          <a:noFill/>
          <a:ln/>
        </p:spPr>
        <p:txBody>
          <a:bodyPr wrap="square" lIns="0" tIns="0" rIns="0" bIns="0" rtlCol="0" anchor="ctr"/>
          <a:lstStyle/>
          <a:p>
            <a:pPr algn="ctr" indent="0" marL="0">
              <a:buNone/>
            </a:pPr>
            <a:r>
              <a:rPr lang="en-US" sz="1400" b="1" dirty="0">
                <a:solidFill>
                  <a:schemeClr val="bg1"/>
                </a:solidFill>
              </a:rPr>
              <a:t>1</a:t>
            </a:r>
            <a:endParaRPr lang="en-US" sz="1400" dirty="0"/>
          </a:p>
        </p:txBody>
      </p:sp>
      <p:sp>
        <p:nvSpPr>
          <p:cNvPr id="7" name="text-168"/>
          <p:cNvSpPr txBox="1"/>
          <p:nvPr/>
        </p:nvSpPr>
        <p:spPr>
          <a:xfrm>
            <a:off x="1097280" y="1188720"/>
            <a:ext cx="2103120" cy="274320"/>
          </a:xfrm>
          <a:prstGeom prst="rect">
            <a:avLst/>
          </a:prstGeom>
          <a:noFill/>
          <a:ln/>
        </p:spPr>
        <p:txBody>
          <a:bodyPr wrap="square" lIns="0" tIns="0" rIns="0" bIns="0" rtlCol="0" anchor="t"/>
          <a:lstStyle/>
          <a:p>
            <a:pPr indent="0" marL="0">
              <a:buNone/>
            </a:pPr>
            <a:r>
              <a:rPr lang="en-US" sz="1450" b="1" dirty="0">
                <a:solidFill>
                  <a:schemeClr val="tx1"/>
                </a:solidFill>
                <a:latin typeface="Courier New" pitchFamily="34" charset="0"/>
                <a:ea typeface="Courier New" pitchFamily="34" charset="-122"/>
                <a:cs typeface="Courier New" pitchFamily="34" charset="-120"/>
              </a:rPr>
              <a:t>/predict/quick</a:t>
            </a:r>
            <a:endParaRPr lang="en-US" sz="1450" dirty="0"/>
          </a:p>
        </p:txBody>
      </p:sp>
      <p:sp>
        <p:nvSpPr>
          <p:cNvPr id="8" name="text-169"/>
          <p:cNvSpPr txBox="1"/>
          <p:nvPr/>
        </p:nvSpPr>
        <p:spPr>
          <a:xfrm>
            <a:off x="3200400" y="1207008"/>
            <a:ext cx="1188720" cy="274320"/>
          </a:xfrm>
          <a:prstGeom prst="rect">
            <a:avLst/>
          </a:prstGeom>
          <a:noFill/>
          <a:ln/>
        </p:spPr>
        <p:txBody>
          <a:bodyPr wrap="square" lIns="0" tIns="0" rIns="0" bIns="0" rtlCol="0" anchor="t"/>
          <a:lstStyle/>
          <a:p>
            <a:pPr algn="r" indent="0" marL="0">
              <a:buNone/>
            </a:pPr>
            <a:r>
              <a:rPr lang="en-US" sz="1150" b="1" dirty="0">
                <a:solidFill>
                  <a:schemeClr val="accent1"/>
                </a:solidFill>
              </a:rPr>
              <a:t>well under 1 s</a:t>
            </a:r>
            <a:endParaRPr lang="en-US" sz="1150" dirty="0"/>
          </a:p>
        </p:txBody>
      </p:sp>
      <p:sp>
        <p:nvSpPr>
          <p:cNvPr id="9" name="text-170"/>
          <p:cNvSpPr txBox="1"/>
          <p:nvPr/>
        </p:nvSpPr>
        <p:spPr>
          <a:xfrm>
            <a:off x="1097280" y="1554480"/>
            <a:ext cx="3291840" cy="594360"/>
          </a:xfrm>
          <a:prstGeom prst="rect">
            <a:avLst/>
          </a:prstGeom>
          <a:noFill/>
          <a:ln/>
        </p:spPr>
        <p:txBody>
          <a:bodyPr wrap="square" lIns="0" tIns="0" rIns="0" bIns="0" rtlCol="0" anchor="t"/>
          <a:lstStyle/>
          <a:p>
            <a:pPr indent="0" marL="0">
              <a:buNone/>
            </a:pPr>
            <a:r>
              <a:rPr lang="en-US" sz="1250" dirty="0">
                <a:solidFill>
                  <a:schemeClr val="tx1"/>
                </a:solidFill>
              </a:rPr>
              <a:t>Label, calibrated confidence and the first heatmap (Grad-CAM++)</a:t>
            </a:r>
            <a:endParaRPr lang="en-US" sz="1250" dirty="0"/>
          </a:p>
        </p:txBody>
      </p:sp>
      <p:sp>
        <p:nvSpPr>
          <p:cNvPr id="10" name="card-171"/>
          <p:cNvSpPr/>
          <p:nvPr/>
        </p:nvSpPr>
        <p:spPr>
          <a:xfrm>
            <a:off x="457200" y="2286000"/>
            <a:ext cx="4023360" cy="1078992"/>
          </a:xfrm>
          <a:prstGeom prst="roundRect">
            <a:avLst>
              <a:gd name="adj" fmla="val 6780"/>
            </a:avLst>
          </a:prstGeom>
          <a:solidFill>
            <a:schemeClr val="bg2"/>
          </a:solidFill>
          <a:ln w="12700">
            <a:solidFill>
              <a:schemeClr val="bg2"/>
            </a:solidFill>
            <a:prstDash val="solid"/>
          </a:ln>
        </p:spPr>
      </p:sp>
      <p:sp>
        <p:nvSpPr>
          <p:cNvPr id="11" name="badge-172"/>
          <p:cNvSpPr/>
          <p:nvPr/>
        </p:nvSpPr>
        <p:spPr>
          <a:xfrm>
            <a:off x="594360" y="2414016"/>
            <a:ext cx="365760" cy="365760"/>
          </a:xfrm>
          <a:prstGeom prst="ellipse">
            <a:avLst/>
          </a:prstGeom>
          <a:solidFill>
            <a:schemeClr val="accent1"/>
          </a:solidFill>
          <a:ln w="12700">
            <a:solidFill>
              <a:schemeClr val="accent1"/>
            </a:solidFill>
            <a:prstDash val="solid"/>
          </a:ln>
        </p:spPr>
      </p:sp>
      <p:sp>
        <p:nvSpPr>
          <p:cNvPr id="12" name="badge-text-173"/>
          <p:cNvSpPr txBox="1"/>
          <p:nvPr/>
        </p:nvSpPr>
        <p:spPr>
          <a:xfrm>
            <a:off x="594360" y="2414016"/>
            <a:ext cx="365760" cy="365760"/>
          </a:xfrm>
          <a:prstGeom prst="rect">
            <a:avLst/>
          </a:prstGeom>
          <a:noFill/>
          <a:ln/>
        </p:spPr>
        <p:txBody>
          <a:bodyPr wrap="square" lIns="0" tIns="0" rIns="0" bIns="0" rtlCol="0" anchor="ctr"/>
          <a:lstStyle/>
          <a:p>
            <a:pPr algn="ctr" indent="0" marL="0">
              <a:buNone/>
            </a:pPr>
            <a:r>
              <a:rPr lang="en-US" sz="1400" b="1" dirty="0">
                <a:solidFill>
                  <a:schemeClr val="bg1"/>
                </a:solidFill>
              </a:rPr>
              <a:t>2</a:t>
            </a:r>
            <a:endParaRPr lang="en-US" sz="1400" dirty="0"/>
          </a:p>
        </p:txBody>
      </p:sp>
      <p:sp>
        <p:nvSpPr>
          <p:cNvPr id="13" name="text-174"/>
          <p:cNvSpPr txBox="1"/>
          <p:nvPr/>
        </p:nvSpPr>
        <p:spPr>
          <a:xfrm>
            <a:off x="1097280" y="2377440"/>
            <a:ext cx="2103120" cy="274320"/>
          </a:xfrm>
          <a:prstGeom prst="rect">
            <a:avLst/>
          </a:prstGeom>
          <a:noFill/>
          <a:ln/>
        </p:spPr>
        <p:txBody>
          <a:bodyPr wrap="square" lIns="0" tIns="0" rIns="0" bIns="0" rtlCol="0" anchor="t"/>
          <a:lstStyle/>
          <a:p>
            <a:pPr indent="0" marL="0">
              <a:buNone/>
            </a:pPr>
            <a:r>
              <a:rPr lang="en-US" sz="1450" b="1" dirty="0">
                <a:solidFill>
                  <a:schemeClr val="tx1"/>
                </a:solidFill>
                <a:latin typeface="Courier New" pitchFamily="34" charset="0"/>
                <a:ea typeface="Courier New" pitchFamily="34" charset="-122"/>
                <a:cs typeface="Courier New" pitchFamily="34" charset="-120"/>
              </a:rPr>
              <a:t>/predict/report</a:t>
            </a:r>
            <a:endParaRPr lang="en-US" sz="1450" dirty="0"/>
          </a:p>
        </p:txBody>
      </p:sp>
      <p:sp>
        <p:nvSpPr>
          <p:cNvPr id="14" name="text-175"/>
          <p:cNvSpPr txBox="1"/>
          <p:nvPr/>
        </p:nvSpPr>
        <p:spPr>
          <a:xfrm>
            <a:off x="3200400" y="2395728"/>
            <a:ext cx="1188720" cy="274320"/>
          </a:xfrm>
          <a:prstGeom prst="rect">
            <a:avLst/>
          </a:prstGeom>
          <a:noFill/>
          <a:ln/>
        </p:spPr>
        <p:txBody>
          <a:bodyPr wrap="square" lIns="0" tIns="0" rIns="0" bIns="0" rtlCol="0" anchor="t"/>
          <a:lstStyle/>
          <a:p>
            <a:pPr algn="r" indent="0" marL="0">
              <a:buNone/>
            </a:pPr>
            <a:r>
              <a:rPr lang="en-US" sz="1150" b="1" dirty="0">
                <a:solidFill>
                  <a:schemeClr val="accent1"/>
                </a:solidFill>
              </a:rPr>
              <a:t>about 3 s</a:t>
            </a:r>
            <a:endParaRPr lang="en-US" sz="1150" dirty="0"/>
          </a:p>
        </p:txBody>
      </p:sp>
      <p:sp>
        <p:nvSpPr>
          <p:cNvPr id="15" name="text-176"/>
          <p:cNvSpPr txBox="1"/>
          <p:nvPr/>
        </p:nvSpPr>
        <p:spPr>
          <a:xfrm>
            <a:off x="1097280" y="2743200"/>
            <a:ext cx="3291840" cy="594360"/>
          </a:xfrm>
          <a:prstGeom prst="rect">
            <a:avLst/>
          </a:prstGeom>
          <a:noFill/>
          <a:ln/>
        </p:spPr>
        <p:txBody>
          <a:bodyPr wrap="square" lIns="0" tIns="0" rIns="0" bIns="0" rtlCol="0" anchor="t"/>
          <a:lstStyle/>
          <a:p>
            <a:pPr indent="0" marL="0">
              <a:buNone/>
            </a:pPr>
            <a:r>
              <a:rPr lang="en-US" sz="1250" dirty="0">
                <a:solidFill>
                  <a:schemeClr val="tx1"/>
                </a:solidFill>
              </a:rPr>
              <a:t>7 explanations, 6 quality scores, leaf damage, concepts, uncertainty</a:t>
            </a:r>
            <a:endParaRPr lang="en-US" sz="1250" dirty="0"/>
          </a:p>
        </p:txBody>
      </p:sp>
      <p:sp>
        <p:nvSpPr>
          <p:cNvPr id="16" name="card-177"/>
          <p:cNvSpPr/>
          <p:nvPr/>
        </p:nvSpPr>
        <p:spPr>
          <a:xfrm>
            <a:off x="457200" y="3474720"/>
            <a:ext cx="4023360" cy="1078992"/>
          </a:xfrm>
          <a:prstGeom prst="roundRect">
            <a:avLst>
              <a:gd name="adj" fmla="val 6780"/>
            </a:avLst>
          </a:prstGeom>
          <a:solidFill>
            <a:schemeClr val="bg2"/>
          </a:solidFill>
          <a:ln w="12700">
            <a:solidFill>
              <a:schemeClr val="bg2"/>
            </a:solidFill>
            <a:prstDash val="solid"/>
          </a:ln>
        </p:spPr>
      </p:sp>
      <p:sp>
        <p:nvSpPr>
          <p:cNvPr id="17" name="badge-178"/>
          <p:cNvSpPr/>
          <p:nvPr/>
        </p:nvSpPr>
        <p:spPr>
          <a:xfrm>
            <a:off x="594360" y="3602736"/>
            <a:ext cx="365760" cy="365760"/>
          </a:xfrm>
          <a:prstGeom prst="ellipse">
            <a:avLst/>
          </a:prstGeom>
          <a:solidFill>
            <a:schemeClr val="accent1"/>
          </a:solidFill>
          <a:ln w="12700">
            <a:solidFill>
              <a:schemeClr val="accent1"/>
            </a:solidFill>
            <a:prstDash val="solid"/>
          </a:ln>
        </p:spPr>
      </p:sp>
      <p:sp>
        <p:nvSpPr>
          <p:cNvPr id="18" name="badge-text-179"/>
          <p:cNvSpPr txBox="1"/>
          <p:nvPr/>
        </p:nvSpPr>
        <p:spPr>
          <a:xfrm>
            <a:off x="594360" y="3602736"/>
            <a:ext cx="365760" cy="365760"/>
          </a:xfrm>
          <a:prstGeom prst="rect">
            <a:avLst/>
          </a:prstGeom>
          <a:noFill/>
          <a:ln/>
        </p:spPr>
        <p:txBody>
          <a:bodyPr wrap="square" lIns="0" tIns="0" rIns="0" bIns="0" rtlCol="0" anchor="ctr"/>
          <a:lstStyle/>
          <a:p>
            <a:pPr algn="ctr" indent="0" marL="0">
              <a:buNone/>
            </a:pPr>
            <a:r>
              <a:rPr lang="en-US" sz="1400" b="1" dirty="0">
                <a:solidFill>
                  <a:schemeClr val="bg1"/>
                </a:solidFill>
              </a:rPr>
              <a:t>3</a:t>
            </a:r>
            <a:endParaRPr lang="en-US" sz="1400" dirty="0"/>
          </a:p>
        </p:txBody>
      </p:sp>
      <p:sp>
        <p:nvSpPr>
          <p:cNvPr id="19" name="text-180"/>
          <p:cNvSpPr txBox="1"/>
          <p:nvPr/>
        </p:nvSpPr>
        <p:spPr>
          <a:xfrm>
            <a:off x="1097280" y="3566160"/>
            <a:ext cx="2103120" cy="274320"/>
          </a:xfrm>
          <a:prstGeom prst="rect">
            <a:avLst/>
          </a:prstGeom>
          <a:noFill/>
          <a:ln/>
        </p:spPr>
        <p:txBody>
          <a:bodyPr wrap="square" lIns="0" tIns="0" rIns="0" bIns="0" rtlCol="0" anchor="t"/>
          <a:lstStyle/>
          <a:p>
            <a:pPr indent="0" marL="0">
              <a:buNone/>
            </a:pPr>
            <a:r>
              <a:rPr lang="en-US" sz="1450" b="1" dirty="0">
                <a:solidFill>
                  <a:schemeClr val="tx1"/>
                </a:solidFill>
                <a:latin typeface="Courier New" pitchFamily="34" charset="0"/>
                <a:ea typeface="Courier New" pitchFamily="34" charset="-122"/>
                <a:cs typeface="Courier New" pitchFamily="34" charset="-120"/>
              </a:rPr>
              <a:t>/predict/insight</a:t>
            </a:r>
            <a:endParaRPr lang="en-US" sz="1450" dirty="0"/>
          </a:p>
        </p:txBody>
      </p:sp>
      <p:sp>
        <p:nvSpPr>
          <p:cNvPr id="20" name="text-181"/>
          <p:cNvSpPr txBox="1"/>
          <p:nvPr/>
        </p:nvSpPr>
        <p:spPr>
          <a:xfrm>
            <a:off x="3200400" y="3584448"/>
            <a:ext cx="1188720" cy="274320"/>
          </a:xfrm>
          <a:prstGeom prst="rect">
            <a:avLst/>
          </a:prstGeom>
          <a:noFill/>
          <a:ln/>
        </p:spPr>
        <p:txBody>
          <a:bodyPr wrap="square" lIns="0" tIns="0" rIns="0" bIns="0" rtlCol="0" anchor="t"/>
          <a:lstStyle/>
          <a:p>
            <a:pPr algn="r" indent="0" marL="0">
              <a:buNone/>
            </a:pPr>
            <a:r>
              <a:rPr lang="en-US" sz="1150" b="1" dirty="0">
                <a:solidFill>
                  <a:schemeClr val="accent1"/>
                </a:solidFill>
              </a:rPr>
              <a:t>about 2 s</a:t>
            </a:r>
            <a:endParaRPr lang="en-US" sz="1150" dirty="0"/>
          </a:p>
        </p:txBody>
      </p:sp>
      <p:sp>
        <p:nvSpPr>
          <p:cNvPr id="21" name="text-182"/>
          <p:cNvSpPr txBox="1"/>
          <p:nvPr/>
        </p:nvSpPr>
        <p:spPr>
          <a:xfrm>
            <a:off x="1097280" y="3931920"/>
            <a:ext cx="3291840" cy="594360"/>
          </a:xfrm>
          <a:prstGeom prst="rect">
            <a:avLst/>
          </a:prstGeom>
          <a:noFill/>
          <a:ln/>
        </p:spPr>
        <p:txBody>
          <a:bodyPr wrap="square" lIns="0" tIns="0" rIns="0" bIns="0" rtlCol="0" anchor="t"/>
          <a:lstStyle/>
          <a:p>
            <a:pPr indent="0" marL="0">
              <a:buNone/>
            </a:pPr>
            <a:r>
              <a:rPr lang="en-US" sz="1250" dirty="0">
                <a:solidFill>
                  <a:schemeClr val="tx1"/>
                </a:solidFill>
              </a:rPr>
              <a:t>Groq-hosted LLM writes guidance from this image's findings</a:t>
            </a:r>
            <a:endParaRPr lang="en-US" sz="1250" dirty="0"/>
          </a:p>
        </p:txBody>
      </p:sp>
      <p:sp>
        <p:nvSpPr>
          <p:cNvPr id="22" name="text-183"/>
          <p:cNvSpPr txBox="1"/>
          <p:nvPr/>
        </p:nvSpPr>
        <p:spPr>
          <a:xfrm>
            <a:off x="457200" y="4572000"/>
            <a:ext cx="4114800" cy="274320"/>
          </a:xfrm>
          <a:prstGeom prst="rect">
            <a:avLst/>
          </a:prstGeom>
          <a:noFill/>
          <a:ln/>
        </p:spPr>
        <p:txBody>
          <a:bodyPr wrap="square" lIns="0" tIns="0" rIns="0" bIns="0" rtlCol="0" anchor="t"/>
          <a:lstStyle/>
          <a:p>
            <a:pPr indent="0" marL="0">
              <a:buNone/>
            </a:pPr>
            <a:r>
              <a:rPr lang="en-US" sz="1050" dirty="0">
                <a:solidFill>
                  <a:schemeClr val="accent6"/>
                </a:solidFill>
              </a:rPr>
              <a:t>FastAPI + PyTorch backend · React + Vite frontend · Apple MPS, CUDA or CPU</a:t>
            </a:r>
            <a:endParaRPr lang="en-US" sz="1050" dirty="0"/>
          </a:p>
        </p:txBody>
      </p:sp>
      <p:sp>
        <p:nvSpPr>
          <p:cNvPr id="25" name="Slide Number Placeholder 0"/>
          <p:cNvSpPr>
            <a:spLocks noGrp="1"/>
          </p:cNvSpPr>
          <p:nvPr>
            <p:ph type="sldNum" sz="quarter" idx="4294967295"/>
          </p:nvPr>
        </p:nvSpPr>
        <p:spPr>
          <a:xfrm>
            <a:off x="8229600" y="4828032"/>
            <a:ext cx="457200" cy="22860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defRPr>
            </a:lvl1pPr>
          </a:lstStyle>
          <a:p>
            <a:pPr algn="r"/>
            <a:fld id="{F7021451-1387-4CA6-816F-3879F97B5CBC}" type="slidenum">
              <a:rPr b="0" lang="en-US"/>
              <a:t>13</a:t>
            </a:fld>
            <a:endParaRPr lang="en-US"/>
          </a:p>
        </p:txBody>
      </p:sp>
      <p:pic>
        <p:nvPicPr>
          <p:cNvPr id="26" name="Picture 25" descr="chart_slide13_latency.png"/>
          <p:cNvPicPr>
            <a:picLocks noChangeAspect="1"/>
          </p:cNvPicPr>
          <p:nvPr/>
        </p:nvPicPr>
        <p:blipFill>
          <a:blip r:embed="rId4"/>
          <a:stretch>
            <a:fillRect/>
          </a:stretch>
        </p:blipFill>
        <p:spPr>
          <a:xfrm>
            <a:off x="4709160" y="1051560"/>
            <a:ext cx="3977639" cy="3611880"/>
          </a:xfrm>
          <a:prstGeom prst="rect">
            <a:avLst/>
          </a:prstGeom>
        </p:spPr>
      </p:pic>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Text 0"/>
          <p:cNvSpPr/>
          <p:nvPr>
            <p:ph idx="100" type="title" hasCustomPrompt="1"/>
          </p:nvPr>
        </p:nvSpPr>
        <p:spPr>
          <a:xfrm>
            <a:off x="457200" y="256032"/>
            <a:ext cx="8229600" cy="685800"/>
          </a:xfrm>
          <a:prstGeom prst="rect">
            <a:avLst/>
          </a:prstGeom>
          <a:noFill/>
          <a:ln/>
        </p:spPr>
        <p:txBody>
          <a:bodyPr wrap="square" lIns="0" tIns="0" rIns="0" bIns="0" rtlCol="0" anchor="ctr"/>
          <a:lstStyle/>
          <a:p>
            <a:pPr algn="l" indent="0" marL="0">
              <a:buNone/>
            </a:pPr>
            <a:r>
              <a:rPr lang="en-US" sz="2800" b="1" dirty="0">
                <a:solidFill>
                  <a:schemeClr val="tx1"/>
                </a:solidFill>
              </a:rPr>
              <a:t>The app: diagnosis and seven explanations</a:t>
            </a:r>
            <a:endParaRPr lang="en-US" sz="2800" dirty="0"/>
          </a:p>
        </p:txBody>
      </p:sp>
      <p:sp>
        <p:nvSpPr>
          <p:cNvPr id="4" name="frame-184"/>
          <p:cNvSpPr/>
          <p:nvPr/>
        </p:nvSpPr>
        <p:spPr>
          <a:xfrm>
            <a:off x="588239" y="1097280"/>
            <a:ext cx="4127041" cy="3611880"/>
          </a:xfrm>
          <a:prstGeom prst="roundRect">
            <a:avLst>
              <a:gd name="adj" fmla="val 1519"/>
            </a:avLst>
          </a:prstGeom>
          <a:solidFill>
            <a:srgbClr val="DCE7E0"/>
          </a:solidFill>
          <a:ln w="12700">
            <a:solidFill>
              <a:srgbClr val="DCE7E0"/>
            </a:solidFill>
            <a:prstDash val="solid"/>
          </a:ln>
        </p:spPr>
      </p:sp>
      <p:pic>
        <p:nvPicPr>
          <p:cNvPr id="5" name="screenshot-185" descr="/private/tmp/claude-501/-Users-parthsharma-Desktop-XAI-PDS/20cb58d2-ae23-468c-9c17-7a209704af59/scratchpad/deck/assets/app_heat.jpg">    </p:cNvPr>
          <p:cNvPicPr>
            <a:picLocks noChangeAspect="1"/>
          </p:cNvPicPr>
          <p:nvPr/>
        </p:nvPicPr>
        <p:blipFill>
          <a:blip r:embed="rId1"/>
          <a:stretch>
            <a:fillRect/>
          </a:stretch>
        </p:blipFill>
        <p:spPr>
          <a:xfrm>
            <a:off x="643103" y="1152144"/>
            <a:ext cx="4017313" cy="3502152"/>
          </a:xfrm>
          <a:prstGeom prst="rect">
            <a:avLst/>
          </a:prstGeom>
        </p:spPr>
      </p:pic>
      <p:sp>
        <p:nvSpPr>
          <p:cNvPr id="6" name="frame-186"/>
          <p:cNvSpPr/>
          <p:nvPr/>
        </p:nvSpPr>
        <p:spPr>
          <a:xfrm>
            <a:off x="5029200" y="1097280"/>
            <a:ext cx="3657600" cy="800520"/>
          </a:xfrm>
          <a:prstGeom prst="roundRect">
            <a:avLst>
              <a:gd name="adj" fmla="val 6854"/>
            </a:avLst>
          </a:prstGeom>
          <a:solidFill>
            <a:srgbClr val="DCE7E0"/>
          </a:solidFill>
          <a:ln w="12700">
            <a:solidFill>
              <a:srgbClr val="DCE7E0"/>
            </a:solidFill>
            <a:prstDash val="solid"/>
          </a:ln>
        </p:spPr>
      </p:sp>
      <p:pic>
        <p:nvPicPr>
          <p:cNvPr id="7" name="screenshot-187" descr="/private/tmp/claude-501/-Users-parthsharma-Desktop-XAI-PDS/20cb58d2-ae23-468c-9c17-7a209704af59/scratchpad/deck/assets/app_diag.jpg">    </p:cNvPr>
          <p:cNvPicPr>
            <a:picLocks noChangeAspect="1"/>
          </p:cNvPicPr>
          <p:nvPr/>
        </p:nvPicPr>
        <p:blipFill>
          <a:blip r:embed="rId2"/>
          <a:stretch>
            <a:fillRect/>
          </a:stretch>
        </p:blipFill>
        <p:spPr>
          <a:xfrm>
            <a:off x="5084064" y="1152144"/>
            <a:ext cx="3547872" cy="690792"/>
          </a:xfrm>
          <a:prstGeom prst="rect">
            <a:avLst/>
          </a:prstGeom>
        </p:spPr>
      </p:pic>
      <p:sp>
        <p:nvSpPr>
          <p:cNvPr id="8" name="badge-188"/>
          <p:cNvSpPr/>
          <p:nvPr/>
        </p:nvSpPr>
        <p:spPr>
          <a:xfrm>
            <a:off x="5029200" y="2130552"/>
            <a:ext cx="347472" cy="347472"/>
          </a:xfrm>
          <a:prstGeom prst="ellipse">
            <a:avLst/>
          </a:prstGeom>
          <a:solidFill>
            <a:schemeClr val="accent1"/>
          </a:solidFill>
          <a:ln w="12700">
            <a:solidFill>
              <a:schemeClr val="accent1"/>
            </a:solidFill>
            <a:prstDash val="solid"/>
          </a:ln>
        </p:spPr>
      </p:sp>
      <p:sp>
        <p:nvSpPr>
          <p:cNvPr id="9" name="badge-text-189"/>
          <p:cNvSpPr txBox="1"/>
          <p:nvPr/>
        </p:nvSpPr>
        <p:spPr>
          <a:xfrm>
            <a:off x="5029200" y="2130552"/>
            <a:ext cx="347472" cy="347472"/>
          </a:xfrm>
          <a:prstGeom prst="rect">
            <a:avLst/>
          </a:prstGeom>
          <a:noFill/>
          <a:ln/>
        </p:spPr>
        <p:txBody>
          <a:bodyPr wrap="square" lIns="0" tIns="0" rIns="0" bIns="0" rtlCol="0" anchor="ctr"/>
          <a:lstStyle/>
          <a:p>
            <a:pPr algn="ctr" indent="0" marL="0">
              <a:buNone/>
            </a:pPr>
            <a:r>
              <a:rPr lang="en-US" sz="1400" b="1" dirty="0">
                <a:solidFill>
                  <a:schemeClr val="bg1"/>
                </a:solidFill>
              </a:rPr>
              <a:t>1</a:t>
            </a:r>
            <a:endParaRPr lang="en-US" sz="1400" dirty="0"/>
          </a:p>
        </p:txBody>
      </p:sp>
      <p:sp>
        <p:nvSpPr>
          <p:cNvPr id="10" name="text-190"/>
          <p:cNvSpPr txBox="1"/>
          <p:nvPr/>
        </p:nvSpPr>
        <p:spPr>
          <a:xfrm>
            <a:off x="5532120" y="2103120"/>
            <a:ext cx="3108960" cy="274320"/>
          </a:xfrm>
          <a:prstGeom prst="rect">
            <a:avLst/>
          </a:prstGeom>
          <a:noFill/>
          <a:ln/>
        </p:spPr>
        <p:txBody>
          <a:bodyPr wrap="square" lIns="0" tIns="0" rIns="0" bIns="0" rtlCol="0" anchor="t"/>
          <a:lstStyle/>
          <a:p>
            <a:pPr indent="0" marL="0">
              <a:buNone/>
            </a:pPr>
            <a:r>
              <a:rPr lang="en-US" sz="1450" b="1" dirty="0">
                <a:solidFill>
                  <a:schemeClr val="tx1"/>
                </a:solidFill>
              </a:rPr>
              <a:t>Diagnosis</a:t>
            </a:r>
            <a:endParaRPr lang="en-US" sz="1450" dirty="0"/>
          </a:p>
        </p:txBody>
      </p:sp>
      <p:sp>
        <p:nvSpPr>
          <p:cNvPr id="11" name="text-191"/>
          <p:cNvSpPr txBox="1"/>
          <p:nvPr/>
        </p:nvSpPr>
        <p:spPr>
          <a:xfrm>
            <a:off x="5532120" y="2377440"/>
            <a:ext cx="3108960" cy="548640"/>
          </a:xfrm>
          <a:prstGeom prst="rect">
            <a:avLst/>
          </a:prstGeom>
          <a:noFill/>
          <a:ln/>
        </p:spPr>
        <p:txBody>
          <a:bodyPr wrap="square" lIns="0" tIns="0" rIns="0" bIns="0" rtlCol="0" anchor="t"/>
          <a:lstStyle/>
          <a:p>
            <a:pPr indent="0" marL="0">
              <a:buNone/>
            </a:pPr>
            <a:r>
              <a:rPr lang="en-US" sz="1200" dirty="0">
                <a:solidFill>
                  <a:schemeClr val="accent6"/>
                </a:solidFill>
              </a:rPr>
              <a:t>Disease name, calibrated confidence and the diagnosis time.</a:t>
            </a:r>
            <a:endParaRPr lang="en-US" sz="1200" dirty="0"/>
          </a:p>
        </p:txBody>
      </p:sp>
      <p:sp>
        <p:nvSpPr>
          <p:cNvPr id="12" name="badge-192"/>
          <p:cNvSpPr/>
          <p:nvPr/>
        </p:nvSpPr>
        <p:spPr>
          <a:xfrm>
            <a:off x="5029200" y="3063240"/>
            <a:ext cx="347472" cy="347472"/>
          </a:xfrm>
          <a:prstGeom prst="ellipse">
            <a:avLst/>
          </a:prstGeom>
          <a:solidFill>
            <a:schemeClr val="accent1"/>
          </a:solidFill>
          <a:ln w="12700">
            <a:solidFill>
              <a:schemeClr val="accent1"/>
            </a:solidFill>
            <a:prstDash val="solid"/>
          </a:ln>
        </p:spPr>
      </p:sp>
      <p:sp>
        <p:nvSpPr>
          <p:cNvPr id="13" name="badge-text-193"/>
          <p:cNvSpPr txBox="1"/>
          <p:nvPr/>
        </p:nvSpPr>
        <p:spPr>
          <a:xfrm>
            <a:off x="5029200" y="3063240"/>
            <a:ext cx="347472" cy="347472"/>
          </a:xfrm>
          <a:prstGeom prst="rect">
            <a:avLst/>
          </a:prstGeom>
          <a:noFill/>
          <a:ln/>
        </p:spPr>
        <p:txBody>
          <a:bodyPr wrap="square" lIns="0" tIns="0" rIns="0" bIns="0" rtlCol="0" anchor="ctr"/>
          <a:lstStyle/>
          <a:p>
            <a:pPr algn="ctr" indent="0" marL="0">
              <a:buNone/>
            </a:pPr>
            <a:r>
              <a:rPr lang="en-US" sz="1400" b="1" dirty="0">
                <a:solidFill>
                  <a:schemeClr val="bg1"/>
                </a:solidFill>
              </a:rPr>
              <a:t>2</a:t>
            </a:r>
            <a:endParaRPr lang="en-US" sz="1400" dirty="0"/>
          </a:p>
        </p:txBody>
      </p:sp>
      <p:sp>
        <p:nvSpPr>
          <p:cNvPr id="14" name="text-194"/>
          <p:cNvSpPr txBox="1"/>
          <p:nvPr/>
        </p:nvSpPr>
        <p:spPr>
          <a:xfrm>
            <a:off x="5532120" y="3035808"/>
            <a:ext cx="3108960" cy="274320"/>
          </a:xfrm>
          <a:prstGeom prst="rect">
            <a:avLst/>
          </a:prstGeom>
          <a:noFill/>
          <a:ln/>
        </p:spPr>
        <p:txBody>
          <a:bodyPr wrap="square" lIns="0" tIns="0" rIns="0" bIns="0" rtlCol="0" anchor="t"/>
          <a:lstStyle/>
          <a:p>
            <a:pPr indent="0" marL="0">
              <a:buNone/>
            </a:pPr>
            <a:r>
              <a:rPr lang="en-US" sz="1450" b="1" dirty="0">
                <a:solidFill>
                  <a:schemeClr val="tx1"/>
                </a:solidFill>
              </a:rPr>
              <a:t>Seven views</a:t>
            </a:r>
            <a:endParaRPr lang="en-US" sz="1450" dirty="0"/>
          </a:p>
        </p:txBody>
      </p:sp>
      <p:sp>
        <p:nvSpPr>
          <p:cNvPr id="15" name="text-195"/>
          <p:cNvSpPr txBox="1"/>
          <p:nvPr/>
        </p:nvSpPr>
        <p:spPr>
          <a:xfrm>
            <a:off x="5532120" y="3310128"/>
            <a:ext cx="3108960" cy="548640"/>
          </a:xfrm>
          <a:prstGeom prst="rect">
            <a:avLst/>
          </a:prstGeom>
          <a:noFill/>
          <a:ln/>
        </p:spPr>
        <p:txBody>
          <a:bodyPr wrap="square" lIns="0" tIns="0" rIns="0" bIns="0" rtlCol="0" anchor="t"/>
          <a:lstStyle/>
          <a:p>
            <a:pPr indent="0" marL="0">
              <a:buNone/>
            </a:pPr>
            <a:r>
              <a:rPr lang="en-US" sz="1200" dirty="0">
                <a:solidFill>
                  <a:schemeClr val="accent6"/>
                </a:solidFill>
              </a:rPr>
              <a:t>Grad-CAM++, Grad-CAM, Saliency, SmoothGrad, Integrated Gradients, SHAP and LIME on the same photo.</a:t>
            </a:r>
            <a:endParaRPr lang="en-US" sz="1200" dirty="0"/>
          </a:p>
        </p:txBody>
      </p:sp>
      <p:sp>
        <p:nvSpPr>
          <p:cNvPr id="16" name="badge-196"/>
          <p:cNvSpPr/>
          <p:nvPr/>
        </p:nvSpPr>
        <p:spPr>
          <a:xfrm>
            <a:off x="5029200" y="3995928"/>
            <a:ext cx="347472" cy="347472"/>
          </a:xfrm>
          <a:prstGeom prst="ellipse">
            <a:avLst/>
          </a:prstGeom>
          <a:solidFill>
            <a:schemeClr val="accent1"/>
          </a:solidFill>
          <a:ln w="12700">
            <a:solidFill>
              <a:schemeClr val="accent1"/>
            </a:solidFill>
            <a:prstDash val="solid"/>
          </a:ln>
        </p:spPr>
      </p:sp>
      <p:sp>
        <p:nvSpPr>
          <p:cNvPr id="17" name="badge-text-197"/>
          <p:cNvSpPr txBox="1"/>
          <p:nvPr/>
        </p:nvSpPr>
        <p:spPr>
          <a:xfrm>
            <a:off x="5029200" y="3995928"/>
            <a:ext cx="347472" cy="347472"/>
          </a:xfrm>
          <a:prstGeom prst="rect">
            <a:avLst/>
          </a:prstGeom>
          <a:noFill/>
          <a:ln/>
        </p:spPr>
        <p:txBody>
          <a:bodyPr wrap="square" lIns="0" tIns="0" rIns="0" bIns="0" rtlCol="0" anchor="ctr"/>
          <a:lstStyle/>
          <a:p>
            <a:pPr algn="ctr" indent="0" marL="0">
              <a:buNone/>
            </a:pPr>
            <a:r>
              <a:rPr lang="en-US" sz="1400" b="1" dirty="0">
                <a:solidFill>
                  <a:schemeClr val="bg1"/>
                </a:solidFill>
              </a:rPr>
              <a:t>3</a:t>
            </a:r>
            <a:endParaRPr lang="en-US" sz="1400" dirty="0"/>
          </a:p>
        </p:txBody>
      </p:sp>
      <p:sp>
        <p:nvSpPr>
          <p:cNvPr id="18" name="text-198"/>
          <p:cNvSpPr txBox="1"/>
          <p:nvPr/>
        </p:nvSpPr>
        <p:spPr>
          <a:xfrm>
            <a:off x="5532120" y="3968496"/>
            <a:ext cx="3108960" cy="274320"/>
          </a:xfrm>
          <a:prstGeom prst="rect">
            <a:avLst/>
          </a:prstGeom>
          <a:noFill/>
          <a:ln/>
        </p:spPr>
        <p:txBody>
          <a:bodyPr wrap="square" lIns="0" tIns="0" rIns="0" bIns="0" rtlCol="0" anchor="t"/>
          <a:lstStyle/>
          <a:p>
            <a:pPr indent="0" marL="0">
              <a:buNone/>
            </a:pPr>
            <a:r>
              <a:rPr lang="en-US" sz="1450" b="1" dirty="0">
                <a:solidFill>
                  <a:schemeClr val="tx1"/>
                </a:solidFill>
              </a:rPr>
              <a:t>Explanation text</a:t>
            </a:r>
            <a:endParaRPr lang="en-US" sz="1450" dirty="0"/>
          </a:p>
        </p:txBody>
      </p:sp>
      <p:sp>
        <p:nvSpPr>
          <p:cNvPr id="19" name="text-199"/>
          <p:cNvSpPr txBox="1"/>
          <p:nvPr/>
        </p:nvSpPr>
        <p:spPr>
          <a:xfrm>
            <a:off x="5532120" y="4242816"/>
            <a:ext cx="3108960" cy="548640"/>
          </a:xfrm>
          <a:prstGeom prst="rect">
            <a:avLst/>
          </a:prstGeom>
          <a:noFill/>
          <a:ln/>
        </p:spPr>
        <p:txBody>
          <a:bodyPr wrap="square" lIns="0" tIns="0" rIns="0" bIns="0" rtlCol="0" anchor="t"/>
          <a:lstStyle/>
          <a:p>
            <a:pPr indent="0" marL="0">
              <a:buNone/>
            </a:pPr>
            <a:r>
              <a:rPr lang="en-US" sz="1200" dirty="0">
                <a:solidFill>
                  <a:schemeClr val="accent6"/>
                </a:solidFill>
              </a:rPr>
              <a:t>Click a view to read what that method shows for this leaf.</a:t>
            </a:r>
            <a:endParaRPr lang="en-US" sz="1200" dirty="0"/>
          </a:p>
        </p:txBody>
      </p:sp>
      <p:sp>
        <p:nvSpPr>
          <p:cNvPr id="25" name="Slide Number Placeholder 0"/>
          <p:cNvSpPr>
            <a:spLocks noGrp="1"/>
          </p:cNvSpPr>
          <p:nvPr>
            <p:ph type="sldNum" sz="quarter" idx="4294967295"/>
          </p:nvPr>
        </p:nvSpPr>
        <p:spPr>
          <a:xfrm>
            <a:off x="8229600" y="4828032"/>
            <a:ext cx="457200" cy="22860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defRPr>
            </a:lvl1pPr>
          </a:lstStyle>
          <a:p>
            <a:pPr algn="r"/>
            <a:fld id="{F7021451-1387-4CA6-816F-3879F97B5CBC}" type="slidenum">
              <a:rPr b="0" lang="en-US"/>
              <a:t>14</a:t>
            </a:fld>
            <a:endParaRPr lang="en-US"/>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2" name="Text 0"/>
          <p:cNvSpPr/>
          <p:nvPr>
            <p:ph idx="100" type="title" hasCustomPrompt="1"/>
          </p:nvPr>
        </p:nvSpPr>
        <p:spPr>
          <a:xfrm>
            <a:off x="457200" y="256032"/>
            <a:ext cx="8229600" cy="685800"/>
          </a:xfrm>
          <a:prstGeom prst="rect">
            <a:avLst/>
          </a:prstGeom>
          <a:noFill/>
          <a:ln/>
        </p:spPr>
        <p:txBody>
          <a:bodyPr wrap="square" lIns="0" tIns="0" rIns="0" bIns="0" rtlCol="0" anchor="ctr"/>
          <a:lstStyle/>
          <a:p>
            <a:pPr algn="l" indent="0" marL="0">
              <a:buNone/>
            </a:pPr>
            <a:r>
              <a:rPr lang="en-US" sz="2800" b="1" dirty="0">
                <a:solidFill>
                  <a:schemeClr val="tx1"/>
                </a:solidFill>
              </a:rPr>
              <a:t>The app: how severe is it?</a:t>
            </a:r>
            <a:endParaRPr lang="en-US" sz="2800" dirty="0"/>
          </a:p>
        </p:txBody>
      </p:sp>
      <p:sp>
        <p:nvSpPr>
          <p:cNvPr id="4" name="frame-200"/>
          <p:cNvSpPr/>
          <p:nvPr/>
        </p:nvSpPr>
        <p:spPr>
          <a:xfrm>
            <a:off x="457200" y="1097280"/>
            <a:ext cx="5669280" cy="3206725"/>
          </a:xfrm>
          <a:prstGeom prst="roundRect">
            <a:avLst>
              <a:gd name="adj" fmla="val 1711"/>
            </a:avLst>
          </a:prstGeom>
          <a:solidFill>
            <a:srgbClr val="DCE7E0"/>
          </a:solidFill>
          <a:ln w="12700">
            <a:solidFill>
              <a:srgbClr val="DCE7E0"/>
            </a:solidFill>
            <a:prstDash val="solid"/>
          </a:ln>
        </p:spPr>
      </p:sp>
      <p:pic>
        <p:nvPicPr>
          <p:cNvPr id="5" name="screenshot-201" descr="/private/tmp/claude-501/-Users-parthsharma-Desktop-XAI-PDS/20cb58d2-ae23-468c-9c17-7a209704af59/scratchpad/deck/assets/app_sev.jpg">    </p:cNvPr>
          <p:cNvPicPr>
            <a:picLocks noChangeAspect="1"/>
          </p:cNvPicPr>
          <p:nvPr/>
        </p:nvPicPr>
        <p:blipFill>
          <a:blip r:embed="rId1"/>
          <a:stretch>
            <a:fillRect/>
          </a:stretch>
        </p:blipFill>
        <p:spPr>
          <a:xfrm>
            <a:off x="512064" y="1152144"/>
            <a:ext cx="5559552" cy="3096997"/>
          </a:xfrm>
          <a:prstGeom prst="rect">
            <a:avLst/>
          </a:prstGeom>
        </p:spPr>
      </p:pic>
      <p:sp>
        <p:nvSpPr>
          <p:cNvPr id="6" name="card-202"/>
          <p:cNvSpPr/>
          <p:nvPr/>
        </p:nvSpPr>
        <p:spPr>
          <a:xfrm>
            <a:off x="6355080" y="1188720"/>
            <a:ext cx="2331720" cy="1024128"/>
          </a:xfrm>
          <a:prstGeom prst="roundRect">
            <a:avLst>
              <a:gd name="adj" fmla="val 7143"/>
            </a:avLst>
          </a:prstGeom>
          <a:solidFill>
            <a:schemeClr val="bg2"/>
          </a:solidFill>
          <a:ln w="12700">
            <a:solidFill>
              <a:schemeClr val="bg2"/>
            </a:solidFill>
            <a:prstDash val="solid"/>
          </a:ln>
        </p:spPr>
      </p:sp>
      <p:sp>
        <p:nvSpPr>
          <p:cNvPr id="7" name="text-203"/>
          <p:cNvSpPr txBox="1"/>
          <p:nvPr/>
        </p:nvSpPr>
        <p:spPr>
          <a:xfrm>
            <a:off x="6492240" y="1280160"/>
            <a:ext cx="2103120" cy="274320"/>
          </a:xfrm>
          <a:prstGeom prst="rect">
            <a:avLst/>
          </a:prstGeom>
          <a:noFill/>
          <a:ln/>
        </p:spPr>
        <p:txBody>
          <a:bodyPr wrap="square" lIns="0" tIns="0" rIns="0" bIns="0" rtlCol="0" anchor="t"/>
          <a:lstStyle/>
          <a:p>
            <a:pPr indent="0" marL="0">
              <a:buNone/>
            </a:pPr>
            <a:r>
              <a:rPr lang="en-US" sz="1400" b="1" dirty="0">
                <a:solidFill>
                  <a:schemeClr val="accent1"/>
                </a:solidFill>
              </a:rPr>
              <a:t>Measured damage</a:t>
            </a:r>
            <a:endParaRPr lang="en-US" sz="1400" dirty="0"/>
          </a:p>
        </p:txBody>
      </p:sp>
      <p:sp>
        <p:nvSpPr>
          <p:cNvPr id="8" name="text-204"/>
          <p:cNvSpPr txBox="1"/>
          <p:nvPr/>
        </p:nvSpPr>
        <p:spPr>
          <a:xfrm>
            <a:off x="6492240" y="1572768"/>
            <a:ext cx="2103120" cy="594360"/>
          </a:xfrm>
          <a:prstGeom prst="rect">
            <a:avLst/>
          </a:prstGeom>
          <a:noFill/>
          <a:ln/>
        </p:spPr>
        <p:txBody>
          <a:bodyPr wrap="square" lIns="0" tIns="0" rIns="0" bIns="0" rtlCol="0" anchor="t"/>
          <a:lstStyle/>
          <a:p>
            <a:pPr indent="0" marL="0">
              <a:buNone/>
            </a:pPr>
            <a:r>
              <a:rPr lang="en-US" sz="1250" dirty="0">
                <a:solidFill>
                  <a:schemeClr val="tx1"/>
                </a:solidFill>
              </a:rPr>
              <a:t>Share of the leaf that is discoloured, from pixel colour.</a:t>
            </a:r>
            <a:endParaRPr lang="en-US" sz="1250" dirty="0"/>
          </a:p>
        </p:txBody>
      </p:sp>
      <p:sp>
        <p:nvSpPr>
          <p:cNvPr id="9" name="card-205"/>
          <p:cNvSpPr/>
          <p:nvPr/>
        </p:nvSpPr>
        <p:spPr>
          <a:xfrm>
            <a:off x="6355080" y="2331720"/>
            <a:ext cx="2331720" cy="1024128"/>
          </a:xfrm>
          <a:prstGeom prst="roundRect">
            <a:avLst>
              <a:gd name="adj" fmla="val 7143"/>
            </a:avLst>
          </a:prstGeom>
          <a:solidFill>
            <a:schemeClr val="bg2"/>
          </a:solidFill>
          <a:ln w="12700">
            <a:solidFill>
              <a:schemeClr val="bg2"/>
            </a:solidFill>
            <a:prstDash val="solid"/>
          </a:ln>
        </p:spPr>
      </p:sp>
      <p:sp>
        <p:nvSpPr>
          <p:cNvPr id="10" name="text-206"/>
          <p:cNvSpPr txBox="1"/>
          <p:nvPr/>
        </p:nvSpPr>
        <p:spPr>
          <a:xfrm>
            <a:off x="6492240" y="2423160"/>
            <a:ext cx="2103120" cy="274320"/>
          </a:xfrm>
          <a:prstGeom prst="rect">
            <a:avLst/>
          </a:prstGeom>
          <a:noFill/>
          <a:ln/>
        </p:spPr>
        <p:txBody>
          <a:bodyPr wrap="square" lIns="0" tIns="0" rIns="0" bIns="0" rtlCol="0" anchor="t"/>
          <a:lstStyle/>
          <a:p>
            <a:pPr indent="0" marL="0">
              <a:buNone/>
            </a:pPr>
            <a:r>
              <a:rPr lang="en-US" sz="1400" b="1" dirty="0">
                <a:solidFill>
                  <a:schemeClr val="accent1"/>
                </a:solidFill>
              </a:rPr>
              <a:t>Four checks</a:t>
            </a:r>
            <a:endParaRPr lang="en-US" sz="1400" dirty="0"/>
          </a:p>
        </p:txBody>
      </p:sp>
      <p:sp>
        <p:nvSpPr>
          <p:cNvPr id="11" name="text-207"/>
          <p:cNvSpPr txBox="1"/>
          <p:nvPr/>
        </p:nvSpPr>
        <p:spPr>
          <a:xfrm>
            <a:off x="6492240" y="2715768"/>
            <a:ext cx="2103120" cy="594360"/>
          </a:xfrm>
          <a:prstGeom prst="rect">
            <a:avLst/>
          </a:prstGeom>
          <a:noFill/>
          <a:ln/>
        </p:spPr>
        <p:txBody>
          <a:bodyPr wrap="square" lIns="0" tIns="0" rIns="0" bIns="0" rtlCol="0" anchor="t"/>
          <a:lstStyle/>
          <a:p>
            <a:pPr indent="0" marL="0">
              <a:buNone/>
            </a:pPr>
            <a:r>
              <a:rPr lang="en-US" sz="1250" dirty="0">
                <a:solidFill>
                  <a:schemeClr val="tx1"/>
                </a:solidFill>
              </a:rPr>
              <a:t>Computed from this photo; each one can pass or fail.</a:t>
            </a:r>
            <a:endParaRPr lang="en-US" sz="1250" dirty="0"/>
          </a:p>
        </p:txBody>
      </p:sp>
      <p:sp>
        <p:nvSpPr>
          <p:cNvPr id="12" name="card-208"/>
          <p:cNvSpPr/>
          <p:nvPr/>
        </p:nvSpPr>
        <p:spPr>
          <a:xfrm>
            <a:off x="6355080" y="3474720"/>
            <a:ext cx="2331720" cy="1024128"/>
          </a:xfrm>
          <a:prstGeom prst="roundRect">
            <a:avLst>
              <a:gd name="adj" fmla="val 7143"/>
            </a:avLst>
          </a:prstGeom>
          <a:solidFill>
            <a:schemeClr val="bg2"/>
          </a:solidFill>
          <a:ln w="12700">
            <a:solidFill>
              <a:schemeClr val="bg2"/>
            </a:solidFill>
            <a:prstDash val="solid"/>
          </a:ln>
        </p:spPr>
      </p:sp>
      <p:sp>
        <p:nvSpPr>
          <p:cNvPr id="13" name="text-209"/>
          <p:cNvSpPr txBox="1"/>
          <p:nvPr/>
        </p:nvSpPr>
        <p:spPr>
          <a:xfrm>
            <a:off x="6492240" y="3566160"/>
            <a:ext cx="2103120" cy="274320"/>
          </a:xfrm>
          <a:prstGeom prst="rect">
            <a:avLst/>
          </a:prstGeom>
          <a:noFill/>
          <a:ln/>
        </p:spPr>
        <p:txBody>
          <a:bodyPr wrap="square" lIns="0" tIns="0" rIns="0" bIns="0" rtlCol="0" anchor="t"/>
          <a:lstStyle/>
          <a:p>
            <a:pPr indent="0" marL="0">
              <a:buNone/>
            </a:pPr>
            <a:r>
              <a:rPr lang="en-US" sz="1400" b="1" dirty="0">
                <a:solidFill>
                  <a:schemeClr val="accent1"/>
                </a:solidFill>
              </a:rPr>
              <a:t>Prioritised actions</a:t>
            </a:r>
            <a:endParaRPr lang="en-US" sz="1400" dirty="0"/>
          </a:p>
        </p:txBody>
      </p:sp>
      <p:sp>
        <p:nvSpPr>
          <p:cNvPr id="14" name="text-210"/>
          <p:cNvSpPr txBox="1"/>
          <p:nvPr/>
        </p:nvSpPr>
        <p:spPr>
          <a:xfrm>
            <a:off x="6492240" y="3858768"/>
            <a:ext cx="2103120" cy="594360"/>
          </a:xfrm>
          <a:prstGeom prst="rect">
            <a:avLst/>
          </a:prstGeom>
          <a:noFill/>
          <a:ln/>
        </p:spPr>
        <p:txBody>
          <a:bodyPr wrap="square" lIns="0" tIns="0" rIns="0" bIns="0" rtlCol="0" anchor="t"/>
          <a:lstStyle/>
          <a:p>
            <a:pPr indent="0" marL="0">
              <a:buNone/>
            </a:pPr>
            <a:r>
              <a:rPr lang="en-US" sz="1250" dirty="0">
                <a:solidFill>
                  <a:schemeClr val="tx1"/>
                </a:solidFill>
              </a:rPr>
              <a:t>Treatment steps matched to the stage (1, 2 or 3).</a:t>
            </a:r>
            <a:endParaRPr lang="en-US" sz="1250" dirty="0"/>
          </a:p>
        </p:txBody>
      </p:sp>
      <p:sp>
        <p:nvSpPr>
          <p:cNvPr id="25" name="Slide Number Placeholder 0"/>
          <p:cNvSpPr>
            <a:spLocks noGrp="1"/>
          </p:cNvSpPr>
          <p:nvPr>
            <p:ph type="sldNum" sz="quarter" idx="4294967295"/>
          </p:nvPr>
        </p:nvSpPr>
        <p:spPr>
          <a:xfrm>
            <a:off x="8229600" y="4828032"/>
            <a:ext cx="457200" cy="22860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defRPr>
            </a:lvl1pPr>
          </a:lstStyle>
          <a:p>
            <a:pPr algn="r"/>
            <a:fld id="{F7021451-1387-4CA6-816F-3879F97B5CBC}" type="slidenum">
              <a:rPr b="0" lang="en-US"/>
              <a:t>15</a:t>
            </a:fld>
            <a:endParaRPr lang="en-US"/>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sp>
        <p:nvSpPr>
          <p:cNvPr id="2" name="Text 0"/>
          <p:cNvSpPr/>
          <p:nvPr>
            <p:ph idx="100" type="title" hasCustomPrompt="1"/>
          </p:nvPr>
        </p:nvSpPr>
        <p:spPr>
          <a:xfrm>
            <a:off x="457200" y="256032"/>
            <a:ext cx="8229600" cy="685800"/>
          </a:xfrm>
          <a:prstGeom prst="rect">
            <a:avLst/>
          </a:prstGeom>
          <a:noFill/>
          <a:ln/>
        </p:spPr>
        <p:txBody>
          <a:bodyPr wrap="square" lIns="0" tIns="0" rIns="0" bIns="0" rtlCol="0" anchor="ctr"/>
          <a:lstStyle/>
          <a:p>
            <a:pPr algn="l" indent="0" marL="0">
              <a:buNone/>
            </a:pPr>
            <a:r>
              <a:rPr lang="en-US" sz="2800" b="1" dirty="0">
                <a:solidFill>
                  <a:schemeClr val="tx1"/>
                </a:solidFill>
              </a:rPr>
              <a:t>The app: written guidance</a:t>
            </a:r>
            <a:endParaRPr lang="en-US" sz="2800" dirty="0"/>
          </a:p>
        </p:txBody>
      </p:sp>
      <p:sp>
        <p:nvSpPr>
          <p:cNvPr id="4" name="frame-211"/>
          <p:cNvSpPr/>
          <p:nvPr/>
        </p:nvSpPr>
        <p:spPr>
          <a:xfrm>
            <a:off x="457200" y="1097280"/>
            <a:ext cx="5669280" cy="3049750"/>
          </a:xfrm>
          <a:prstGeom prst="roundRect">
            <a:avLst>
              <a:gd name="adj" fmla="val 1799"/>
            </a:avLst>
          </a:prstGeom>
          <a:solidFill>
            <a:srgbClr val="DCE7E0"/>
          </a:solidFill>
          <a:ln w="12700">
            <a:solidFill>
              <a:srgbClr val="DCE7E0"/>
            </a:solidFill>
            <a:prstDash val="solid"/>
          </a:ln>
        </p:spPr>
      </p:sp>
      <p:pic>
        <p:nvPicPr>
          <p:cNvPr id="5" name="screenshot-212" descr="/private/tmp/claude-501/-Users-parthsharma-Desktop-XAI-PDS/20cb58d2-ae23-468c-9c17-7a209704af59/scratchpad/deck/assets/app_hub.jpg">    </p:cNvPr>
          <p:cNvPicPr>
            <a:picLocks noChangeAspect="1"/>
          </p:cNvPicPr>
          <p:nvPr/>
        </p:nvPicPr>
        <p:blipFill>
          <a:blip r:embed="rId1"/>
          <a:stretch>
            <a:fillRect/>
          </a:stretch>
        </p:blipFill>
        <p:spPr>
          <a:xfrm>
            <a:off x="512064" y="1152144"/>
            <a:ext cx="5559552" cy="2940022"/>
          </a:xfrm>
          <a:prstGeom prst="rect">
            <a:avLst/>
          </a:prstGeom>
        </p:spPr>
      </p:pic>
      <p:sp>
        <p:nvSpPr>
          <p:cNvPr id="6" name="card-213"/>
          <p:cNvSpPr/>
          <p:nvPr/>
        </p:nvSpPr>
        <p:spPr>
          <a:xfrm>
            <a:off x="6355080" y="1188720"/>
            <a:ext cx="2331720" cy="1024128"/>
          </a:xfrm>
          <a:prstGeom prst="roundRect">
            <a:avLst>
              <a:gd name="adj" fmla="val 7143"/>
            </a:avLst>
          </a:prstGeom>
          <a:solidFill>
            <a:schemeClr val="bg2"/>
          </a:solidFill>
          <a:ln w="12700">
            <a:solidFill>
              <a:schemeClr val="bg2"/>
            </a:solidFill>
            <a:prstDash val="solid"/>
          </a:ln>
        </p:spPr>
      </p:sp>
      <p:sp>
        <p:nvSpPr>
          <p:cNvPr id="7" name="text-214"/>
          <p:cNvSpPr txBox="1"/>
          <p:nvPr/>
        </p:nvSpPr>
        <p:spPr>
          <a:xfrm>
            <a:off x="6492240" y="1280160"/>
            <a:ext cx="2103120" cy="274320"/>
          </a:xfrm>
          <a:prstGeom prst="rect">
            <a:avLst/>
          </a:prstGeom>
          <a:noFill/>
          <a:ln/>
        </p:spPr>
        <p:txBody>
          <a:bodyPr wrap="square" lIns="0" tIns="0" rIns="0" bIns="0" rtlCol="0" anchor="t"/>
          <a:lstStyle/>
          <a:p>
            <a:pPr indent="0" marL="0">
              <a:buNone/>
            </a:pPr>
            <a:r>
              <a:rPr lang="en-US" sz="1400" b="1" dirty="0">
                <a:solidFill>
                  <a:schemeClr val="accent1"/>
                </a:solidFill>
              </a:rPr>
              <a:t>Written for this leaf</a:t>
            </a:r>
            <a:endParaRPr lang="en-US" sz="1400" dirty="0"/>
          </a:p>
        </p:txBody>
      </p:sp>
      <p:sp>
        <p:nvSpPr>
          <p:cNvPr id="8" name="text-215"/>
          <p:cNvSpPr txBox="1"/>
          <p:nvPr/>
        </p:nvSpPr>
        <p:spPr>
          <a:xfrm>
            <a:off x="6492240" y="1572768"/>
            <a:ext cx="2103120" cy="594360"/>
          </a:xfrm>
          <a:prstGeom prst="rect">
            <a:avLst/>
          </a:prstGeom>
          <a:noFill/>
          <a:ln/>
        </p:spPr>
        <p:txBody>
          <a:bodyPr wrap="square" lIns="0" tIns="0" rIns="0" bIns="0" rtlCol="0" anchor="t"/>
          <a:lstStyle/>
          <a:p>
            <a:pPr indent="0" marL="0">
              <a:buNone/>
            </a:pPr>
            <a:r>
              <a:rPr lang="en-US" sz="1250" dirty="0">
                <a:solidFill>
                  <a:schemeClr val="tx1"/>
                </a:solidFill>
              </a:rPr>
              <a:t>Uses the measured damage, confidence and uncertainty.</a:t>
            </a:r>
            <a:endParaRPr lang="en-US" sz="1250" dirty="0"/>
          </a:p>
        </p:txBody>
      </p:sp>
      <p:sp>
        <p:nvSpPr>
          <p:cNvPr id="9" name="card-216"/>
          <p:cNvSpPr/>
          <p:nvPr/>
        </p:nvSpPr>
        <p:spPr>
          <a:xfrm>
            <a:off x="6355080" y="2331720"/>
            <a:ext cx="2331720" cy="1024128"/>
          </a:xfrm>
          <a:prstGeom prst="roundRect">
            <a:avLst>
              <a:gd name="adj" fmla="val 7143"/>
            </a:avLst>
          </a:prstGeom>
          <a:solidFill>
            <a:schemeClr val="bg2"/>
          </a:solidFill>
          <a:ln w="12700">
            <a:solidFill>
              <a:schemeClr val="bg2"/>
            </a:solidFill>
            <a:prstDash val="solid"/>
          </a:ln>
        </p:spPr>
      </p:sp>
      <p:sp>
        <p:nvSpPr>
          <p:cNvPr id="10" name="text-217"/>
          <p:cNvSpPr txBox="1"/>
          <p:nvPr/>
        </p:nvSpPr>
        <p:spPr>
          <a:xfrm>
            <a:off x="6492240" y="2423160"/>
            <a:ext cx="2103120" cy="274320"/>
          </a:xfrm>
          <a:prstGeom prst="rect">
            <a:avLst/>
          </a:prstGeom>
          <a:noFill/>
          <a:ln/>
        </p:spPr>
        <p:txBody>
          <a:bodyPr wrap="square" lIns="0" tIns="0" rIns="0" bIns="0" rtlCol="0" anchor="t"/>
          <a:lstStyle/>
          <a:p>
            <a:pPr indent="0" marL="0">
              <a:buNone/>
            </a:pPr>
            <a:r>
              <a:rPr lang="en-US" sz="1400" b="1" dirty="0">
                <a:solidFill>
                  <a:schemeClr val="accent1"/>
                </a:solidFill>
              </a:rPr>
              <a:t>Four tabs</a:t>
            </a:r>
            <a:endParaRPr lang="en-US" sz="1400" dirty="0"/>
          </a:p>
        </p:txBody>
      </p:sp>
      <p:sp>
        <p:nvSpPr>
          <p:cNvPr id="11" name="text-218"/>
          <p:cNvSpPr txBox="1"/>
          <p:nvPr/>
        </p:nvSpPr>
        <p:spPr>
          <a:xfrm>
            <a:off x="6492240" y="2715768"/>
            <a:ext cx="2103120" cy="594360"/>
          </a:xfrm>
          <a:prstGeom prst="rect">
            <a:avLst/>
          </a:prstGeom>
          <a:noFill/>
          <a:ln/>
        </p:spPr>
        <p:txBody>
          <a:bodyPr wrap="square" lIns="0" tIns="0" rIns="0" bIns="0" rtlCol="0" anchor="t"/>
          <a:lstStyle/>
          <a:p>
            <a:pPr indent="0" marL="0">
              <a:buNone/>
            </a:pPr>
            <a:r>
              <a:rPr lang="en-US" sz="1250" dirty="0">
                <a:solidFill>
                  <a:schemeClr val="tx1"/>
                </a:solidFill>
              </a:rPr>
              <a:t>About the disease, treatment, prevention, precautions.</a:t>
            </a:r>
            <a:endParaRPr lang="en-US" sz="1250" dirty="0"/>
          </a:p>
        </p:txBody>
      </p:sp>
      <p:sp>
        <p:nvSpPr>
          <p:cNvPr id="12" name="card-219"/>
          <p:cNvSpPr/>
          <p:nvPr/>
        </p:nvSpPr>
        <p:spPr>
          <a:xfrm>
            <a:off x="6355080" y="3474720"/>
            <a:ext cx="2331720" cy="1024128"/>
          </a:xfrm>
          <a:prstGeom prst="roundRect">
            <a:avLst>
              <a:gd name="adj" fmla="val 7143"/>
            </a:avLst>
          </a:prstGeom>
          <a:solidFill>
            <a:schemeClr val="bg2"/>
          </a:solidFill>
          <a:ln w="12700">
            <a:solidFill>
              <a:schemeClr val="bg2"/>
            </a:solidFill>
            <a:prstDash val="solid"/>
          </a:ln>
        </p:spPr>
      </p:sp>
      <p:sp>
        <p:nvSpPr>
          <p:cNvPr id="13" name="text-220"/>
          <p:cNvSpPr txBox="1"/>
          <p:nvPr/>
        </p:nvSpPr>
        <p:spPr>
          <a:xfrm>
            <a:off x="6492240" y="3566160"/>
            <a:ext cx="2103120" cy="274320"/>
          </a:xfrm>
          <a:prstGeom prst="rect">
            <a:avLst/>
          </a:prstGeom>
          <a:noFill/>
          <a:ln/>
        </p:spPr>
        <p:txBody>
          <a:bodyPr wrap="square" lIns="0" tIns="0" rIns="0" bIns="0" rtlCol="0" anchor="t"/>
          <a:lstStyle/>
          <a:p>
            <a:pPr indent="0" marL="0">
              <a:buNone/>
            </a:pPr>
            <a:r>
              <a:rPr lang="en-US" sz="1400" b="1" dirty="0">
                <a:solidFill>
                  <a:schemeClr val="accent1"/>
                </a:solidFill>
              </a:rPr>
              <a:t>No canned text</a:t>
            </a:r>
            <a:endParaRPr lang="en-US" sz="1400" dirty="0"/>
          </a:p>
        </p:txBody>
      </p:sp>
      <p:sp>
        <p:nvSpPr>
          <p:cNvPr id="14" name="text-221"/>
          <p:cNvSpPr txBox="1"/>
          <p:nvPr/>
        </p:nvSpPr>
        <p:spPr>
          <a:xfrm>
            <a:off x="6492240" y="3858768"/>
            <a:ext cx="2103120" cy="594360"/>
          </a:xfrm>
          <a:prstGeom prst="rect">
            <a:avLst/>
          </a:prstGeom>
          <a:noFill/>
          <a:ln/>
        </p:spPr>
        <p:txBody>
          <a:bodyPr wrap="square" lIns="0" tIns="0" rIns="0" bIns="0" rtlCol="0" anchor="t"/>
          <a:lstStyle/>
          <a:p>
            <a:pPr indent="0" marL="0">
              <a:buNone/>
            </a:pPr>
            <a:r>
              <a:rPr lang="en-US" sz="1250" dirty="0">
                <a:solidFill>
                  <a:schemeClr val="tx1"/>
                </a:solidFill>
              </a:rPr>
              <a:t>If the LLM is unreachable, the panel says so.</a:t>
            </a:r>
            <a:endParaRPr lang="en-US" sz="1250" dirty="0"/>
          </a:p>
        </p:txBody>
      </p:sp>
      <p:sp>
        <p:nvSpPr>
          <p:cNvPr id="25" name="Slide Number Placeholder 0"/>
          <p:cNvSpPr>
            <a:spLocks noGrp="1"/>
          </p:cNvSpPr>
          <p:nvPr>
            <p:ph type="sldNum" sz="quarter" idx="4294967295"/>
          </p:nvPr>
        </p:nvSpPr>
        <p:spPr>
          <a:xfrm>
            <a:off x="8229600" y="4828032"/>
            <a:ext cx="457200" cy="22860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defRPr>
            </a:lvl1pPr>
          </a:lstStyle>
          <a:p>
            <a:pPr algn="r"/>
            <a:fld id="{F7021451-1387-4CA6-816F-3879F97B5CBC}" type="slidenum">
              <a:rPr b="0" lang="en-US"/>
              <a:t>16</a:t>
            </a:fld>
            <a:endParaRPr lang="en-US"/>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spTree>
      <p:nvGrpSpPr>
        <p:cNvPr id="1" name=""/>
        <p:cNvGrpSpPr/>
        <p:nvPr/>
      </p:nvGrpSpPr>
      <p:grpSpPr>
        <a:xfrm>
          <a:off x="0" y="0"/>
          <a:ext cx="0" cy="0"/>
          <a:chOff x="0" y="0"/>
          <a:chExt cx="0" cy="0"/>
        </a:xfrm>
      </p:grpSpPr>
      <p:sp>
        <p:nvSpPr>
          <p:cNvPr id="2" name="Text 0"/>
          <p:cNvSpPr/>
          <p:nvPr>
            <p:ph idx="100" type="title" hasCustomPrompt="1"/>
          </p:nvPr>
        </p:nvSpPr>
        <p:spPr>
          <a:xfrm>
            <a:off x="457200" y="256032"/>
            <a:ext cx="8229600" cy="685800"/>
          </a:xfrm>
          <a:prstGeom prst="rect">
            <a:avLst/>
          </a:prstGeom>
          <a:noFill/>
          <a:ln/>
        </p:spPr>
        <p:txBody>
          <a:bodyPr wrap="square" lIns="0" tIns="0" rIns="0" bIns="0" rtlCol="0" anchor="ctr"/>
          <a:lstStyle/>
          <a:p>
            <a:pPr algn="l" indent="0" marL="0">
              <a:buNone/>
            </a:pPr>
            <a:r>
              <a:rPr lang="en-US" sz="2800" b="1" dirty="0">
                <a:solidFill>
                  <a:schemeClr val="tx1"/>
                </a:solidFill>
              </a:rPr>
              <a:t>Base model results</a:t>
            </a:r>
            <a:endParaRPr lang="en-US" sz="2800" dirty="0"/>
          </a:p>
        </p:txBody>
      </p:sp>
      <p:sp>
        <p:nvSpPr>
          <p:cNvPr id="4" name="card-222"/>
          <p:cNvSpPr/>
          <p:nvPr/>
        </p:nvSpPr>
        <p:spPr>
          <a:xfrm>
            <a:off x="457200" y="1097280"/>
            <a:ext cx="4297680" cy="3566160"/>
          </a:xfrm>
          <a:prstGeom prst="roundRect">
            <a:avLst>
              <a:gd name="adj" fmla="val 2051"/>
            </a:avLst>
          </a:prstGeom>
          <a:solidFill>
            <a:schemeClr val="bg2"/>
          </a:solidFill>
          <a:ln w="12700">
            <a:solidFill>
              <a:schemeClr val="bg2"/>
            </a:solidFill>
            <a:prstDash val="solid"/>
          </a:ln>
        </p:spPr>
      </p:sp>
      <p:pic>
        <p:nvPicPr>
          <p:cNvPr id="5" name="image-223" descr="/Users/parthsharma/Desktop/XAI PDS/reports/study/figures/fig_confusion_matrix.png">    </p:cNvPr>
          <p:cNvPicPr>
            <a:picLocks noChangeAspect="1"/>
          </p:cNvPicPr>
          <p:nvPr/>
        </p:nvPicPr>
        <p:blipFill>
          <a:blip r:embed="rId1"/>
          <a:stretch>
            <a:fillRect/>
          </a:stretch>
        </p:blipFill>
        <p:spPr>
          <a:xfrm>
            <a:off x="672737" y="1188720"/>
            <a:ext cx="3866606" cy="3383280"/>
          </a:xfrm>
          <a:prstGeom prst="rect">
            <a:avLst/>
          </a:prstGeom>
        </p:spPr>
      </p:pic>
      <p:sp>
        <p:nvSpPr>
          <p:cNvPr id="6" name="text-224"/>
          <p:cNvSpPr txBox="1"/>
          <p:nvPr/>
        </p:nvSpPr>
        <p:spPr>
          <a:xfrm>
            <a:off x="5029200" y="1143000"/>
            <a:ext cx="1783080" cy="599440"/>
          </a:xfrm>
          <a:prstGeom prst="rect">
            <a:avLst/>
          </a:prstGeom>
          <a:noFill/>
          <a:ln/>
        </p:spPr>
        <p:txBody>
          <a:bodyPr wrap="square" lIns="0" tIns="0" rIns="0" bIns="0" rtlCol="0" anchor="t"/>
          <a:lstStyle/>
          <a:p>
            <a:pPr indent="0" marL="0">
              <a:buNone/>
            </a:pPr>
            <a:r>
              <a:rPr lang="en-US" sz="3000" b="1" dirty="0">
                <a:solidFill>
                  <a:schemeClr val="accent1"/>
                </a:solidFill>
                <a:latin typeface="Cambria" pitchFamily="34" charset="0"/>
                <a:ea typeface="Cambria" pitchFamily="34" charset="-122"/>
                <a:cs typeface="Cambria" pitchFamily="34" charset="-120"/>
              </a:rPr>
              <a:t>98.13%</a:t>
            </a:r>
            <a:endParaRPr lang="en-US" sz="3000" dirty="0"/>
          </a:p>
        </p:txBody>
      </p:sp>
      <p:sp>
        <p:nvSpPr>
          <p:cNvPr id="7" name="text-225"/>
          <p:cNvSpPr txBox="1"/>
          <p:nvPr/>
        </p:nvSpPr>
        <p:spPr>
          <a:xfrm>
            <a:off x="5029200" y="1760728"/>
            <a:ext cx="1783080" cy="548640"/>
          </a:xfrm>
          <a:prstGeom prst="rect">
            <a:avLst/>
          </a:prstGeom>
          <a:noFill/>
          <a:ln/>
        </p:spPr>
        <p:txBody>
          <a:bodyPr wrap="square" lIns="0" tIns="0" rIns="0" bIns="0" rtlCol="0" anchor="t"/>
          <a:lstStyle/>
          <a:p>
            <a:pPr indent="0" marL="0">
              <a:buNone/>
            </a:pPr>
            <a:r>
              <a:rPr lang="en-US" sz="1300" dirty="0">
                <a:solidFill>
                  <a:schemeClr val="accent6"/>
                </a:solidFill>
              </a:rPr>
              <a:t>test accuracy (3,107 images)</a:t>
            </a:r>
            <a:endParaRPr lang="en-US" sz="1300" dirty="0"/>
          </a:p>
        </p:txBody>
      </p:sp>
      <p:sp>
        <p:nvSpPr>
          <p:cNvPr id="8" name="text-226"/>
          <p:cNvSpPr txBox="1"/>
          <p:nvPr/>
        </p:nvSpPr>
        <p:spPr>
          <a:xfrm>
            <a:off x="6949440" y="1143000"/>
            <a:ext cx="1783080" cy="599440"/>
          </a:xfrm>
          <a:prstGeom prst="rect">
            <a:avLst/>
          </a:prstGeom>
          <a:noFill/>
          <a:ln/>
        </p:spPr>
        <p:txBody>
          <a:bodyPr wrap="square" lIns="0" tIns="0" rIns="0" bIns="0" rtlCol="0" anchor="t"/>
          <a:lstStyle/>
          <a:p>
            <a:pPr indent="0" marL="0">
              <a:buNone/>
            </a:pPr>
            <a:r>
              <a:rPr lang="en-US" sz="3000" b="1" dirty="0">
                <a:solidFill>
                  <a:schemeClr val="accent1"/>
                </a:solidFill>
                <a:latin typeface="Cambria" pitchFamily="34" charset="0"/>
                <a:ea typeface="Cambria" pitchFamily="34" charset="-122"/>
                <a:cs typeface="Cambria" pitchFamily="34" charset="-120"/>
              </a:rPr>
              <a:t>0.979</a:t>
            </a:r>
            <a:endParaRPr lang="en-US" sz="3000" dirty="0"/>
          </a:p>
        </p:txBody>
      </p:sp>
      <p:sp>
        <p:nvSpPr>
          <p:cNvPr id="9" name="text-227"/>
          <p:cNvSpPr txBox="1"/>
          <p:nvPr/>
        </p:nvSpPr>
        <p:spPr>
          <a:xfrm>
            <a:off x="6949440" y="1760728"/>
            <a:ext cx="1783080" cy="548640"/>
          </a:xfrm>
          <a:prstGeom prst="rect">
            <a:avLst/>
          </a:prstGeom>
          <a:noFill/>
          <a:ln/>
        </p:spPr>
        <p:txBody>
          <a:bodyPr wrap="square" lIns="0" tIns="0" rIns="0" bIns="0" rtlCol="0" anchor="t"/>
          <a:lstStyle/>
          <a:p>
            <a:pPr indent="0" marL="0">
              <a:buNone/>
            </a:pPr>
            <a:r>
              <a:rPr lang="en-US" sz="1300" dirty="0">
                <a:solidFill>
                  <a:schemeClr val="accent6"/>
                </a:solidFill>
              </a:rPr>
              <a:t>macro F1 over 15 classes</a:t>
            </a:r>
            <a:endParaRPr lang="en-US" sz="1300" dirty="0"/>
          </a:p>
        </p:txBody>
      </p:sp>
      <p:sp>
        <p:nvSpPr>
          <p:cNvPr id="10" name="text-228"/>
          <p:cNvSpPr txBox="1"/>
          <p:nvPr/>
        </p:nvSpPr>
        <p:spPr>
          <a:xfrm>
            <a:off x="5029200" y="2377440"/>
            <a:ext cx="1783080" cy="599440"/>
          </a:xfrm>
          <a:prstGeom prst="rect">
            <a:avLst/>
          </a:prstGeom>
          <a:noFill/>
          <a:ln/>
        </p:spPr>
        <p:txBody>
          <a:bodyPr wrap="square" lIns="0" tIns="0" rIns="0" bIns="0" rtlCol="0" anchor="t"/>
          <a:lstStyle/>
          <a:p>
            <a:pPr indent="0" marL="0">
              <a:buNone/>
            </a:pPr>
            <a:r>
              <a:rPr lang="en-US" sz="3000" b="1" dirty="0">
                <a:solidFill>
                  <a:schemeClr val="accent4"/>
                </a:solidFill>
                <a:latin typeface="Cambria" pitchFamily="34" charset="0"/>
                <a:ea typeface="Cambria" pitchFamily="34" charset="-122"/>
                <a:cs typeface="Cambria" pitchFamily="34" charset="-120"/>
              </a:rPr>
              <a:t>58</a:t>
            </a:r>
            <a:endParaRPr lang="en-US" sz="3000" dirty="0"/>
          </a:p>
        </p:txBody>
      </p:sp>
      <p:sp>
        <p:nvSpPr>
          <p:cNvPr id="11" name="text-229"/>
          <p:cNvSpPr txBox="1"/>
          <p:nvPr/>
        </p:nvSpPr>
        <p:spPr>
          <a:xfrm>
            <a:off x="5029200" y="2995168"/>
            <a:ext cx="1783080" cy="548640"/>
          </a:xfrm>
          <a:prstGeom prst="rect">
            <a:avLst/>
          </a:prstGeom>
          <a:noFill/>
          <a:ln/>
        </p:spPr>
        <p:txBody>
          <a:bodyPr wrap="square" lIns="0" tIns="0" rIns="0" bIns="0" rtlCol="0" anchor="t"/>
          <a:lstStyle/>
          <a:p>
            <a:pPr indent="0" marL="0">
              <a:buNone/>
            </a:pPr>
            <a:r>
              <a:rPr lang="en-US" sz="1300" dirty="0">
                <a:solidFill>
                  <a:schemeClr val="accent6"/>
                </a:solidFill>
              </a:rPr>
              <a:t>mistakes in 3,107 photos</a:t>
            </a:r>
            <a:endParaRPr lang="en-US" sz="1300" dirty="0"/>
          </a:p>
        </p:txBody>
      </p:sp>
      <p:sp>
        <p:nvSpPr>
          <p:cNvPr id="12" name="text-230"/>
          <p:cNvSpPr txBox="1"/>
          <p:nvPr/>
        </p:nvSpPr>
        <p:spPr>
          <a:xfrm>
            <a:off x="6949440" y="2377440"/>
            <a:ext cx="1783080" cy="599440"/>
          </a:xfrm>
          <a:prstGeom prst="rect">
            <a:avLst/>
          </a:prstGeom>
          <a:noFill/>
          <a:ln/>
        </p:spPr>
        <p:txBody>
          <a:bodyPr wrap="square" lIns="0" tIns="0" rIns="0" bIns="0" rtlCol="0" anchor="t"/>
          <a:lstStyle/>
          <a:p>
            <a:pPr indent="0" marL="0">
              <a:buNone/>
            </a:pPr>
            <a:r>
              <a:rPr lang="en-US" sz="3000" b="1" dirty="0">
                <a:solidFill>
                  <a:schemeClr val="accent1"/>
                </a:solidFill>
                <a:latin typeface="Cambria" pitchFamily="34" charset="0"/>
                <a:ea typeface="Cambria" pitchFamily="34" charset="-122"/>
                <a:cs typeface="Cambria" pitchFamily="34" charset="-120"/>
              </a:rPr>
              <a:t>0.0056</a:t>
            </a:r>
            <a:endParaRPr lang="en-US" sz="3000" dirty="0"/>
          </a:p>
        </p:txBody>
      </p:sp>
      <p:sp>
        <p:nvSpPr>
          <p:cNvPr id="13" name="text-231"/>
          <p:cNvSpPr txBox="1"/>
          <p:nvPr/>
        </p:nvSpPr>
        <p:spPr>
          <a:xfrm>
            <a:off x="6949440" y="2995168"/>
            <a:ext cx="1783080" cy="548640"/>
          </a:xfrm>
          <a:prstGeom prst="rect">
            <a:avLst/>
          </a:prstGeom>
          <a:noFill/>
          <a:ln/>
        </p:spPr>
        <p:txBody>
          <a:bodyPr wrap="square" lIns="0" tIns="0" rIns="0" bIns="0" rtlCol="0" anchor="t"/>
          <a:lstStyle/>
          <a:p>
            <a:pPr indent="0" marL="0">
              <a:buNone/>
            </a:pPr>
            <a:r>
              <a:rPr lang="en-US" sz="1300" dirty="0">
                <a:solidFill>
                  <a:schemeClr val="accent6"/>
                </a:solidFill>
              </a:rPr>
              <a:t>calibration error after scaling</a:t>
            </a:r>
            <a:endParaRPr lang="en-US" sz="1300" dirty="0"/>
          </a:p>
        </p:txBody>
      </p:sp>
      <p:sp>
        <p:nvSpPr>
          <p:cNvPr id="14" name="card-232"/>
          <p:cNvSpPr/>
          <p:nvPr/>
        </p:nvSpPr>
        <p:spPr>
          <a:xfrm>
            <a:off x="5029200" y="3611880"/>
            <a:ext cx="3657600" cy="1051560"/>
          </a:xfrm>
          <a:prstGeom prst="roundRect">
            <a:avLst>
              <a:gd name="adj" fmla="val 6957"/>
            </a:avLst>
          </a:prstGeom>
          <a:solidFill>
            <a:schemeClr val="bg2"/>
          </a:solidFill>
          <a:ln w="12700">
            <a:solidFill>
              <a:schemeClr val="bg2"/>
            </a:solidFill>
            <a:prstDash val="solid"/>
          </a:ln>
        </p:spPr>
      </p:sp>
      <p:sp>
        <p:nvSpPr>
          <p:cNvPr id="15" name="text-233"/>
          <p:cNvSpPr txBox="1"/>
          <p:nvPr/>
        </p:nvSpPr>
        <p:spPr>
          <a:xfrm>
            <a:off x="5166360" y="3675888"/>
            <a:ext cx="3383280" cy="960120"/>
          </a:xfrm>
          <a:prstGeom prst="rect">
            <a:avLst/>
          </a:prstGeom>
          <a:noFill/>
          <a:ln/>
        </p:spPr>
        <p:txBody>
          <a:bodyPr wrap="square" lIns="0" tIns="0" rIns="0" bIns="0" rtlCol="0" anchor="t"/>
          <a:lstStyle/>
          <a:p>
            <a:pPr indent="0" marL="0">
              <a:buNone/>
            </a:pPr>
            <a:r>
              <a:rPr lang="en-US" sz="1300" b="1" dirty="0">
                <a:solidFill>
                  <a:schemeClr val="tx1"/>
                </a:solidFill>
              </a:rPr>
              <a:t>Most common mix-up: </a:t>
            </a:r>
            <a:pPr indent="0" marL="0">
              <a:buNone/>
            </a:pPr>
            <a:r>
              <a:rPr lang="en-US" sz="1300" dirty="0">
                <a:solidFill>
                  <a:schemeClr val="tx1"/>
                </a:solidFill>
              </a:rPr>
              <a:t>Target Spot predicted as Spider mites (6 photos), then Late and Early blight confused both ways (5 + 4).</a:t>
            </a:r>
            <a:endParaRPr lang="en-US" sz="1300" dirty="0"/>
          </a:p>
        </p:txBody>
      </p:sp>
      <p:sp>
        <p:nvSpPr>
          <p:cNvPr id="25" name="Slide Number Placeholder 0"/>
          <p:cNvSpPr>
            <a:spLocks noGrp="1"/>
          </p:cNvSpPr>
          <p:nvPr>
            <p:ph type="sldNum" sz="quarter" idx="4294967295"/>
          </p:nvPr>
        </p:nvSpPr>
        <p:spPr>
          <a:xfrm>
            <a:off x="8229600" y="4828032"/>
            <a:ext cx="457200" cy="22860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defRPr>
            </a:lvl1pPr>
          </a:lstStyle>
          <a:p>
            <a:pPr algn="r"/>
            <a:fld id="{F7021451-1387-4CA6-816F-3879F97B5CBC}" type="slidenum">
              <a:rPr b="0" lang="en-US"/>
              <a:t>17</a:t>
            </a:fld>
            <a:endParaRPr lang="en-US"/>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spTree>
      <p:nvGrpSpPr>
        <p:cNvPr id="1" name=""/>
        <p:cNvGrpSpPr/>
        <p:nvPr/>
      </p:nvGrpSpPr>
      <p:grpSpPr>
        <a:xfrm>
          <a:off x="0" y="0"/>
          <a:ext cx="0" cy="0"/>
          <a:chOff x="0" y="0"/>
          <a:chExt cx="0" cy="0"/>
        </a:xfrm>
      </p:grpSpPr>
      <p:sp>
        <p:nvSpPr>
          <p:cNvPr id="2" name="Text 0"/>
          <p:cNvSpPr/>
          <p:nvPr>
            <p:ph idx="100" type="title" hasCustomPrompt="1"/>
          </p:nvPr>
        </p:nvSpPr>
        <p:spPr>
          <a:xfrm>
            <a:off x="457200" y="256032"/>
            <a:ext cx="8229600" cy="685800"/>
          </a:xfrm>
          <a:prstGeom prst="rect">
            <a:avLst/>
          </a:prstGeom>
          <a:noFill/>
          <a:ln/>
        </p:spPr>
        <p:txBody>
          <a:bodyPr wrap="square" lIns="0" tIns="0" rIns="0" bIns="0" rtlCol="0" anchor="ctr"/>
          <a:lstStyle/>
          <a:p>
            <a:pPr algn="l" indent="0" marL="0">
              <a:buNone/>
            </a:pPr>
            <a:r>
              <a:rPr lang="en-US" sz="2800" b="1" dirty="0">
                <a:solidFill>
                  <a:schemeClr val="tx1"/>
                </a:solidFill>
              </a:rPr>
              <a:t>Confidence: MC-Dropout and temperature scaling</a:t>
            </a:r>
            <a:endParaRPr lang="en-US" sz="2800" dirty="0"/>
          </a:p>
        </p:txBody>
      </p:sp>
      <p:sp>
        <p:nvSpPr>
          <p:cNvPr id="4" name="card-234"/>
          <p:cNvSpPr/>
          <p:nvPr/>
        </p:nvSpPr>
        <p:spPr>
          <a:xfrm>
            <a:off x="457200" y="1097280"/>
            <a:ext cx="4114800" cy="1691640"/>
          </a:xfrm>
          <a:prstGeom prst="roundRect">
            <a:avLst>
              <a:gd name="adj" fmla="val 4324"/>
            </a:avLst>
          </a:prstGeom>
          <a:solidFill>
            <a:schemeClr val="bg2"/>
          </a:solidFill>
          <a:ln w="12700">
            <a:solidFill>
              <a:schemeClr val="bg2"/>
            </a:solidFill>
            <a:prstDash val="solid"/>
          </a:ln>
        </p:spPr>
      </p:sp>
      <p:sp>
        <p:nvSpPr>
          <p:cNvPr id="5" name="text-235"/>
          <p:cNvSpPr txBox="1"/>
          <p:nvPr/>
        </p:nvSpPr>
        <p:spPr>
          <a:xfrm>
            <a:off x="640080" y="1188720"/>
            <a:ext cx="3749040" cy="1554480"/>
          </a:xfrm>
          <a:prstGeom prst="rect">
            <a:avLst/>
          </a:prstGeom>
          <a:noFill/>
          <a:ln/>
        </p:spPr>
        <p:txBody>
          <a:bodyPr wrap="square" lIns="0" tIns="0" rIns="0" bIns="0" rtlCol="0" anchor="t"/>
          <a:lstStyle/>
          <a:p>
            <a:pPr indent="0" marL="0">
              <a:spcAft>
                <a:spcPts val="800"/>
              </a:spcAft>
              <a:buNone/>
            </a:pPr>
            <a:r>
              <a:rPr lang="en-US" sz="1600" b="1" dirty="0">
                <a:solidFill>
                  <a:schemeClr val="accent1"/>
                </a:solidFill>
              </a:rPr>
              <a:t>MC-Dropout: how unsure?</a:t>
            </a:r>
            <a:endParaRPr lang="en-US" sz="1400" dirty="0"/>
          </a:p>
          <a:p>
            <a:pPr indent="0" marL="0">
              <a:buNone/>
            </a:pPr>
            <a:r>
              <a:rPr lang="en-US" sz="1450" dirty="0">
                <a:solidFill>
                  <a:schemeClr val="tx1"/>
                </a:solidFill>
              </a:rPr>
              <a:t>Run the same photo 20 times with dropout on. Different answers each time means the model is unsure. We report the spread as a trust level.</a:t>
            </a:r>
            <a:endParaRPr lang="en-US" sz="1400" dirty="0"/>
          </a:p>
        </p:txBody>
      </p:sp>
      <p:sp>
        <p:nvSpPr>
          <p:cNvPr id="6" name="card-236"/>
          <p:cNvSpPr/>
          <p:nvPr/>
        </p:nvSpPr>
        <p:spPr>
          <a:xfrm>
            <a:off x="457200" y="2926080"/>
            <a:ext cx="4114800" cy="1737360"/>
          </a:xfrm>
          <a:prstGeom prst="roundRect">
            <a:avLst>
              <a:gd name="adj" fmla="val 4211"/>
            </a:avLst>
          </a:prstGeom>
          <a:solidFill>
            <a:schemeClr val="bg2"/>
          </a:solidFill>
          <a:ln w="12700">
            <a:solidFill>
              <a:schemeClr val="bg2"/>
            </a:solidFill>
            <a:prstDash val="solid"/>
          </a:ln>
        </p:spPr>
      </p:sp>
      <p:sp>
        <p:nvSpPr>
          <p:cNvPr id="7" name="text-237"/>
          <p:cNvSpPr txBox="1"/>
          <p:nvPr/>
        </p:nvSpPr>
        <p:spPr>
          <a:xfrm>
            <a:off x="640080" y="3017520"/>
            <a:ext cx="3749040" cy="1554480"/>
          </a:xfrm>
          <a:prstGeom prst="rect">
            <a:avLst/>
          </a:prstGeom>
          <a:noFill/>
          <a:ln/>
        </p:spPr>
        <p:txBody>
          <a:bodyPr wrap="square" lIns="0" tIns="0" rIns="0" bIns="0" rtlCol="0" anchor="t"/>
          <a:lstStyle/>
          <a:p>
            <a:pPr indent="0" marL="0">
              <a:spcAft>
                <a:spcPts val="800"/>
              </a:spcAft>
              <a:buNone/>
            </a:pPr>
            <a:r>
              <a:rPr lang="en-US" sz="1600" b="1" dirty="0">
                <a:solidFill>
                  <a:schemeClr val="accent1"/>
                </a:solidFill>
              </a:rPr>
              <a:t>Temperature scaling: how sure?</a:t>
            </a:r>
            <a:endParaRPr lang="en-US" sz="1400" dirty="0"/>
          </a:p>
          <a:p>
            <a:pPr indent="0" marL="0">
              <a:buNone/>
            </a:pPr>
            <a:r>
              <a:rPr lang="en-US" sz="1450" dirty="0">
                <a:solidFill>
                  <a:schemeClr val="tx1"/>
                </a:solidFill>
              </a:rPr>
              <a:t>Divide the scores by T = 0.778, fitted on validation data. The class never changes; the confidence matches reality better.</a:t>
            </a:r>
            <a:endParaRPr lang="en-US" sz="1400" dirty="0"/>
          </a:p>
        </p:txBody>
      </p:sp>
      <p:sp>
        <p:nvSpPr>
          <p:cNvPr id="8" name="card-238"/>
          <p:cNvSpPr/>
          <p:nvPr/>
        </p:nvSpPr>
        <p:spPr>
          <a:xfrm>
            <a:off x="4754880" y="1097280"/>
            <a:ext cx="3931920" cy="3566160"/>
          </a:xfrm>
          <a:prstGeom prst="roundRect">
            <a:avLst>
              <a:gd name="adj" fmla="val 2051"/>
            </a:avLst>
          </a:prstGeom>
          <a:solidFill>
            <a:schemeClr val="bg2"/>
          </a:solidFill>
          <a:ln w="12700">
            <a:solidFill>
              <a:schemeClr val="bg2"/>
            </a:solidFill>
            <a:prstDash val="solid"/>
          </a:ln>
        </p:spPr>
      </p:sp>
      <p:sp>
        <p:nvSpPr>
          <p:cNvPr id="9" name="text-239"/>
          <p:cNvSpPr txBox="1"/>
          <p:nvPr/>
        </p:nvSpPr>
        <p:spPr>
          <a:xfrm>
            <a:off x="4937760" y="1207008"/>
            <a:ext cx="3566160" cy="497840"/>
          </a:xfrm>
          <a:prstGeom prst="rect">
            <a:avLst/>
          </a:prstGeom>
          <a:noFill/>
          <a:ln/>
        </p:spPr>
        <p:txBody>
          <a:bodyPr wrap="square" lIns="0" tIns="0" rIns="0" bIns="0" rtlCol="0" anchor="t"/>
          <a:lstStyle/>
          <a:p>
            <a:pPr indent="0" marL="0">
              <a:buNone/>
            </a:pPr>
            <a:r>
              <a:rPr lang="en-US" sz="2400" b="1" dirty="0">
                <a:solidFill>
                  <a:schemeClr val="accent1"/>
                </a:solidFill>
                <a:latin typeface="Cambria" pitchFamily="34" charset="0"/>
                <a:ea typeface="Cambria" pitchFamily="34" charset="-122"/>
                <a:cs typeface="Cambria" pitchFamily="34" charset="-120"/>
              </a:rPr>
              <a:t>0.016 → 0.0056</a:t>
            </a:r>
            <a:endParaRPr lang="en-US" sz="2400" dirty="0"/>
          </a:p>
        </p:txBody>
      </p:sp>
      <p:sp>
        <p:nvSpPr>
          <p:cNvPr id="10" name="text-240"/>
          <p:cNvSpPr txBox="1"/>
          <p:nvPr/>
        </p:nvSpPr>
        <p:spPr>
          <a:xfrm>
            <a:off x="4937760" y="1723136"/>
            <a:ext cx="3566160" cy="548640"/>
          </a:xfrm>
          <a:prstGeom prst="rect">
            <a:avLst/>
          </a:prstGeom>
          <a:noFill/>
          <a:ln/>
        </p:spPr>
        <p:txBody>
          <a:bodyPr wrap="square" lIns="0" tIns="0" rIns="0" bIns="0" rtlCol="0" anchor="t"/>
          <a:lstStyle/>
          <a:p>
            <a:pPr indent="0" marL="0">
              <a:buNone/>
            </a:pPr>
            <a:r>
              <a:rPr lang="en-US" sz="1300" dirty="0">
                <a:solidFill>
                  <a:schemeClr val="accent6"/>
                </a:solidFill>
              </a:rPr>
              <a:t>calibration error (ECE) on the test set, accuracy unchanged</a:t>
            </a:r>
            <a:endParaRPr lang="en-US" sz="1300" dirty="0"/>
          </a:p>
        </p:txBody>
      </p:sp>
      <p:pic>
        <p:nvPicPr>
          <p:cNvPr id="11" name="image-241" descr="/Users/parthsharma/Desktop/XAI PDS/reports/study/figures/fig_reliability.png">    </p:cNvPr>
          <p:cNvPicPr>
            <a:picLocks noChangeAspect="1"/>
          </p:cNvPicPr>
          <p:nvPr/>
        </p:nvPicPr>
        <p:blipFill>
          <a:blip r:embed="rId1"/>
          <a:stretch>
            <a:fillRect/>
          </a:stretch>
        </p:blipFill>
        <p:spPr>
          <a:xfrm>
            <a:off x="4846320" y="2286000"/>
            <a:ext cx="3749040" cy="1593342"/>
          </a:xfrm>
          <a:prstGeom prst="rect">
            <a:avLst/>
          </a:prstGeom>
        </p:spPr>
      </p:pic>
      <p:sp>
        <p:nvSpPr>
          <p:cNvPr id="12" name="text-242"/>
          <p:cNvSpPr txBox="1"/>
          <p:nvPr/>
        </p:nvSpPr>
        <p:spPr>
          <a:xfrm>
            <a:off x="4937760" y="4023360"/>
            <a:ext cx="3566160" cy="548640"/>
          </a:xfrm>
          <a:prstGeom prst="rect">
            <a:avLst/>
          </a:prstGeom>
          <a:noFill/>
          <a:ln/>
        </p:spPr>
        <p:txBody>
          <a:bodyPr wrap="square" lIns="0" tIns="0" rIns="0" bIns="0" rtlCol="0" anchor="t"/>
          <a:lstStyle/>
          <a:p>
            <a:pPr indent="0" marL="0">
              <a:buNone/>
            </a:pPr>
            <a:r>
              <a:rPr lang="en-US" sz="1250" dirty="0">
                <a:solidFill>
                  <a:schemeClr val="accent6"/>
                </a:solidFill>
              </a:rPr>
              <a:t>Confidence also flags mistakes: AUROC 0.96 for spotting wrong predictions.</a:t>
            </a:r>
            <a:endParaRPr lang="en-US" sz="1250" dirty="0"/>
          </a:p>
        </p:txBody>
      </p:sp>
      <p:sp>
        <p:nvSpPr>
          <p:cNvPr id="25" name="Slide Number Placeholder 0"/>
          <p:cNvSpPr>
            <a:spLocks noGrp="1"/>
          </p:cNvSpPr>
          <p:nvPr>
            <p:ph type="sldNum" sz="quarter" idx="4294967295"/>
          </p:nvPr>
        </p:nvSpPr>
        <p:spPr>
          <a:xfrm>
            <a:off x="8229600" y="4828032"/>
            <a:ext cx="457200" cy="22860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defRPr>
            </a:lvl1pPr>
          </a:lstStyle>
          <a:p>
            <a:pPr algn="r"/>
            <a:fld id="{F7021451-1387-4CA6-816F-3879F97B5CBC}" type="slidenum">
              <a:rPr b="0" lang="en-US"/>
              <a:t>18</a:t>
            </a:fld>
            <a:endParaRPr lang="en-US"/>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spTree>
      <p:nvGrpSpPr>
        <p:cNvPr id="1" name=""/>
        <p:cNvGrpSpPr/>
        <p:nvPr/>
      </p:nvGrpSpPr>
      <p:grpSpPr>
        <a:xfrm>
          <a:off x="0" y="0"/>
          <a:ext cx="0" cy="0"/>
          <a:chOff x="0" y="0"/>
          <a:chExt cx="0" cy="0"/>
        </a:xfrm>
      </p:grpSpPr>
      <p:sp>
        <p:nvSpPr>
          <p:cNvPr id="2" name="Text 0"/>
          <p:cNvSpPr/>
          <p:nvPr>
            <p:ph idx="100" type="title" hasCustomPrompt="1"/>
          </p:nvPr>
        </p:nvSpPr>
        <p:spPr>
          <a:xfrm>
            <a:off x="457200" y="256032"/>
            <a:ext cx="8229600" cy="685800"/>
          </a:xfrm>
          <a:prstGeom prst="rect">
            <a:avLst/>
          </a:prstGeom>
          <a:noFill/>
          <a:ln/>
        </p:spPr>
        <p:txBody>
          <a:bodyPr wrap="square" lIns="0" tIns="0" rIns="0" bIns="0" rtlCol="0" anchor="ctr"/>
          <a:lstStyle/>
          <a:p>
            <a:pPr algn="l" indent="0" marL="0">
              <a:buNone/>
            </a:pPr>
            <a:r>
              <a:rPr lang="en-US" sz="2800" b="1" dirty="0">
                <a:solidFill>
                  <a:schemeClr val="tx1"/>
                </a:solidFill>
              </a:rPr>
              <a:t>Seven post-hoc explanation engines</a:t>
            </a:r>
            <a:endParaRPr lang="en-US" sz="2800" dirty="0"/>
          </a:p>
        </p:txBody>
      </p:sp>
      <p:sp>
        <p:nvSpPr>
          <p:cNvPr id="4" name="card-243"/>
          <p:cNvSpPr/>
          <p:nvPr/>
        </p:nvSpPr>
        <p:spPr>
          <a:xfrm>
            <a:off x="457200" y="1051560"/>
            <a:ext cx="8229600" cy="1554480"/>
          </a:xfrm>
          <a:prstGeom prst="roundRect">
            <a:avLst>
              <a:gd name="adj" fmla="val 4706"/>
            </a:avLst>
          </a:prstGeom>
          <a:solidFill>
            <a:srgbClr val="FFFFFF"/>
          </a:solidFill>
          <a:ln w="12700">
            <a:solidFill>
              <a:srgbClr val="FFFFFF"/>
            </a:solidFill>
            <a:prstDash val="solid"/>
          </a:ln>
        </p:spPr>
      </p:sp>
      <p:pic>
        <p:nvPicPr>
          <p:cNvPr id="5" name="image-244" descr="/private/tmp/claude-501/-Users-parthsharma-Desktop-XAI-PDS/20cb58d2-ae23-468c-9c17-7a209704af59/scratchpad/deck/assets/engines_strip.png">    </p:cNvPr>
          <p:cNvPicPr>
            <a:picLocks noChangeAspect="1"/>
          </p:cNvPicPr>
          <p:nvPr/>
        </p:nvPicPr>
        <p:blipFill>
          <a:blip r:embed="rId1"/>
          <a:stretch>
            <a:fillRect/>
          </a:stretch>
        </p:blipFill>
        <p:spPr>
          <a:xfrm>
            <a:off x="502920" y="1097280"/>
            <a:ext cx="8138160" cy="1311148"/>
          </a:xfrm>
          <a:prstGeom prst="rect">
            <a:avLst/>
          </a:prstGeom>
        </p:spPr>
      </p:pic>
      <p:sp>
        <p:nvSpPr>
          <p:cNvPr id="6" name="card-245"/>
          <p:cNvSpPr/>
          <p:nvPr/>
        </p:nvSpPr>
        <p:spPr>
          <a:xfrm>
            <a:off x="457200" y="2743200"/>
            <a:ext cx="2651760" cy="1965960"/>
          </a:xfrm>
          <a:prstGeom prst="roundRect">
            <a:avLst>
              <a:gd name="adj" fmla="val 3721"/>
            </a:avLst>
          </a:prstGeom>
          <a:solidFill>
            <a:schemeClr val="bg2"/>
          </a:solidFill>
          <a:ln w="12700">
            <a:solidFill>
              <a:schemeClr val="bg2"/>
            </a:solidFill>
            <a:prstDash val="solid"/>
          </a:ln>
        </p:spPr>
      </p:sp>
      <p:sp>
        <p:nvSpPr>
          <p:cNvPr id="7" name="text-246"/>
          <p:cNvSpPr txBox="1"/>
          <p:nvPr/>
        </p:nvSpPr>
        <p:spPr>
          <a:xfrm>
            <a:off x="594360" y="2816352"/>
            <a:ext cx="2377440" cy="274320"/>
          </a:xfrm>
          <a:prstGeom prst="rect">
            <a:avLst/>
          </a:prstGeom>
          <a:noFill/>
          <a:ln/>
        </p:spPr>
        <p:txBody>
          <a:bodyPr wrap="square" lIns="0" tIns="0" rIns="0" bIns="0" rtlCol="0" anchor="t"/>
          <a:lstStyle/>
          <a:p>
            <a:pPr indent="0" marL="0">
              <a:buNone/>
            </a:pPr>
            <a:r>
              <a:rPr lang="en-US" sz="1400" b="1" dirty="0">
                <a:solidFill>
                  <a:schemeClr val="accent1"/>
                </a:solidFill>
              </a:rPr>
              <a:t>Activation-based</a:t>
            </a:r>
            <a:endParaRPr lang="en-US" sz="1400" dirty="0"/>
          </a:p>
        </p:txBody>
      </p:sp>
      <p:sp>
        <p:nvSpPr>
          <p:cNvPr id="8" name="text-247"/>
          <p:cNvSpPr txBox="1"/>
          <p:nvPr/>
        </p:nvSpPr>
        <p:spPr>
          <a:xfrm>
            <a:off x="594360" y="3154680"/>
            <a:ext cx="2377440" cy="1508760"/>
          </a:xfrm>
          <a:prstGeom prst="rect">
            <a:avLst/>
          </a:prstGeom>
          <a:noFill/>
          <a:ln/>
        </p:spPr>
        <p:txBody>
          <a:bodyPr wrap="square" lIns="0" tIns="0" rIns="0" bIns="0" rtlCol="0" anchor="t"/>
          <a:lstStyle/>
          <a:p>
            <a:pPr indent="0" marL="0">
              <a:buNone/>
            </a:pPr>
            <a:r>
              <a:rPr lang="en-US" sz="1300" b="1" dirty="0">
                <a:solidFill>
                  <a:schemeClr val="tx1"/>
                </a:solidFill>
              </a:rPr>
              <a:t>Grad-CAM</a:t>
            </a:r>
            <a:pPr indent="0" marL="0">
              <a:spcAft>
                <a:spcPts val="700"/>
              </a:spcAft>
              <a:buNone/>
            </a:pPr>
            <a:r>
              <a:rPr lang="en-US" sz="1250" dirty="0">
                <a:solidFill>
                  <a:srgbClr val="6B7F75"/>
                </a:solidFill>
              </a:rPr>
              <a:t> — regions that pushed the class score up</a:t>
            </a:r>
            <a:endParaRPr lang="en-US" sz="1400" dirty="0"/>
          </a:p>
          <a:p>
            <a:pPr indent="0" marL="0">
              <a:buNone/>
            </a:pPr>
            <a:r>
              <a:rPr lang="en-US" sz="1300" b="1" dirty="0">
                <a:solidFill>
                  <a:schemeClr val="tx1"/>
                </a:solidFill>
              </a:rPr>
              <a:t>Grad-CAM++</a:t>
            </a:r>
            <a:pPr indent="0" marL="0">
              <a:spcAft>
                <a:spcPts val="700"/>
              </a:spcAft>
              <a:buNone/>
            </a:pPr>
            <a:r>
              <a:rPr lang="en-US" sz="1250" dirty="0">
                <a:solidFill>
                  <a:srgbClr val="6B7F75"/>
                </a:solidFill>
              </a:rPr>
              <a:t> — better at several separate lesions</a:t>
            </a:r>
            <a:endParaRPr lang="en-US" sz="1400" dirty="0"/>
          </a:p>
        </p:txBody>
      </p:sp>
      <p:sp>
        <p:nvSpPr>
          <p:cNvPr id="9" name="card-248"/>
          <p:cNvSpPr/>
          <p:nvPr/>
        </p:nvSpPr>
        <p:spPr>
          <a:xfrm>
            <a:off x="3314700" y="2743200"/>
            <a:ext cx="3063240" cy="1965960"/>
          </a:xfrm>
          <a:prstGeom prst="roundRect">
            <a:avLst>
              <a:gd name="adj" fmla="val 3721"/>
            </a:avLst>
          </a:prstGeom>
          <a:solidFill>
            <a:schemeClr val="bg2"/>
          </a:solidFill>
          <a:ln w="12700">
            <a:solidFill>
              <a:schemeClr val="bg2"/>
            </a:solidFill>
            <a:prstDash val="solid"/>
          </a:ln>
        </p:spPr>
      </p:sp>
      <p:sp>
        <p:nvSpPr>
          <p:cNvPr id="10" name="text-249"/>
          <p:cNvSpPr txBox="1"/>
          <p:nvPr/>
        </p:nvSpPr>
        <p:spPr>
          <a:xfrm>
            <a:off x="3451860" y="2816352"/>
            <a:ext cx="2788920" cy="274320"/>
          </a:xfrm>
          <a:prstGeom prst="rect">
            <a:avLst/>
          </a:prstGeom>
          <a:noFill/>
          <a:ln/>
        </p:spPr>
        <p:txBody>
          <a:bodyPr wrap="square" lIns="0" tIns="0" rIns="0" bIns="0" rtlCol="0" anchor="t"/>
          <a:lstStyle/>
          <a:p>
            <a:pPr indent="0" marL="0">
              <a:buNone/>
            </a:pPr>
            <a:r>
              <a:rPr lang="en-US" sz="1400" b="1" dirty="0">
                <a:solidFill>
                  <a:schemeClr val="accent3"/>
                </a:solidFill>
              </a:rPr>
              <a:t>Gradient-based</a:t>
            </a:r>
            <a:endParaRPr lang="en-US" sz="1400" dirty="0"/>
          </a:p>
        </p:txBody>
      </p:sp>
      <p:sp>
        <p:nvSpPr>
          <p:cNvPr id="11" name="text-250"/>
          <p:cNvSpPr txBox="1"/>
          <p:nvPr/>
        </p:nvSpPr>
        <p:spPr>
          <a:xfrm>
            <a:off x="3451860" y="3154680"/>
            <a:ext cx="2788920" cy="1508760"/>
          </a:xfrm>
          <a:prstGeom prst="rect">
            <a:avLst/>
          </a:prstGeom>
          <a:noFill/>
          <a:ln/>
        </p:spPr>
        <p:txBody>
          <a:bodyPr wrap="square" lIns="0" tIns="0" rIns="0" bIns="0" rtlCol="0" anchor="t"/>
          <a:lstStyle/>
          <a:p>
            <a:pPr indent="0" marL="0">
              <a:buNone/>
            </a:pPr>
            <a:r>
              <a:rPr lang="en-US" sz="1300" b="1" dirty="0">
                <a:solidFill>
                  <a:schemeClr val="tx1"/>
                </a:solidFill>
              </a:rPr>
              <a:t>Saliency</a:t>
            </a:r>
            <a:pPr indent="0" marL="0">
              <a:spcAft>
                <a:spcPts val="700"/>
              </a:spcAft>
              <a:buNone/>
            </a:pPr>
            <a:r>
              <a:rPr lang="en-US" sz="1250" dirty="0">
                <a:solidFill>
                  <a:srgbClr val="6B7F75"/>
                </a:solidFill>
              </a:rPr>
              <a:t> — pixels whose change moves the score</a:t>
            </a:r>
            <a:endParaRPr lang="en-US" sz="1400" dirty="0"/>
          </a:p>
          <a:p>
            <a:pPr indent="0" marL="0">
              <a:buNone/>
            </a:pPr>
            <a:r>
              <a:rPr lang="en-US" sz="1300" b="1" dirty="0">
                <a:solidFill>
                  <a:schemeClr val="tx1"/>
                </a:solidFill>
              </a:rPr>
              <a:t>SmoothGrad</a:t>
            </a:r>
            <a:pPr indent="0" marL="0">
              <a:spcAft>
                <a:spcPts val="700"/>
              </a:spcAft>
              <a:buNone/>
            </a:pPr>
            <a:r>
              <a:rPr lang="en-US" sz="1250" dirty="0">
                <a:solidFill>
                  <a:srgbClr val="6B7F75"/>
                </a:solidFill>
              </a:rPr>
              <a:t> — saliency averaged over noisy copies</a:t>
            </a:r>
            <a:endParaRPr lang="en-US" sz="1400" dirty="0"/>
          </a:p>
          <a:p>
            <a:pPr indent="0" marL="0">
              <a:buNone/>
            </a:pPr>
            <a:r>
              <a:rPr lang="en-US" sz="1300" b="1" dirty="0">
                <a:solidFill>
                  <a:schemeClr val="tx1"/>
                </a:solidFill>
              </a:rPr>
              <a:t>Integrated Gradients</a:t>
            </a:r>
            <a:pPr indent="0" marL="0">
              <a:spcAft>
                <a:spcPts val="700"/>
              </a:spcAft>
              <a:buNone/>
            </a:pPr>
            <a:r>
              <a:rPr lang="en-US" sz="1250" dirty="0">
                <a:solidFill>
                  <a:srgbClr val="6B7F75"/>
                </a:solidFill>
              </a:rPr>
              <a:t> — credit added up from a blank image</a:t>
            </a:r>
            <a:endParaRPr lang="en-US" sz="1400" dirty="0"/>
          </a:p>
        </p:txBody>
      </p:sp>
      <p:sp>
        <p:nvSpPr>
          <p:cNvPr id="12" name="card-251"/>
          <p:cNvSpPr/>
          <p:nvPr/>
        </p:nvSpPr>
        <p:spPr>
          <a:xfrm>
            <a:off x="6583680" y="2743200"/>
            <a:ext cx="2194560" cy="1965960"/>
          </a:xfrm>
          <a:prstGeom prst="roundRect">
            <a:avLst>
              <a:gd name="adj" fmla="val 3721"/>
            </a:avLst>
          </a:prstGeom>
          <a:solidFill>
            <a:schemeClr val="bg2"/>
          </a:solidFill>
          <a:ln w="12700">
            <a:solidFill>
              <a:schemeClr val="bg2"/>
            </a:solidFill>
            <a:prstDash val="solid"/>
          </a:ln>
        </p:spPr>
      </p:sp>
      <p:sp>
        <p:nvSpPr>
          <p:cNvPr id="13" name="text-252"/>
          <p:cNvSpPr txBox="1"/>
          <p:nvPr/>
        </p:nvSpPr>
        <p:spPr>
          <a:xfrm>
            <a:off x="6720840" y="2816352"/>
            <a:ext cx="1920240" cy="274320"/>
          </a:xfrm>
          <a:prstGeom prst="rect">
            <a:avLst/>
          </a:prstGeom>
          <a:noFill/>
          <a:ln/>
        </p:spPr>
        <p:txBody>
          <a:bodyPr wrap="square" lIns="0" tIns="0" rIns="0" bIns="0" rtlCol="0" anchor="t"/>
          <a:lstStyle/>
          <a:p>
            <a:pPr indent="0" marL="0">
              <a:buNone/>
            </a:pPr>
            <a:r>
              <a:rPr lang="en-US" sz="1400" b="1" dirty="0">
                <a:solidFill>
                  <a:schemeClr val="accent2"/>
                </a:solidFill>
              </a:rPr>
              <a:t>Perturbation-based</a:t>
            </a:r>
            <a:endParaRPr lang="en-US" sz="1400" dirty="0"/>
          </a:p>
        </p:txBody>
      </p:sp>
      <p:sp>
        <p:nvSpPr>
          <p:cNvPr id="14" name="text-253"/>
          <p:cNvSpPr txBox="1"/>
          <p:nvPr/>
        </p:nvSpPr>
        <p:spPr>
          <a:xfrm>
            <a:off x="6720840" y="3154680"/>
            <a:ext cx="1920240" cy="1508760"/>
          </a:xfrm>
          <a:prstGeom prst="rect">
            <a:avLst/>
          </a:prstGeom>
          <a:noFill/>
          <a:ln/>
        </p:spPr>
        <p:txBody>
          <a:bodyPr wrap="square" lIns="0" tIns="0" rIns="0" bIns="0" rtlCol="0" anchor="t"/>
          <a:lstStyle/>
          <a:p>
            <a:pPr indent="0" marL="0">
              <a:buNone/>
            </a:pPr>
            <a:r>
              <a:rPr lang="en-US" sz="1300" b="1" dirty="0">
                <a:solidFill>
                  <a:schemeClr val="tx1"/>
                </a:solidFill>
              </a:rPr>
              <a:t>SHAP</a:t>
            </a:r>
            <a:pPr indent="0" marL="0">
              <a:spcAft>
                <a:spcPts val="700"/>
              </a:spcAft>
              <a:buNone/>
            </a:pPr>
            <a:r>
              <a:rPr lang="en-US" sz="1250" dirty="0">
                <a:solidFill>
                  <a:srgbClr val="6B7F75"/>
                </a:solidFill>
              </a:rPr>
              <a:t> — hide patches, see the score drop</a:t>
            </a:r>
            <a:endParaRPr lang="en-US" sz="1400" dirty="0"/>
          </a:p>
          <a:p>
            <a:pPr indent="0" marL="0">
              <a:buNone/>
            </a:pPr>
            <a:r>
              <a:rPr lang="en-US" sz="1300" b="1" dirty="0">
                <a:solidFill>
                  <a:schemeClr val="tx1"/>
                </a:solidFill>
              </a:rPr>
              <a:t>LIME</a:t>
            </a:r>
            <a:pPr indent="0" marL="0">
              <a:spcAft>
                <a:spcPts val="700"/>
              </a:spcAft>
              <a:buNone/>
            </a:pPr>
            <a:r>
              <a:rPr lang="en-US" sz="1250" dirty="0">
                <a:solidFill>
                  <a:srgbClr val="6B7F75"/>
                </a:solidFill>
              </a:rPr>
              <a:t> — a simple model imitates the CNN nearby</a:t>
            </a:r>
            <a:endParaRPr lang="en-US" sz="1400" dirty="0"/>
          </a:p>
        </p:txBody>
      </p:sp>
      <p:sp>
        <p:nvSpPr>
          <p:cNvPr id="25" name="Slide Number Placeholder 0"/>
          <p:cNvSpPr>
            <a:spLocks noGrp="1"/>
          </p:cNvSpPr>
          <p:nvPr>
            <p:ph type="sldNum" sz="quarter" idx="4294967295"/>
          </p:nvPr>
        </p:nvSpPr>
        <p:spPr>
          <a:xfrm>
            <a:off x="8229600" y="4828032"/>
            <a:ext cx="457200" cy="22860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defRPr>
            </a:lvl1pPr>
          </a:lstStyle>
          <a:p>
            <a:pPr algn="r"/>
            <a:fld id="{F7021451-1387-4CA6-816F-3879F97B5CBC}" type="slidenum">
              <a:rPr b="0" lang="en-US"/>
              <a:t>19</a:t>
            </a:fld>
            <a:endParaRPr lang="en-US"/>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spTree>
      <p:nvGrpSpPr>
        <p:cNvPr id="1" name=""/>
        <p:cNvGrpSpPr/>
        <p:nvPr/>
      </p:nvGrpSpPr>
      <p:grpSpPr>
        <a:xfrm>
          <a:off x="0" y="0"/>
          <a:ext cx="0" cy="0"/>
          <a:chOff x="0" y="0"/>
          <a:chExt cx="0" cy="0"/>
        </a:xfrm>
      </p:grpSpPr>
      <p:sp>
        <p:nvSpPr>
          <p:cNvPr id="2" name="Text 0"/>
          <p:cNvSpPr/>
          <p:nvPr>
            <p:ph idx="100" type="title" hasCustomPrompt="1"/>
          </p:nvPr>
        </p:nvSpPr>
        <p:spPr>
          <a:xfrm>
            <a:off x="457200" y="256032"/>
            <a:ext cx="8229600" cy="685800"/>
          </a:xfrm>
          <a:prstGeom prst="rect">
            <a:avLst/>
          </a:prstGeom>
          <a:noFill/>
          <a:ln/>
        </p:spPr>
        <p:txBody>
          <a:bodyPr wrap="square" lIns="0" tIns="0" rIns="0" bIns="0" rtlCol="0" anchor="ctr"/>
          <a:lstStyle/>
          <a:p>
            <a:pPr algn="l" indent="0" marL="0">
              <a:buNone/>
            </a:pPr>
            <a:r>
              <a:rPr lang="en-US" sz="2800" b="1" dirty="0">
                <a:solidFill>
                  <a:schemeClr val="tx1"/>
                </a:solidFill>
              </a:rPr>
              <a:t>Gradient-based engines: how they differ</a:t>
            </a:r>
            <a:endParaRPr lang="en-US" sz="2800" dirty="0"/>
          </a:p>
        </p:txBody>
      </p:sp>
      <p:sp>
        <p:nvSpPr>
          <p:cNvPr id="4" name="card-254"/>
          <p:cNvSpPr/>
          <p:nvPr/>
        </p:nvSpPr>
        <p:spPr>
          <a:xfrm>
            <a:off x="457200" y="1097280"/>
            <a:ext cx="2606040" cy="3566160"/>
          </a:xfrm>
          <a:prstGeom prst="roundRect">
            <a:avLst>
              <a:gd name="adj" fmla="val 2807"/>
            </a:avLst>
          </a:prstGeom>
          <a:solidFill>
            <a:schemeClr val="bg2"/>
          </a:solidFill>
          <a:ln w="12700">
            <a:solidFill>
              <a:schemeClr val="bg2"/>
            </a:solidFill>
            <a:prstDash val="solid"/>
          </a:ln>
        </p:spPr>
      </p:sp>
      <p:pic>
        <p:nvPicPr>
          <p:cNvPr id="5" name="thumb-255" descr="/private/tmp/claude-501/-Users-parthsharma-Desktop-XAI-PDS/20cb58d2-ae23-468c-9c17-7a209704af59/scratchpad/deck/assets/th_gradcam.png">    </p:cNvPr>
          <p:cNvPicPr>
            <a:picLocks noChangeAspect="1"/>
          </p:cNvPicPr>
          <p:nvPr/>
        </p:nvPicPr>
        <p:blipFill>
          <a:blip r:embed="rId1"/>
          <a:stretch>
            <a:fillRect/>
          </a:stretch>
        </p:blipFill>
        <p:spPr>
          <a:xfrm>
            <a:off x="594360" y="1207008"/>
            <a:ext cx="1097280" cy="1097280"/>
          </a:xfrm>
          <a:prstGeom prst="rect">
            <a:avLst/>
          </a:prstGeom>
        </p:spPr>
      </p:pic>
      <p:sp>
        <p:nvSpPr>
          <p:cNvPr id="6" name="text-256"/>
          <p:cNvSpPr txBox="1"/>
          <p:nvPr/>
        </p:nvSpPr>
        <p:spPr>
          <a:xfrm>
            <a:off x="594360" y="2331720"/>
            <a:ext cx="1097280" cy="274320"/>
          </a:xfrm>
          <a:prstGeom prst="rect">
            <a:avLst/>
          </a:prstGeom>
          <a:noFill/>
          <a:ln/>
        </p:spPr>
        <p:txBody>
          <a:bodyPr wrap="square" lIns="0" tIns="0" rIns="0" bIns="0" rtlCol="0" anchor="t"/>
          <a:lstStyle/>
          <a:p>
            <a:pPr algn="ctr" indent="0" marL="0">
              <a:buNone/>
            </a:pPr>
            <a:r>
              <a:rPr lang="en-US" sz="1000" dirty="0">
                <a:solidFill>
                  <a:schemeClr val="accent6"/>
                </a:solidFill>
              </a:rPr>
              <a:t>Grad-CAM</a:t>
            </a:r>
            <a:endParaRPr lang="en-US" sz="1000" dirty="0"/>
          </a:p>
        </p:txBody>
      </p:sp>
      <p:pic>
        <p:nvPicPr>
          <p:cNvPr id="7" name="thumb-257" descr="/private/tmp/claude-501/-Users-parthsharma-Desktop-XAI-PDS/20cb58d2-ae23-468c-9c17-7a209704af59/scratchpad/deck/assets/th_gradcam_pp.png">    </p:cNvPr>
          <p:cNvPicPr>
            <a:picLocks noChangeAspect="1"/>
          </p:cNvPicPr>
          <p:nvPr/>
        </p:nvPicPr>
        <p:blipFill>
          <a:blip r:embed="rId2"/>
          <a:stretch>
            <a:fillRect/>
          </a:stretch>
        </p:blipFill>
        <p:spPr>
          <a:xfrm>
            <a:off x="1783080" y="1207008"/>
            <a:ext cx="1097280" cy="1097280"/>
          </a:xfrm>
          <a:prstGeom prst="rect">
            <a:avLst/>
          </a:prstGeom>
        </p:spPr>
      </p:pic>
      <p:sp>
        <p:nvSpPr>
          <p:cNvPr id="8" name="text-258"/>
          <p:cNvSpPr txBox="1"/>
          <p:nvPr/>
        </p:nvSpPr>
        <p:spPr>
          <a:xfrm>
            <a:off x="1783080" y="2331720"/>
            <a:ext cx="1097280" cy="274320"/>
          </a:xfrm>
          <a:prstGeom prst="rect">
            <a:avLst/>
          </a:prstGeom>
          <a:noFill/>
          <a:ln/>
        </p:spPr>
        <p:txBody>
          <a:bodyPr wrap="square" lIns="0" tIns="0" rIns="0" bIns="0" rtlCol="0" anchor="t"/>
          <a:lstStyle/>
          <a:p>
            <a:pPr algn="ctr" indent="0" marL="0">
              <a:buNone/>
            </a:pPr>
            <a:r>
              <a:rPr lang="en-US" sz="1000" dirty="0">
                <a:solidFill>
                  <a:schemeClr val="accent6"/>
                </a:solidFill>
              </a:rPr>
              <a:t>Grad-CAM++</a:t>
            </a:r>
            <a:endParaRPr lang="en-US" sz="1000" dirty="0"/>
          </a:p>
        </p:txBody>
      </p:sp>
      <p:sp>
        <p:nvSpPr>
          <p:cNvPr id="9" name="text-259"/>
          <p:cNvSpPr txBox="1"/>
          <p:nvPr/>
        </p:nvSpPr>
        <p:spPr>
          <a:xfrm>
            <a:off x="594360" y="2697480"/>
            <a:ext cx="2331720" cy="274320"/>
          </a:xfrm>
          <a:prstGeom prst="rect">
            <a:avLst/>
          </a:prstGeom>
          <a:noFill/>
          <a:ln/>
        </p:spPr>
        <p:txBody>
          <a:bodyPr wrap="square" lIns="0" tIns="0" rIns="0" bIns="0" rtlCol="0" anchor="t"/>
          <a:lstStyle/>
          <a:p>
            <a:pPr indent="0" marL="0">
              <a:buNone/>
            </a:pPr>
            <a:r>
              <a:rPr lang="en-US" sz="1400" b="1" dirty="0">
                <a:solidFill>
                  <a:schemeClr val="accent1"/>
                </a:solidFill>
              </a:rPr>
              <a:t>Grad-CAM and Grad-CAM++</a:t>
            </a:r>
            <a:endParaRPr lang="en-US" sz="1400" dirty="0"/>
          </a:p>
        </p:txBody>
      </p:sp>
      <p:sp>
        <p:nvSpPr>
          <p:cNvPr id="10" name="text-260"/>
          <p:cNvSpPr txBox="1"/>
          <p:nvPr/>
        </p:nvSpPr>
        <p:spPr>
          <a:xfrm>
            <a:off x="594360" y="3017520"/>
            <a:ext cx="2331720" cy="1600200"/>
          </a:xfrm>
          <a:prstGeom prst="rect">
            <a:avLst/>
          </a:prstGeom>
          <a:noFill/>
          <a:ln/>
        </p:spPr>
        <p:txBody>
          <a:bodyPr wrap="square" lIns="0" tIns="0" rIns="0" bIns="0" rtlCol="0" anchor="t"/>
          <a:lstStyle/>
          <a:p>
            <a:pPr marL="342900" indent="-342900">
              <a:spcAft>
                <a:spcPts val="600"/>
              </a:spcAft>
              <a:buSzPct val="100000"/>
              <a:buChar char="•"/>
            </a:pPr>
            <a:r>
              <a:rPr lang="en-US" sz="1200" dirty="0">
                <a:solidFill>
                  <a:schemeClr val="tx1"/>
                </a:solidFill>
              </a:rPr>
              <a:t>Regions that raised the class score</a:t>
            </a:r>
            <a:endParaRPr lang="en-US" sz="1200" dirty="0"/>
          </a:p>
          <a:p>
            <a:pPr marL="342900" indent="-342900">
              <a:spcAft>
                <a:spcPts val="600"/>
              </a:spcAft>
              <a:buSzPct val="100000"/>
              <a:buChar char="•"/>
            </a:pPr>
            <a:r>
              <a:rPr lang="en-US" sz="1200" dirty="0">
                <a:solidFill>
                  <a:schemeClr val="tx1"/>
                </a:solidFill>
              </a:rPr>
              <a:t>Read the last convolution layer, so maps are smooth</a:t>
            </a:r>
            <a:endParaRPr lang="en-US" sz="1200" dirty="0"/>
          </a:p>
          <a:p>
            <a:pPr marL="342900" indent="-342900">
              <a:spcAft>
                <a:spcPts val="600"/>
              </a:spcAft>
              <a:buSzPct val="100000"/>
              <a:buChar char="•"/>
            </a:pPr>
            <a:r>
              <a:rPr lang="en-US" sz="1200" dirty="0">
                <a:solidFill>
                  <a:schemeClr val="tx1"/>
                </a:solidFill>
              </a:rPr>
              <a:t>Grad-CAM++ weights feature maps with higher-order gradients</a:t>
            </a:r>
            <a:endParaRPr lang="en-US" sz="1200" dirty="0"/>
          </a:p>
        </p:txBody>
      </p:sp>
      <p:sp>
        <p:nvSpPr>
          <p:cNvPr id="11" name="card-261"/>
          <p:cNvSpPr/>
          <p:nvPr/>
        </p:nvSpPr>
        <p:spPr>
          <a:xfrm>
            <a:off x="3246120" y="1097280"/>
            <a:ext cx="2606040" cy="3566160"/>
          </a:xfrm>
          <a:prstGeom prst="roundRect">
            <a:avLst>
              <a:gd name="adj" fmla="val 2807"/>
            </a:avLst>
          </a:prstGeom>
          <a:solidFill>
            <a:schemeClr val="bg2"/>
          </a:solidFill>
          <a:ln w="12700">
            <a:solidFill>
              <a:schemeClr val="bg2"/>
            </a:solidFill>
            <a:prstDash val="solid"/>
          </a:ln>
        </p:spPr>
      </p:sp>
      <p:pic>
        <p:nvPicPr>
          <p:cNvPr id="12" name="thumb-262" descr="/private/tmp/claude-501/-Users-parthsharma-Desktop-XAI-PDS/20cb58d2-ae23-468c-9c17-7a209704af59/scratchpad/deck/assets/th_saliency.png">    </p:cNvPr>
          <p:cNvPicPr>
            <a:picLocks noChangeAspect="1"/>
          </p:cNvPicPr>
          <p:nvPr/>
        </p:nvPicPr>
        <p:blipFill>
          <a:blip r:embed="rId3"/>
          <a:stretch>
            <a:fillRect/>
          </a:stretch>
        </p:blipFill>
        <p:spPr>
          <a:xfrm>
            <a:off x="3383280" y="1207008"/>
            <a:ext cx="1097280" cy="1097280"/>
          </a:xfrm>
          <a:prstGeom prst="rect">
            <a:avLst/>
          </a:prstGeom>
        </p:spPr>
      </p:pic>
      <p:sp>
        <p:nvSpPr>
          <p:cNvPr id="13" name="text-263"/>
          <p:cNvSpPr txBox="1"/>
          <p:nvPr/>
        </p:nvSpPr>
        <p:spPr>
          <a:xfrm>
            <a:off x="3383280" y="2331720"/>
            <a:ext cx="1097280" cy="274320"/>
          </a:xfrm>
          <a:prstGeom prst="rect">
            <a:avLst/>
          </a:prstGeom>
          <a:noFill/>
          <a:ln/>
        </p:spPr>
        <p:txBody>
          <a:bodyPr wrap="square" lIns="0" tIns="0" rIns="0" bIns="0" rtlCol="0" anchor="t"/>
          <a:lstStyle/>
          <a:p>
            <a:pPr algn="ctr" indent="0" marL="0">
              <a:buNone/>
            </a:pPr>
            <a:r>
              <a:rPr lang="en-US" sz="1000" dirty="0">
                <a:solidFill>
                  <a:schemeClr val="accent6"/>
                </a:solidFill>
              </a:rPr>
              <a:t>Saliency</a:t>
            </a:r>
            <a:endParaRPr lang="en-US" sz="1000" dirty="0"/>
          </a:p>
        </p:txBody>
      </p:sp>
      <p:pic>
        <p:nvPicPr>
          <p:cNvPr id="14" name="thumb-264" descr="/private/tmp/claude-501/-Users-parthsharma-Desktop-XAI-PDS/20cb58d2-ae23-468c-9c17-7a209704af59/scratchpad/deck/assets/th_smoothgrad.png">    </p:cNvPr>
          <p:cNvPicPr>
            <a:picLocks noChangeAspect="1"/>
          </p:cNvPicPr>
          <p:nvPr/>
        </p:nvPicPr>
        <p:blipFill>
          <a:blip r:embed="rId4"/>
          <a:stretch>
            <a:fillRect/>
          </a:stretch>
        </p:blipFill>
        <p:spPr>
          <a:xfrm>
            <a:off x="4572000" y="1207008"/>
            <a:ext cx="1097280" cy="1097280"/>
          </a:xfrm>
          <a:prstGeom prst="rect">
            <a:avLst/>
          </a:prstGeom>
        </p:spPr>
      </p:pic>
      <p:sp>
        <p:nvSpPr>
          <p:cNvPr id="15" name="text-265"/>
          <p:cNvSpPr txBox="1"/>
          <p:nvPr/>
        </p:nvSpPr>
        <p:spPr>
          <a:xfrm>
            <a:off x="4572000" y="2331720"/>
            <a:ext cx="1097280" cy="274320"/>
          </a:xfrm>
          <a:prstGeom prst="rect">
            <a:avLst/>
          </a:prstGeom>
          <a:noFill/>
          <a:ln/>
        </p:spPr>
        <p:txBody>
          <a:bodyPr wrap="square" lIns="0" tIns="0" rIns="0" bIns="0" rtlCol="0" anchor="t"/>
          <a:lstStyle/>
          <a:p>
            <a:pPr algn="ctr" indent="0" marL="0">
              <a:buNone/>
            </a:pPr>
            <a:r>
              <a:rPr lang="en-US" sz="1000" dirty="0">
                <a:solidFill>
                  <a:schemeClr val="accent6"/>
                </a:solidFill>
              </a:rPr>
              <a:t>SmoothGrad</a:t>
            </a:r>
            <a:endParaRPr lang="en-US" sz="1000" dirty="0"/>
          </a:p>
        </p:txBody>
      </p:sp>
      <p:sp>
        <p:nvSpPr>
          <p:cNvPr id="16" name="text-266"/>
          <p:cNvSpPr txBox="1"/>
          <p:nvPr/>
        </p:nvSpPr>
        <p:spPr>
          <a:xfrm>
            <a:off x="3383280" y="2697480"/>
            <a:ext cx="2331720" cy="274320"/>
          </a:xfrm>
          <a:prstGeom prst="rect">
            <a:avLst/>
          </a:prstGeom>
          <a:noFill/>
          <a:ln/>
        </p:spPr>
        <p:txBody>
          <a:bodyPr wrap="square" lIns="0" tIns="0" rIns="0" bIns="0" rtlCol="0" anchor="t"/>
          <a:lstStyle/>
          <a:p>
            <a:pPr indent="0" marL="0">
              <a:buNone/>
            </a:pPr>
            <a:r>
              <a:rPr lang="en-US" sz="1400" b="1" dirty="0">
                <a:solidFill>
                  <a:schemeClr val="accent3"/>
                </a:solidFill>
              </a:rPr>
              <a:t>Saliency and SmoothGrad</a:t>
            </a:r>
            <a:endParaRPr lang="en-US" sz="1400" dirty="0"/>
          </a:p>
        </p:txBody>
      </p:sp>
      <p:sp>
        <p:nvSpPr>
          <p:cNvPr id="17" name="text-267"/>
          <p:cNvSpPr txBox="1"/>
          <p:nvPr/>
        </p:nvSpPr>
        <p:spPr>
          <a:xfrm>
            <a:off x="3383280" y="3017520"/>
            <a:ext cx="2331720" cy="1600200"/>
          </a:xfrm>
          <a:prstGeom prst="rect">
            <a:avLst/>
          </a:prstGeom>
          <a:noFill/>
          <a:ln/>
        </p:spPr>
        <p:txBody>
          <a:bodyPr wrap="square" lIns="0" tIns="0" rIns="0" bIns="0" rtlCol="0" anchor="t"/>
          <a:lstStyle/>
          <a:p>
            <a:pPr marL="342900" indent="-342900">
              <a:spcAft>
                <a:spcPts val="600"/>
              </a:spcAft>
              <a:buSzPct val="100000"/>
              <a:buChar char="•"/>
            </a:pPr>
            <a:r>
              <a:rPr lang="en-US" sz="1200" dirty="0">
                <a:solidFill>
                  <a:schemeClr val="tx1"/>
                </a:solidFill>
              </a:rPr>
              <a:t>Which pixels change the score if they change a little</a:t>
            </a:r>
            <a:endParaRPr lang="en-US" sz="1200" dirty="0"/>
          </a:p>
          <a:p>
            <a:pPr marL="342900" indent="-342900">
              <a:spcAft>
                <a:spcPts val="600"/>
              </a:spcAft>
              <a:buSzPct val="100000"/>
              <a:buChar char="•"/>
            </a:pPr>
            <a:r>
              <a:rPr lang="en-US" sz="1200" dirty="0">
                <a:solidFill>
                  <a:schemeClr val="tx1"/>
                </a:solidFill>
              </a:rPr>
              <a:t>Saliency is noisy; SmoothGrad averages 15 noisy copies</a:t>
            </a:r>
            <a:endParaRPr lang="en-US" sz="1200" dirty="0"/>
          </a:p>
        </p:txBody>
      </p:sp>
      <p:sp>
        <p:nvSpPr>
          <p:cNvPr id="18" name="card-268"/>
          <p:cNvSpPr/>
          <p:nvPr/>
        </p:nvSpPr>
        <p:spPr>
          <a:xfrm>
            <a:off x="6035040" y="1097280"/>
            <a:ext cx="2606040" cy="3566160"/>
          </a:xfrm>
          <a:prstGeom prst="roundRect">
            <a:avLst>
              <a:gd name="adj" fmla="val 2807"/>
            </a:avLst>
          </a:prstGeom>
          <a:solidFill>
            <a:schemeClr val="bg2"/>
          </a:solidFill>
          <a:ln w="12700">
            <a:solidFill>
              <a:schemeClr val="bg2"/>
            </a:solidFill>
            <a:prstDash val="solid"/>
          </a:ln>
        </p:spPr>
      </p:sp>
      <p:pic>
        <p:nvPicPr>
          <p:cNvPr id="19" name="thumb-269" descr="/private/tmp/claude-501/-Users-parthsharma-Desktop-XAI-PDS/20cb58d2-ae23-468c-9c17-7a209704af59/scratchpad/deck/assets/th_input.png">    </p:cNvPr>
          <p:cNvPicPr>
            <a:picLocks noChangeAspect="1"/>
          </p:cNvPicPr>
          <p:nvPr/>
        </p:nvPicPr>
        <p:blipFill>
          <a:blip r:embed="rId5"/>
          <a:stretch>
            <a:fillRect/>
          </a:stretch>
        </p:blipFill>
        <p:spPr>
          <a:xfrm>
            <a:off x="6172200" y="1207008"/>
            <a:ext cx="1097280" cy="1097280"/>
          </a:xfrm>
          <a:prstGeom prst="rect">
            <a:avLst/>
          </a:prstGeom>
        </p:spPr>
      </p:pic>
      <p:sp>
        <p:nvSpPr>
          <p:cNvPr id="20" name="text-270"/>
          <p:cNvSpPr txBox="1"/>
          <p:nvPr/>
        </p:nvSpPr>
        <p:spPr>
          <a:xfrm>
            <a:off x="6172200" y="2331720"/>
            <a:ext cx="1097280" cy="274320"/>
          </a:xfrm>
          <a:prstGeom prst="rect">
            <a:avLst/>
          </a:prstGeom>
          <a:noFill/>
          <a:ln/>
        </p:spPr>
        <p:txBody>
          <a:bodyPr wrap="square" lIns="0" tIns="0" rIns="0" bIns="0" rtlCol="0" anchor="t"/>
          <a:lstStyle/>
          <a:p>
            <a:pPr algn="ctr" indent="0" marL="0">
              <a:buNone/>
            </a:pPr>
            <a:r>
              <a:rPr lang="en-US" sz="1000" dirty="0">
                <a:solidFill>
                  <a:schemeClr val="accent6"/>
                </a:solidFill>
              </a:rPr>
              <a:t>Photo</a:t>
            </a:r>
            <a:endParaRPr lang="en-US" sz="1000" dirty="0"/>
          </a:p>
        </p:txBody>
      </p:sp>
      <p:pic>
        <p:nvPicPr>
          <p:cNvPr id="21" name="thumb-271" descr="/private/tmp/claude-501/-Users-parthsharma-Desktop-XAI-PDS/20cb58d2-ae23-468c-9c17-7a209704af59/scratchpad/deck/assets/th_ig.png">    </p:cNvPr>
          <p:cNvPicPr>
            <a:picLocks noChangeAspect="1"/>
          </p:cNvPicPr>
          <p:nvPr/>
        </p:nvPicPr>
        <p:blipFill>
          <a:blip r:embed="rId6"/>
          <a:stretch>
            <a:fillRect/>
          </a:stretch>
        </p:blipFill>
        <p:spPr>
          <a:xfrm>
            <a:off x="7360920" y="1207008"/>
            <a:ext cx="1097280" cy="1097280"/>
          </a:xfrm>
          <a:prstGeom prst="rect">
            <a:avLst/>
          </a:prstGeom>
        </p:spPr>
      </p:pic>
      <p:sp>
        <p:nvSpPr>
          <p:cNvPr id="22" name="text-272"/>
          <p:cNvSpPr txBox="1"/>
          <p:nvPr/>
        </p:nvSpPr>
        <p:spPr>
          <a:xfrm>
            <a:off x="7360920" y="2331720"/>
            <a:ext cx="1097280" cy="274320"/>
          </a:xfrm>
          <a:prstGeom prst="rect">
            <a:avLst/>
          </a:prstGeom>
          <a:noFill/>
          <a:ln/>
        </p:spPr>
        <p:txBody>
          <a:bodyPr wrap="square" lIns="0" tIns="0" rIns="0" bIns="0" rtlCol="0" anchor="t"/>
          <a:lstStyle/>
          <a:p>
            <a:pPr algn="ctr" indent="0" marL="0">
              <a:buNone/>
            </a:pPr>
            <a:r>
              <a:rPr lang="en-US" sz="1000" dirty="0">
                <a:solidFill>
                  <a:schemeClr val="accent6"/>
                </a:solidFill>
              </a:rPr>
              <a:t>Integrated Gradients</a:t>
            </a:r>
            <a:endParaRPr lang="en-US" sz="1000" dirty="0"/>
          </a:p>
        </p:txBody>
      </p:sp>
      <p:sp>
        <p:nvSpPr>
          <p:cNvPr id="23" name="text-273"/>
          <p:cNvSpPr txBox="1"/>
          <p:nvPr/>
        </p:nvSpPr>
        <p:spPr>
          <a:xfrm>
            <a:off x="6172200" y="2697480"/>
            <a:ext cx="2331720" cy="274320"/>
          </a:xfrm>
          <a:prstGeom prst="rect">
            <a:avLst/>
          </a:prstGeom>
          <a:noFill/>
          <a:ln/>
        </p:spPr>
        <p:txBody>
          <a:bodyPr wrap="square" lIns="0" tIns="0" rIns="0" bIns="0" rtlCol="0" anchor="t"/>
          <a:lstStyle/>
          <a:p>
            <a:pPr indent="0" marL="0">
              <a:buNone/>
            </a:pPr>
            <a:r>
              <a:rPr lang="en-US" sz="1400" b="1" dirty="0">
                <a:solidFill>
                  <a:schemeClr val="accent5"/>
                </a:solidFill>
              </a:rPr>
              <a:t>Integrated Gradients</a:t>
            </a:r>
            <a:endParaRPr lang="en-US" sz="1400" dirty="0"/>
          </a:p>
        </p:txBody>
      </p:sp>
      <p:sp>
        <p:nvSpPr>
          <p:cNvPr id="24" name="text-274"/>
          <p:cNvSpPr txBox="1"/>
          <p:nvPr/>
        </p:nvSpPr>
        <p:spPr>
          <a:xfrm>
            <a:off x="6172200" y="3017520"/>
            <a:ext cx="2331720" cy="1600200"/>
          </a:xfrm>
          <a:prstGeom prst="rect">
            <a:avLst/>
          </a:prstGeom>
          <a:noFill/>
          <a:ln/>
        </p:spPr>
        <p:txBody>
          <a:bodyPr wrap="square" lIns="0" tIns="0" rIns="0" bIns="0" rtlCol="0" anchor="t"/>
          <a:lstStyle/>
          <a:p>
            <a:pPr marL="342900" indent="-342900">
              <a:spcAft>
                <a:spcPts val="600"/>
              </a:spcAft>
              <a:buSzPct val="100000"/>
              <a:buChar char="•"/>
            </a:pPr>
            <a:r>
              <a:rPr lang="en-US" sz="1200" dirty="0">
                <a:solidFill>
                  <a:schemeClr val="tx1"/>
                </a:solidFill>
              </a:rPr>
              <a:t>Move from a blank image to the photo in 20 steps and add up the gradient</a:t>
            </a:r>
            <a:endParaRPr lang="en-US" sz="1200" dirty="0"/>
          </a:p>
          <a:p>
            <a:pPr marL="342900" indent="-342900">
              <a:spcAft>
                <a:spcPts val="600"/>
              </a:spcAft>
              <a:buSzPct val="100000"/>
              <a:buChar char="•"/>
            </a:pPr>
            <a:r>
              <a:rPr lang="en-US" sz="1200" dirty="0">
                <a:solidFill>
                  <a:schemeClr val="tx1"/>
                </a:solidFill>
              </a:rPr>
              <a:t>Fair credit per pixel, but faint on leaves</a:t>
            </a:r>
            <a:endParaRPr lang="en-US" sz="1200" dirty="0"/>
          </a:p>
        </p:txBody>
      </p:sp>
      <p:sp>
        <p:nvSpPr>
          <p:cNvPr id="25" name="Slide Number Placeholder 0"/>
          <p:cNvSpPr>
            <a:spLocks noGrp="1"/>
          </p:cNvSpPr>
          <p:nvPr>
            <p:ph type="sldNum" sz="quarter" idx="4294967295"/>
          </p:nvPr>
        </p:nvSpPr>
        <p:spPr>
          <a:xfrm>
            <a:off x="8229600" y="4828032"/>
            <a:ext cx="457200" cy="22860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defRPr>
            </a:lvl1pPr>
          </a:lstStyle>
          <a:p>
            <a:pPr algn="r"/>
            <a:fld id="{F7021451-1387-4CA6-816F-3879F97B5CBC}" type="slidenum">
              <a:rPr b="0" lang="en-US"/>
              <a:t>20</a:t>
            </a:fld>
            <a:endParaRPr lang="en-US"/>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spTree>
      <p:nvGrpSpPr>
        <p:cNvPr id="1" name=""/>
        <p:cNvGrpSpPr/>
        <p:nvPr/>
      </p:nvGrpSpPr>
      <p:grpSpPr>
        <a:xfrm>
          <a:off x="0" y="0"/>
          <a:ext cx="0" cy="0"/>
          <a:chOff x="0" y="0"/>
          <a:chExt cx="0" cy="0"/>
        </a:xfrm>
      </p:grpSpPr>
      <p:sp>
        <p:nvSpPr>
          <p:cNvPr id="2" name="Text 0"/>
          <p:cNvSpPr/>
          <p:nvPr>
            <p:ph idx="100" type="title" hasCustomPrompt="1"/>
          </p:nvPr>
        </p:nvSpPr>
        <p:spPr>
          <a:xfrm>
            <a:off x="457200" y="256032"/>
            <a:ext cx="8229600" cy="685800"/>
          </a:xfrm>
          <a:prstGeom prst="rect">
            <a:avLst/>
          </a:prstGeom>
          <a:noFill/>
          <a:ln/>
        </p:spPr>
        <p:txBody>
          <a:bodyPr wrap="square" lIns="0" tIns="0" rIns="0" bIns="0" rtlCol="0" anchor="ctr"/>
          <a:lstStyle/>
          <a:p>
            <a:pPr algn="l" indent="0" marL="0">
              <a:buNone/>
            </a:pPr>
            <a:r>
              <a:rPr lang="en-US" sz="2800" b="1" dirty="0">
                <a:solidFill>
                  <a:schemeClr val="tx1"/>
                </a:solidFill>
              </a:rPr>
              <a:t>Perturbation-based engines: SHAP and LIME</a:t>
            </a:r>
            <a:endParaRPr lang="en-US" sz="2800" dirty="0"/>
          </a:p>
        </p:txBody>
      </p:sp>
      <p:sp>
        <p:nvSpPr>
          <p:cNvPr id="4" name="card-275"/>
          <p:cNvSpPr/>
          <p:nvPr/>
        </p:nvSpPr>
        <p:spPr>
          <a:xfrm>
            <a:off x="457200" y="1097280"/>
            <a:ext cx="4023360" cy="3566160"/>
          </a:xfrm>
          <a:prstGeom prst="roundRect">
            <a:avLst>
              <a:gd name="adj" fmla="val 2051"/>
            </a:avLst>
          </a:prstGeom>
          <a:solidFill>
            <a:schemeClr val="bg2"/>
          </a:solidFill>
          <a:ln w="12700">
            <a:solidFill>
              <a:schemeClr val="bg2"/>
            </a:solidFill>
            <a:prstDash val="solid"/>
          </a:ln>
        </p:spPr>
      </p:sp>
      <p:sp>
        <p:nvSpPr>
          <p:cNvPr id="5" name="text-276"/>
          <p:cNvSpPr txBox="1"/>
          <p:nvPr/>
        </p:nvSpPr>
        <p:spPr>
          <a:xfrm>
            <a:off x="685800" y="1207008"/>
            <a:ext cx="2468880" cy="365760"/>
          </a:xfrm>
          <a:prstGeom prst="rect">
            <a:avLst/>
          </a:prstGeom>
          <a:noFill/>
          <a:ln/>
        </p:spPr>
        <p:txBody>
          <a:bodyPr wrap="square" lIns="0" tIns="0" rIns="0" bIns="0" rtlCol="0" anchor="t"/>
          <a:lstStyle/>
          <a:p>
            <a:pPr indent="0" marL="0">
              <a:buNone/>
            </a:pPr>
            <a:r>
              <a:rPr lang="en-US" sz="1800" b="1" dirty="0">
                <a:solidFill>
                  <a:schemeClr val="accent2"/>
                </a:solidFill>
                <a:latin typeface="Cambria" pitchFamily="34" charset="0"/>
                <a:ea typeface="Cambria" pitchFamily="34" charset="-122"/>
                <a:cs typeface="Cambria" pitchFamily="34" charset="-120"/>
              </a:rPr>
              <a:t>SHAP (occlusion)</a:t>
            </a:r>
            <a:endParaRPr lang="en-US" sz="1800" dirty="0"/>
          </a:p>
        </p:txBody>
      </p:sp>
      <p:pic>
        <p:nvPicPr>
          <p:cNvPr id="6" name="thumb-277" descr="/private/tmp/claude-501/-Users-parthsharma-Desktop-XAI-PDS/20cb58d2-ae23-468c-9c17-7a209704af59/scratchpad/deck/assets/th_shap.png">    </p:cNvPr>
          <p:cNvPicPr>
            <a:picLocks noChangeAspect="1"/>
          </p:cNvPicPr>
          <p:nvPr/>
        </p:nvPicPr>
        <p:blipFill>
          <a:blip r:embed="rId1"/>
          <a:stretch>
            <a:fillRect/>
          </a:stretch>
        </p:blipFill>
        <p:spPr>
          <a:xfrm>
            <a:off x="3337560" y="1188720"/>
            <a:ext cx="960120" cy="960120"/>
          </a:xfrm>
          <a:prstGeom prst="rect">
            <a:avLst/>
          </a:prstGeom>
        </p:spPr>
      </p:pic>
      <p:sp>
        <p:nvSpPr>
          <p:cNvPr id="7" name="badge-278"/>
          <p:cNvSpPr/>
          <p:nvPr/>
        </p:nvSpPr>
        <p:spPr>
          <a:xfrm>
            <a:off x="685800" y="1828800"/>
            <a:ext cx="310896" cy="310896"/>
          </a:xfrm>
          <a:prstGeom prst="ellipse">
            <a:avLst/>
          </a:prstGeom>
          <a:solidFill>
            <a:schemeClr val="accent2"/>
          </a:solidFill>
          <a:ln w="12700">
            <a:solidFill>
              <a:schemeClr val="accent2"/>
            </a:solidFill>
            <a:prstDash val="solid"/>
          </a:ln>
        </p:spPr>
      </p:sp>
      <p:sp>
        <p:nvSpPr>
          <p:cNvPr id="8" name="badge-text-279"/>
          <p:cNvSpPr txBox="1"/>
          <p:nvPr/>
        </p:nvSpPr>
        <p:spPr>
          <a:xfrm>
            <a:off x="685800" y="1828800"/>
            <a:ext cx="310896" cy="310896"/>
          </a:xfrm>
          <a:prstGeom prst="rect">
            <a:avLst/>
          </a:prstGeom>
          <a:noFill/>
          <a:ln/>
        </p:spPr>
        <p:txBody>
          <a:bodyPr wrap="square" lIns="0" tIns="0" rIns="0" bIns="0" rtlCol="0" anchor="ctr"/>
          <a:lstStyle/>
          <a:p>
            <a:pPr algn="ctr" indent="0" marL="0">
              <a:buNone/>
            </a:pPr>
            <a:r>
              <a:rPr lang="en-US" sz="1400" b="1" dirty="0">
                <a:solidFill>
                  <a:schemeClr val="bg1"/>
                </a:solidFill>
              </a:rPr>
              <a:t>1</a:t>
            </a:r>
            <a:endParaRPr lang="en-US" sz="1400" dirty="0"/>
          </a:p>
        </p:txBody>
      </p:sp>
      <p:sp>
        <p:nvSpPr>
          <p:cNvPr id="9" name="text-280"/>
          <p:cNvSpPr txBox="1"/>
          <p:nvPr/>
        </p:nvSpPr>
        <p:spPr>
          <a:xfrm>
            <a:off x="1143000" y="1792224"/>
            <a:ext cx="2148840" cy="457200"/>
          </a:xfrm>
          <a:prstGeom prst="rect">
            <a:avLst/>
          </a:prstGeom>
          <a:noFill/>
          <a:ln/>
        </p:spPr>
        <p:txBody>
          <a:bodyPr wrap="square" lIns="0" tIns="0" rIns="0" bIns="0" rtlCol="0" anchor="ctr"/>
          <a:lstStyle/>
          <a:p>
            <a:pPr indent="0" marL="0">
              <a:buNone/>
            </a:pPr>
            <a:r>
              <a:rPr lang="en-US" sz="1250" dirty="0">
                <a:solidFill>
                  <a:schemeClr val="tx1"/>
                </a:solidFill>
              </a:rPr>
              <a:t>Divide the image into an 8 × 8 grid of patches</a:t>
            </a:r>
            <a:endParaRPr lang="en-US" sz="1250" dirty="0"/>
          </a:p>
        </p:txBody>
      </p:sp>
      <p:sp>
        <p:nvSpPr>
          <p:cNvPr id="10" name="badge-281"/>
          <p:cNvSpPr/>
          <p:nvPr/>
        </p:nvSpPr>
        <p:spPr>
          <a:xfrm>
            <a:off x="685800" y="2331720"/>
            <a:ext cx="310896" cy="310896"/>
          </a:xfrm>
          <a:prstGeom prst="ellipse">
            <a:avLst/>
          </a:prstGeom>
          <a:solidFill>
            <a:schemeClr val="accent2"/>
          </a:solidFill>
          <a:ln w="12700">
            <a:solidFill>
              <a:schemeClr val="accent2"/>
            </a:solidFill>
            <a:prstDash val="solid"/>
          </a:ln>
        </p:spPr>
      </p:sp>
      <p:sp>
        <p:nvSpPr>
          <p:cNvPr id="11" name="badge-text-282"/>
          <p:cNvSpPr txBox="1"/>
          <p:nvPr/>
        </p:nvSpPr>
        <p:spPr>
          <a:xfrm>
            <a:off x="685800" y="2331720"/>
            <a:ext cx="310896" cy="310896"/>
          </a:xfrm>
          <a:prstGeom prst="rect">
            <a:avLst/>
          </a:prstGeom>
          <a:noFill/>
          <a:ln/>
        </p:spPr>
        <p:txBody>
          <a:bodyPr wrap="square" lIns="0" tIns="0" rIns="0" bIns="0" rtlCol="0" anchor="ctr"/>
          <a:lstStyle/>
          <a:p>
            <a:pPr algn="ctr" indent="0" marL="0">
              <a:buNone/>
            </a:pPr>
            <a:r>
              <a:rPr lang="en-US" sz="1400" b="1" dirty="0">
                <a:solidFill>
                  <a:schemeClr val="bg1"/>
                </a:solidFill>
              </a:rPr>
              <a:t>2</a:t>
            </a:r>
            <a:endParaRPr lang="en-US" sz="1400" dirty="0"/>
          </a:p>
        </p:txBody>
      </p:sp>
      <p:sp>
        <p:nvSpPr>
          <p:cNvPr id="12" name="text-283"/>
          <p:cNvSpPr txBox="1"/>
          <p:nvPr/>
        </p:nvSpPr>
        <p:spPr>
          <a:xfrm>
            <a:off x="1143000" y="2295144"/>
            <a:ext cx="2148840" cy="457200"/>
          </a:xfrm>
          <a:prstGeom prst="rect">
            <a:avLst/>
          </a:prstGeom>
          <a:noFill/>
          <a:ln/>
        </p:spPr>
        <p:txBody>
          <a:bodyPr wrap="square" lIns="0" tIns="0" rIns="0" bIns="0" rtlCol="0" anchor="ctr"/>
          <a:lstStyle/>
          <a:p>
            <a:pPr indent="0" marL="0">
              <a:buNone/>
            </a:pPr>
            <a:r>
              <a:rPr lang="en-US" sz="1250" dirty="0">
                <a:solidFill>
                  <a:schemeClr val="tx1"/>
                </a:solidFill>
              </a:rPr>
              <a:t>Hide patches and re-run the model</a:t>
            </a:r>
            <a:endParaRPr lang="en-US" sz="1250" dirty="0"/>
          </a:p>
        </p:txBody>
      </p:sp>
      <p:sp>
        <p:nvSpPr>
          <p:cNvPr id="13" name="badge-284"/>
          <p:cNvSpPr/>
          <p:nvPr/>
        </p:nvSpPr>
        <p:spPr>
          <a:xfrm>
            <a:off x="685800" y="2834640"/>
            <a:ext cx="310896" cy="310896"/>
          </a:xfrm>
          <a:prstGeom prst="ellipse">
            <a:avLst/>
          </a:prstGeom>
          <a:solidFill>
            <a:schemeClr val="accent2"/>
          </a:solidFill>
          <a:ln w="12700">
            <a:solidFill>
              <a:schemeClr val="accent2"/>
            </a:solidFill>
            <a:prstDash val="solid"/>
          </a:ln>
        </p:spPr>
      </p:sp>
      <p:sp>
        <p:nvSpPr>
          <p:cNvPr id="14" name="badge-text-285"/>
          <p:cNvSpPr txBox="1"/>
          <p:nvPr/>
        </p:nvSpPr>
        <p:spPr>
          <a:xfrm>
            <a:off x="685800" y="2834640"/>
            <a:ext cx="310896" cy="310896"/>
          </a:xfrm>
          <a:prstGeom prst="rect">
            <a:avLst/>
          </a:prstGeom>
          <a:noFill/>
          <a:ln/>
        </p:spPr>
        <p:txBody>
          <a:bodyPr wrap="square" lIns="0" tIns="0" rIns="0" bIns="0" rtlCol="0" anchor="ctr"/>
          <a:lstStyle/>
          <a:p>
            <a:pPr algn="ctr" indent="0" marL="0">
              <a:buNone/>
            </a:pPr>
            <a:r>
              <a:rPr lang="en-US" sz="1400" b="1" dirty="0">
                <a:solidFill>
                  <a:schemeClr val="bg1"/>
                </a:solidFill>
              </a:rPr>
              <a:t>3</a:t>
            </a:r>
            <a:endParaRPr lang="en-US" sz="1400" dirty="0"/>
          </a:p>
        </p:txBody>
      </p:sp>
      <p:sp>
        <p:nvSpPr>
          <p:cNvPr id="15" name="text-286"/>
          <p:cNvSpPr txBox="1"/>
          <p:nvPr/>
        </p:nvSpPr>
        <p:spPr>
          <a:xfrm>
            <a:off x="1143000" y="2798064"/>
            <a:ext cx="3154680" cy="457200"/>
          </a:xfrm>
          <a:prstGeom prst="rect">
            <a:avLst/>
          </a:prstGeom>
          <a:noFill/>
          <a:ln/>
        </p:spPr>
        <p:txBody>
          <a:bodyPr wrap="square" lIns="0" tIns="0" rIns="0" bIns="0" rtlCol="0" anchor="ctr"/>
          <a:lstStyle/>
          <a:p>
            <a:pPr indent="0" marL="0">
              <a:buNone/>
            </a:pPr>
            <a:r>
              <a:rPr lang="en-US" sz="1250" dirty="0">
                <a:solidFill>
                  <a:schemeClr val="tx1"/>
                </a:solidFill>
              </a:rPr>
              <a:t>A patch's importance is the score drop it causes</a:t>
            </a:r>
            <a:endParaRPr lang="en-US" sz="1250" dirty="0"/>
          </a:p>
        </p:txBody>
      </p:sp>
      <p:sp>
        <p:nvSpPr>
          <p:cNvPr id="16" name="badge-287"/>
          <p:cNvSpPr/>
          <p:nvPr/>
        </p:nvSpPr>
        <p:spPr>
          <a:xfrm>
            <a:off x="685800" y="3337560"/>
            <a:ext cx="310896" cy="310896"/>
          </a:xfrm>
          <a:prstGeom prst="ellipse">
            <a:avLst/>
          </a:prstGeom>
          <a:solidFill>
            <a:schemeClr val="accent2"/>
          </a:solidFill>
          <a:ln w="12700">
            <a:solidFill>
              <a:schemeClr val="accent2"/>
            </a:solidFill>
            <a:prstDash val="solid"/>
          </a:ln>
        </p:spPr>
      </p:sp>
      <p:sp>
        <p:nvSpPr>
          <p:cNvPr id="17" name="badge-text-288"/>
          <p:cNvSpPr txBox="1"/>
          <p:nvPr/>
        </p:nvSpPr>
        <p:spPr>
          <a:xfrm>
            <a:off x="685800" y="3337560"/>
            <a:ext cx="310896" cy="310896"/>
          </a:xfrm>
          <a:prstGeom prst="rect">
            <a:avLst/>
          </a:prstGeom>
          <a:noFill/>
          <a:ln/>
        </p:spPr>
        <p:txBody>
          <a:bodyPr wrap="square" lIns="0" tIns="0" rIns="0" bIns="0" rtlCol="0" anchor="ctr"/>
          <a:lstStyle/>
          <a:p>
            <a:pPr algn="ctr" indent="0" marL="0">
              <a:buNone/>
            </a:pPr>
            <a:r>
              <a:rPr lang="en-US" sz="1400" b="1" dirty="0">
                <a:solidFill>
                  <a:schemeClr val="bg1"/>
                </a:solidFill>
              </a:rPr>
              <a:t>4</a:t>
            </a:r>
            <a:endParaRPr lang="en-US" sz="1400" dirty="0"/>
          </a:p>
        </p:txBody>
      </p:sp>
      <p:sp>
        <p:nvSpPr>
          <p:cNvPr id="18" name="text-289"/>
          <p:cNvSpPr txBox="1"/>
          <p:nvPr/>
        </p:nvSpPr>
        <p:spPr>
          <a:xfrm>
            <a:off x="1143000" y="3300984"/>
            <a:ext cx="3154680" cy="457200"/>
          </a:xfrm>
          <a:prstGeom prst="rect">
            <a:avLst/>
          </a:prstGeom>
          <a:noFill/>
          <a:ln/>
        </p:spPr>
        <p:txBody>
          <a:bodyPr wrap="square" lIns="0" tIns="0" rIns="0" bIns="0" rtlCol="0" anchor="ctr"/>
          <a:lstStyle/>
          <a:p>
            <a:pPr indent="0" marL="0">
              <a:buNone/>
            </a:pPr>
            <a:r>
              <a:rPr lang="en-US" sz="1250" dirty="0">
                <a:solidFill>
                  <a:schemeClr val="tx1"/>
                </a:solidFill>
              </a:rPr>
              <a:t>Paint the importances as a heatmap</a:t>
            </a:r>
            <a:endParaRPr lang="en-US" sz="1250" dirty="0"/>
          </a:p>
        </p:txBody>
      </p:sp>
      <p:sp>
        <p:nvSpPr>
          <p:cNvPr id="19" name="text-290"/>
          <p:cNvSpPr txBox="1"/>
          <p:nvPr/>
        </p:nvSpPr>
        <p:spPr>
          <a:xfrm>
            <a:off x="685800" y="3886200"/>
            <a:ext cx="3566160" cy="685800"/>
          </a:xfrm>
          <a:prstGeom prst="rect">
            <a:avLst/>
          </a:prstGeom>
          <a:noFill/>
          <a:ln/>
        </p:spPr>
        <p:txBody>
          <a:bodyPr wrap="square" lIns="0" tIns="0" rIns="0" bIns="0" rtlCol="0" anchor="t"/>
          <a:lstStyle/>
          <a:p>
            <a:pPr indent="0" marL="0">
              <a:buNone/>
            </a:pPr>
            <a:r>
              <a:rPr lang="en-US" sz="1150" i="1" dirty="0">
                <a:solidFill>
                  <a:schemeClr val="accent6"/>
                </a:solidFill>
              </a:rPr>
              <a:t>Idea from cooperative game theory: each patch is a player sharing credit.</a:t>
            </a:r>
            <a:endParaRPr lang="en-US" sz="1150" dirty="0"/>
          </a:p>
        </p:txBody>
      </p:sp>
      <p:sp>
        <p:nvSpPr>
          <p:cNvPr id="20" name="card-291"/>
          <p:cNvSpPr/>
          <p:nvPr/>
        </p:nvSpPr>
        <p:spPr>
          <a:xfrm>
            <a:off x="4663440" y="1097280"/>
            <a:ext cx="4023360" cy="3566160"/>
          </a:xfrm>
          <a:prstGeom prst="roundRect">
            <a:avLst>
              <a:gd name="adj" fmla="val 2051"/>
            </a:avLst>
          </a:prstGeom>
          <a:solidFill>
            <a:schemeClr val="bg2"/>
          </a:solidFill>
          <a:ln w="12700">
            <a:solidFill>
              <a:schemeClr val="bg2"/>
            </a:solidFill>
            <a:prstDash val="solid"/>
          </a:ln>
        </p:spPr>
      </p:sp>
      <p:sp>
        <p:nvSpPr>
          <p:cNvPr id="21" name="text-292"/>
          <p:cNvSpPr txBox="1"/>
          <p:nvPr/>
        </p:nvSpPr>
        <p:spPr>
          <a:xfrm>
            <a:off x="4892040" y="1207008"/>
            <a:ext cx="2468880" cy="365760"/>
          </a:xfrm>
          <a:prstGeom prst="rect">
            <a:avLst/>
          </a:prstGeom>
          <a:noFill/>
          <a:ln/>
        </p:spPr>
        <p:txBody>
          <a:bodyPr wrap="square" lIns="0" tIns="0" rIns="0" bIns="0" rtlCol="0" anchor="t"/>
          <a:lstStyle/>
          <a:p>
            <a:pPr indent="0" marL="0">
              <a:buNone/>
            </a:pPr>
            <a:r>
              <a:rPr lang="en-US" sz="1800" b="1" dirty="0">
                <a:solidFill>
                  <a:schemeClr val="accent3"/>
                </a:solidFill>
                <a:latin typeface="Cambria" pitchFamily="34" charset="0"/>
                <a:ea typeface="Cambria" pitchFamily="34" charset="-122"/>
                <a:cs typeface="Cambria" pitchFamily="34" charset="-120"/>
              </a:rPr>
              <a:t>LIME</a:t>
            </a:r>
            <a:endParaRPr lang="en-US" sz="1800" dirty="0"/>
          </a:p>
        </p:txBody>
      </p:sp>
      <p:pic>
        <p:nvPicPr>
          <p:cNvPr id="22" name="thumb-293" descr="/private/tmp/claude-501/-Users-parthsharma-Desktop-XAI-PDS/20cb58d2-ae23-468c-9c17-7a209704af59/scratchpad/deck/assets/th_lime.png">    </p:cNvPr>
          <p:cNvPicPr>
            <a:picLocks noChangeAspect="1"/>
          </p:cNvPicPr>
          <p:nvPr/>
        </p:nvPicPr>
        <p:blipFill>
          <a:blip r:embed="rId2"/>
          <a:stretch>
            <a:fillRect/>
          </a:stretch>
        </p:blipFill>
        <p:spPr>
          <a:xfrm>
            <a:off x="7543800" y="1188720"/>
            <a:ext cx="960120" cy="960120"/>
          </a:xfrm>
          <a:prstGeom prst="rect">
            <a:avLst/>
          </a:prstGeom>
        </p:spPr>
      </p:pic>
      <p:sp>
        <p:nvSpPr>
          <p:cNvPr id="23" name="badge-294"/>
          <p:cNvSpPr/>
          <p:nvPr/>
        </p:nvSpPr>
        <p:spPr>
          <a:xfrm>
            <a:off x="4892040" y="1828800"/>
            <a:ext cx="310896" cy="310896"/>
          </a:xfrm>
          <a:prstGeom prst="ellipse">
            <a:avLst/>
          </a:prstGeom>
          <a:solidFill>
            <a:schemeClr val="accent3"/>
          </a:solidFill>
          <a:ln w="12700">
            <a:solidFill>
              <a:schemeClr val="accent3"/>
            </a:solidFill>
            <a:prstDash val="solid"/>
          </a:ln>
        </p:spPr>
      </p:sp>
      <p:sp>
        <p:nvSpPr>
          <p:cNvPr id="24" name="badge-text-295"/>
          <p:cNvSpPr txBox="1"/>
          <p:nvPr/>
        </p:nvSpPr>
        <p:spPr>
          <a:xfrm>
            <a:off x="4892040" y="1828800"/>
            <a:ext cx="310896" cy="310896"/>
          </a:xfrm>
          <a:prstGeom prst="rect">
            <a:avLst/>
          </a:prstGeom>
          <a:noFill/>
          <a:ln/>
        </p:spPr>
        <p:txBody>
          <a:bodyPr wrap="square" lIns="0" tIns="0" rIns="0" bIns="0" rtlCol="0" anchor="ctr"/>
          <a:lstStyle/>
          <a:p>
            <a:pPr algn="ctr" indent="0" marL="0">
              <a:buNone/>
            </a:pPr>
            <a:r>
              <a:rPr lang="en-US" sz="1400" b="1" dirty="0">
                <a:solidFill>
                  <a:schemeClr val="bg1"/>
                </a:solidFill>
              </a:rPr>
              <a:t>1</a:t>
            </a:r>
            <a:endParaRPr lang="en-US" sz="1400" dirty="0"/>
          </a:p>
        </p:txBody>
      </p:sp>
      <p:sp>
        <p:nvSpPr>
          <p:cNvPr id="25" name="text-296"/>
          <p:cNvSpPr txBox="1"/>
          <p:nvPr/>
        </p:nvSpPr>
        <p:spPr>
          <a:xfrm>
            <a:off x="5349240" y="1792224"/>
            <a:ext cx="2148840" cy="457200"/>
          </a:xfrm>
          <a:prstGeom prst="rect">
            <a:avLst/>
          </a:prstGeom>
          <a:noFill/>
          <a:ln/>
        </p:spPr>
        <p:txBody>
          <a:bodyPr wrap="square" lIns="0" tIns="0" rIns="0" bIns="0" rtlCol="0" anchor="ctr"/>
          <a:lstStyle/>
          <a:p>
            <a:pPr indent="0" marL="0">
              <a:buNone/>
            </a:pPr>
            <a:r>
              <a:rPr lang="en-US" sz="1250" dirty="0">
                <a:solidFill>
                  <a:schemeClr val="tx1"/>
                </a:solidFill>
              </a:rPr>
              <a:t>Split the leaf into superpixels</a:t>
            </a:r>
            <a:endParaRPr lang="en-US" sz="1250" dirty="0"/>
          </a:p>
        </p:txBody>
      </p:sp>
      <p:sp>
        <p:nvSpPr>
          <p:cNvPr id="26" name="badge-297"/>
          <p:cNvSpPr/>
          <p:nvPr/>
        </p:nvSpPr>
        <p:spPr>
          <a:xfrm>
            <a:off x="4892040" y="2331720"/>
            <a:ext cx="310896" cy="310896"/>
          </a:xfrm>
          <a:prstGeom prst="ellipse">
            <a:avLst/>
          </a:prstGeom>
          <a:solidFill>
            <a:schemeClr val="accent3"/>
          </a:solidFill>
          <a:ln w="12700">
            <a:solidFill>
              <a:schemeClr val="accent3"/>
            </a:solidFill>
            <a:prstDash val="solid"/>
          </a:ln>
        </p:spPr>
      </p:sp>
      <p:sp>
        <p:nvSpPr>
          <p:cNvPr id="27" name="badge-text-298"/>
          <p:cNvSpPr txBox="1"/>
          <p:nvPr/>
        </p:nvSpPr>
        <p:spPr>
          <a:xfrm>
            <a:off x="4892040" y="2331720"/>
            <a:ext cx="310896" cy="310896"/>
          </a:xfrm>
          <a:prstGeom prst="rect">
            <a:avLst/>
          </a:prstGeom>
          <a:noFill/>
          <a:ln/>
        </p:spPr>
        <p:txBody>
          <a:bodyPr wrap="square" lIns="0" tIns="0" rIns="0" bIns="0" rtlCol="0" anchor="ctr"/>
          <a:lstStyle/>
          <a:p>
            <a:pPr algn="ctr" indent="0" marL="0">
              <a:buNone/>
            </a:pPr>
            <a:r>
              <a:rPr lang="en-US" sz="1400" b="1" dirty="0">
                <a:solidFill>
                  <a:schemeClr val="bg1"/>
                </a:solidFill>
              </a:rPr>
              <a:t>2</a:t>
            </a:r>
            <a:endParaRPr lang="en-US" sz="1400" dirty="0"/>
          </a:p>
        </p:txBody>
      </p:sp>
      <p:sp>
        <p:nvSpPr>
          <p:cNvPr id="28" name="text-299"/>
          <p:cNvSpPr txBox="1"/>
          <p:nvPr/>
        </p:nvSpPr>
        <p:spPr>
          <a:xfrm>
            <a:off x="5349240" y="2295144"/>
            <a:ext cx="2148840" cy="457200"/>
          </a:xfrm>
          <a:prstGeom prst="rect">
            <a:avLst/>
          </a:prstGeom>
          <a:noFill/>
          <a:ln/>
        </p:spPr>
        <p:txBody>
          <a:bodyPr wrap="square" lIns="0" tIns="0" rIns="0" bIns="0" rtlCol="0" anchor="ctr"/>
          <a:lstStyle/>
          <a:p>
            <a:pPr indent="0" marL="0">
              <a:buNone/>
            </a:pPr>
            <a:r>
              <a:rPr lang="en-US" sz="1250" dirty="0">
                <a:solidFill>
                  <a:schemeClr val="tx1"/>
                </a:solidFill>
              </a:rPr>
              <a:t>Switch superpixels on and off in about 40 copies</a:t>
            </a:r>
            <a:endParaRPr lang="en-US" sz="1250" dirty="0"/>
          </a:p>
        </p:txBody>
      </p:sp>
      <p:sp>
        <p:nvSpPr>
          <p:cNvPr id="29" name="badge-300"/>
          <p:cNvSpPr/>
          <p:nvPr/>
        </p:nvSpPr>
        <p:spPr>
          <a:xfrm>
            <a:off x="4892040" y="2834640"/>
            <a:ext cx="310896" cy="310896"/>
          </a:xfrm>
          <a:prstGeom prst="ellipse">
            <a:avLst/>
          </a:prstGeom>
          <a:solidFill>
            <a:schemeClr val="accent3"/>
          </a:solidFill>
          <a:ln w="12700">
            <a:solidFill>
              <a:schemeClr val="accent3"/>
            </a:solidFill>
            <a:prstDash val="solid"/>
          </a:ln>
        </p:spPr>
      </p:sp>
      <p:sp>
        <p:nvSpPr>
          <p:cNvPr id="30" name="badge-text-301"/>
          <p:cNvSpPr txBox="1"/>
          <p:nvPr/>
        </p:nvSpPr>
        <p:spPr>
          <a:xfrm>
            <a:off x="4892040" y="2834640"/>
            <a:ext cx="310896" cy="310896"/>
          </a:xfrm>
          <a:prstGeom prst="rect">
            <a:avLst/>
          </a:prstGeom>
          <a:noFill/>
          <a:ln/>
        </p:spPr>
        <p:txBody>
          <a:bodyPr wrap="square" lIns="0" tIns="0" rIns="0" bIns="0" rtlCol="0" anchor="ctr"/>
          <a:lstStyle/>
          <a:p>
            <a:pPr algn="ctr" indent="0" marL="0">
              <a:buNone/>
            </a:pPr>
            <a:r>
              <a:rPr lang="en-US" sz="1400" b="1" dirty="0">
                <a:solidFill>
                  <a:schemeClr val="bg1"/>
                </a:solidFill>
              </a:rPr>
              <a:t>3</a:t>
            </a:r>
            <a:endParaRPr lang="en-US" sz="1400" dirty="0"/>
          </a:p>
        </p:txBody>
      </p:sp>
      <p:sp>
        <p:nvSpPr>
          <p:cNvPr id="31" name="text-302"/>
          <p:cNvSpPr txBox="1"/>
          <p:nvPr/>
        </p:nvSpPr>
        <p:spPr>
          <a:xfrm>
            <a:off x="5349240" y="2798064"/>
            <a:ext cx="3154680" cy="457200"/>
          </a:xfrm>
          <a:prstGeom prst="rect">
            <a:avLst/>
          </a:prstGeom>
          <a:noFill/>
          <a:ln/>
        </p:spPr>
        <p:txBody>
          <a:bodyPr wrap="square" lIns="0" tIns="0" rIns="0" bIns="0" rtlCol="0" anchor="ctr"/>
          <a:lstStyle/>
          <a:p>
            <a:pPr indent="0" marL="0">
              <a:buNone/>
            </a:pPr>
            <a:r>
              <a:rPr lang="en-US" sz="1250" dirty="0">
                <a:solidFill>
                  <a:schemeClr val="tx1"/>
                </a:solidFill>
              </a:rPr>
              <a:t>Record the CNN's answer for each copy</a:t>
            </a:r>
            <a:endParaRPr lang="en-US" sz="1250" dirty="0"/>
          </a:p>
        </p:txBody>
      </p:sp>
      <p:sp>
        <p:nvSpPr>
          <p:cNvPr id="32" name="badge-303"/>
          <p:cNvSpPr/>
          <p:nvPr/>
        </p:nvSpPr>
        <p:spPr>
          <a:xfrm>
            <a:off x="4892040" y="3337560"/>
            <a:ext cx="310896" cy="310896"/>
          </a:xfrm>
          <a:prstGeom prst="ellipse">
            <a:avLst/>
          </a:prstGeom>
          <a:solidFill>
            <a:schemeClr val="accent3"/>
          </a:solidFill>
          <a:ln w="12700">
            <a:solidFill>
              <a:schemeClr val="accent3"/>
            </a:solidFill>
            <a:prstDash val="solid"/>
          </a:ln>
        </p:spPr>
      </p:sp>
      <p:sp>
        <p:nvSpPr>
          <p:cNvPr id="33" name="badge-text-304"/>
          <p:cNvSpPr txBox="1"/>
          <p:nvPr/>
        </p:nvSpPr>
        <p:spPr>
          <a:xfrm>
            <a:off x="4892040" y="3337560"/>
            <a:ext cx="310896" cy="310896"/>
          </a:xfrm>
          <a:prstGeom prst="rect">
            <a:avLst/>
          </a:prstGeom>
          <a:noFill/>
          <a:ln/>
        </p:spPr>
        <p:txBody>
          <a:bodyPr wrap="square" lIns="0" tIns="0" rIns="0" bIns="0" rtlCol="0" anchor="ctr"/>
          <a:lstStyle/>
          <a:p>
            <a:pPr algn="ctr" indent="0" marL="0">
              <a:buNone/>
            </a:pPr>
            <a:r>
              <a:rPr lang="en-US" sz="1400" b="1" dirty="0">
                <a:solidFill>
                  <a:schemeClr val="bg1"/>
                </a:solidFill>
              </a:rPr>
              <a:t>4</a:t>
            </a:r>
            <a:endParaRPr lang="en-US" sz="1400" dirty="0"/>
          </a:p>
        </p:txBody>
      </p:sp>
      <p:sp>
        <p:nvSpPr>
          <p:cNvPr id="34" name="text-305"/>
          <p:cNvSpPr txBox="1"/>
          <p:nvPr/>
        </p:nvSpPr>
        <p:spPr>
          <a:xfrm>
            <a:off x="5349240" y="3300984"/>
            <a:ext cx="3154680" cy="457200"/>
          </a:xfrm>
          <a:prstGeom prst="rect">
            <a:avLst/>
          </a:prstGeom>
          <a:noFill/>
          <a:ln/>
        </p:spPr>
        <p:txBody>
          <a:bodyPr wrap="square" lIns="0" tIns="0" rIns="0" bIns="0" rtlCol="0" anchor="ctr"/>
          <a:lstStyle/>
          <a:p>
            <a:pPr indent="0" marL="0">
              <a:buNone/>
            </a:pPr>
            <a:r>
              <a:rPr lang="en-US" sz="1250" dirty="0">
                <a:solidFill>
                  <a:schemeClr val="tx1"/>
                </a:solidFill>
              </a:rPr>
              <a:t>Fit a simple linear model that imitates the CNN nearby</a:t>
            </a:r>
            <a:endParaRPr lang="en-US" sz="1250" dirty="0"/>
          </a:p>
        </p:txBody>
      </p:sp>
      <p:sp>
        <p:nvSpPr>
          <p:cNvPr id="35" name="text-306"/>
          <p:cNvSpPr txBox="1"/>
          <p:nvPr/>
        </p:nvSpPr>
        <p:spPr>
          <a:xfrm>
            <a:off x="4892040" y="3886200"/>
            <a:ext cx="3566160" cy="685800"/>
          </a:xfrm>
          <a:prstGeom prst="rect">
            <a:avLst/>
          </a:prstGeom>
          <a:noFill/>
          <a:ln/>
        </p:spPr>
        <p:txBody>
          <a:bodyPr wrap="square" lIns="0" tIns="0" rIns="0" bIns="0" rtlCol="0" anchor="t"/>
          <a:lstStyle/>
          <a:p>
            <a:pPr indent="0" marL="0">
              <a:buNone/>
            </a:pPr>
            <a:r>
              <a:rPr lang="en-US" sz="1150" i="1" dirty="0">
                <a:solidFill>
                  <a:schemeClr val="accent6"/>
                </a:solidFill>
              </a:rPr>
              <a:t>Model-agnostic and post hoc: a simple surrogate explains a complex model.</a:t>
            </a:r>
            <a:endParaRPr lang="en-US" sz="1150" dirty="0"/>
          </a:p>
        </p:txBody>
      </p:sp>
      <p:sp>
        <p:nvSpPr>
          <p:cNvPr id="25" name="Slide Number Placeholder 0"/>
          <p:cNvSpPr>
            <a:spLocks noGrp="1"/>
          </p:cNvSpPr>
          <p:nvPr>
            <p:ph type="sldNum" sz="quarter" idx="4294967295"/>
          </p:nvPr>
        </p:nvSpPr>
        <p:spPr>
          <a:xfrm>
            <a:off x="8229600" y="4828032"/>
            <a:ext cx="457200" cy="22860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defRPr>
            </a:lvl1pPr>
          </a:lstStyle>
          <a:p>
            <a:pPr algn="r"/>
            <a:fld id="{F7021451-1387-4CA6-816F-3879F97B5CBC}" type="slidenum">
              <a:rPr b="0" lang="en-US"/>
              <a:t>21</a:t>
            </a:fld>
            <a:endParaRPr lang="en-US"/>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spTree>
      <p:nvGrpSpPr>
        <p:cNvPr id="1" name=""/>
        <p:cNvGrpSpPr/>
        <p:nvPr/>
      </p:nvGrpSpPr>
      <p:grpSpPr>
        <a:xfrm>
          <a:off x="0" y="0"/>
          <a:ext cx="0" cy="0"/>
          <a:chOff x="0" y="0"/>
          <a:chExt cx="0" cy="0"/>
        </a:xfrm>
      </p:grpSpPr>
      <p:sp>
        <p:nvSpPr>
          <p:cNvPr id="2" name="Text 0"/>
          <p:cNvSpPr/>
          <p:nvPr>
            <p:ph idx="100" type="title" hasCustomPrompt="1"/>
          </p:nvPr>
        </p:nvSpPr>
        <p:spPr>
          <a:xfrm>
            <a:off x="457200" y="256032"/>
            <a:ext cx="8229600" cy="685800"/>
          </a:xfrm>
          <a:prstGeom prst="rect">
            <a:avLst/>
          </a:prstGeom>
          <a:noFill/>
          <a:ln/>
        </p:spPr>
        <p:txBody>
          <a:bodyPr wrap="square" lIns="0" tIns="0" rIns="0" bIns="0" rtlCol="0" anchor="ctr"/>
          <a:lstStyle/>
          <a:p>
            <a:pPr algn="l" indent="0" marL="0">
              <a:buNone/>
            </a:pPr>
            <a:r>
              <a:rPr lang="en-US" sz="2800" b="1" dirty="0">
                <a:solidFill>
                  <a:schemeClr val="tx1"/>
                </a:solidFill>
              </a:rPr>
              <a:t>What the engines show on real leaves</a:t>
            </a:r>
            <a:endParaRPr lang="en-US" sz="2800" dirty="0"/>
          </a:p>
        </p:txBody>
      </p:sp>
      <p:sp>
        <p:nvSpPr>
          <p:cNvPr id="4" name="card-307"/>
          <p:cNvSpPr/>
          <p:nvPr/>
        </p:nvSpPr>
        <p:spPr>
          <a:xfrm>
            <a:off x="457200" y="1005840"/>
            <a:ext cx="8229600" cy="3246120"/>
          </a:xfrm>
          <a:prstGeom prst="roundRect">
            <a:avLst>
              <a:gd name="adj" fmla="val 2254"/>
            </a:avLst>
          </a:prstGeom>
          <a:solidFill>
            <a:srgbClr val="FFFFFF"/>
          </a:solidFill>
          <a:ln w="12700">
            <a:solidFill>
              <a:srgbClr val="FFFFFF"/>
            </a:solidFill>
            <a:prstDash val="solid"/>
          </a:ln>
        </p:spPr>
      </p:sp>
      <p:pic>
        <p:nvPicPr>
          <p:cNvPr id="5" name="image-308" descr="/private/tmp/claude-501/-Users-parthsharma-Desktop-XAI-PDS/20cb58d2-ae23-468c-9c17-7a209704af59/scratchpad/deck/assets/leaves_grid.png">    </p:cNvPr>
          <p:cNvPicPr>
            <a:picLocks noChangeAspect="1"/>
          </p:cNvPicPr>
          <p:nvPr/>
        </p:nvPicPr>
        <p:blipFill>
          <a:blip r:embed="rId1"/>
          <a:stretch>
            <a:fillRect/>
          </a:stretch>
        </p:blipFill>
        <p:spPr>
          <a:xfrm>
            <a:off x="1406769" y="1024128"/>
            <a:ext cx="6330462" cy="3200400"/>
          </a:xfrm>
          <a:prstGeom prst="rect">
            <a:avLst/>
          </a:prstGeom>
        </p:spPr>
      </p:pic>
      <p:sp>
        <p:nvSpPr>
          <p:cNvPr id="6" name="card-309"/>
          <p:cNvSpPr/>
          <p:nvPr/>
        </p:nvSpPr>
        <p:spPr>
          <a:xfrm>
            <a:off x="457200" y="4343400"/>
            <a:ext cx="1965960" cy="411480"/>
          </a:xfrm>
          <a:prstGeom prst="roundRect">
            <a:avLst>
              <a:gd name="adj" fmla="val 17778"/>
            </a:avLst>
          </a:prstGeom>
          <a:solidFill>
            <a:schemeClr val="bg2"/>
          </a:solidFill>
          <a:ln w="12700">
            <a:solidFill>
              <a:schemeClr val="bg2"/>
            </a:solidFill>
            <a:prstDash val="solid"/>
          </a:ln>
        </p:spPr>
      </p:sp>
      <p:sp>
        <p:nvSpPr>
          <p:cNvPr id="7" name="text-310"/>
          <p:cNvSpPr txBox="1"/>
          <p:nvPr/>
        </p:nvSpPr>
        <p:spPr>
          <a:xfrm>
            <a:off x="548640" y="4343400"/>
            <a:ext cx="1783080" cy="411480"/>
          </a:xfrm>
          <a:prstGeom prst="rect">
            <a:avLst/>
          </a:prstGeom>
          <a:noFill/>
          <a:ln/>
        </p:spPr>
        <p:txBody>
          <a:bodyPr wrap="square" lIns="0" tIns="0" rIns="0" bIns="0" rtlCol="0" anchor="ctr"/>
          <a:lstStyle/>
          <a:p>
            <a:pPr indent="0" marL="0">
              <a:buNone/>
            </a:pPr>
            <a:r>
              <a:rPr lang="en-US" sz="1050" b="1" dirty="0">
                <a:solidFill>
                  <a:schemeClr val="tx1"/>
                </a:solidFill>
              </a:rPr>
              <a:t>Grad-CAM, Grad-CAM++: </a:t>
            </a:r>
            <a:pPr indent="0" marL="0">
              <a:buNone/>
            </a:pPr>
            <a:r>
              <a:rPr lang="en-US" sz="1050" dirty="0">
                <a:solidFill>
                  <a:srgbClr val="6B7F75"/>
                </a:solidFill>
              </a:rPr>
              <a:t>smooth blobs on the lesions</a:t>
            </a:r>
            <a:endParaRPr lang="en-US" sz="1400" dirty="0"/>
          </a:p>
        </p:txBody>
      </p:sp>
      <p:sp>
        <p:nvSpPr>
          <p:cNvPr id="8" name="card-311"/>
          <p:cNvSpPr/>
          <p:nvPr/>
        </p:nvSpPr>
        <p:spPr>
          <a:xfrm>
            <a:off x="2542032" y="4343400"/>
            <a:ext cx="1965960" cy="411480"/>
          </a:xfrm>
          <a:prstGeom prst="roundRect">
            <a:avLst>
              <a:gd name="adj" fmla="val 17778"/>
            </a:avLst>
          </a:prstGeom>
          <a:solidFill>
            <a:schemeClr val="bg2"/>
          </a:solidFill>
          <a:ln w="12700">
            <a:solidFill>
              <a:schemeClr val="bg2"/>
            </a:solidFill>
            <a:prstDash val="solid"/>
          </a:ln>
        </p:spPr>
      </p:sp>
      <p:sp>
        <p:nvSpPr>
          <p:cNvPr id="9" name="text-312"/>
          <p:cNvSpPr txBox="1"/>
          <p:nvPr/>
        </p:nvSpPr>
        <p:spPr>
          <a:xfrm>
            <a:off x="2633472" y="4343400"/>
            <a:ext cx="1783080" cy="411480"/>
          </a:xfrm>
          <a:prstGeom prst="rect">
            <a:avLst/>
          </a:prstGeom>
          <a:noFill/>
          <a:ln/>
        </p:spPr>
        <p:txBody>
          <a:bodyPr wrap="square" lIns="0" tIns="0" rIns="0" bIns="0" rtlCol="0" anchor="ctr"/>
          <a:lstStyle/>
          <a:p>
            <a:pPr indent="0" marL="0">
              <a:buNone/>
            </a:pPr>
            <a:r>
              <a:rPr lang="en-US" sz="1050" b="1" dirty="0">
                <a:solidFill>
                  <a:schemeClr val="tx1"/>
                </a:solidFill>
              </a:rPr>
              <a:t>Saliency, SmoothGrad: </a:t>
            </a:r>
            <a:pPr indent="0" marL="0">
              <a:buNone/>
            </a:pPr>
            <a:r>
              <a:rPr lang="en-US" sz="1050" dirty="0">
                <a:solidFill>
                  <a:srgbClr val="6B7F75"/>
                </a:solidFill>
              </a:rPr>
              <a:t>fine, speckled edges</a:t>
            </a:r>
            <a:endParaRPr lang="en-US" sz="1400" dirty="0"/>
          </a:p>
        </p:txBody>
      </p:sp>
      <p:sp>
        <p:nvSpPr>
          <p:cNvPr id="10" name="card-313"/>
          <p:cNvSpPr/>
          <p:nvPr/>
        </p:nvSpPr>
        <p:spPr>
          <a:xfrm>
            <a:off x="4626864" y="4343400"/>
            <a:ext cx="1965960" cy="411480"/>
          </a:xfrm>
          <a:prstGeom prst="roundRect">
            <a:avLst>
              <a:gd name="adj" fmla="val 17778"/>
            </a:avLst>
          </a:prstGeom>
          <a:solidFill>
            <a:schemeClr val="bg2"/>
          </a:solidFill>
          <a:ln w="12700">
            <a:solidFill>
              <a:schemeClr val="bg2"/>
            </a:solidFill>
            <a:prstDash val="solid"/>
          </a:ln>
        </p:spPr>
      </p:sp>
      <p:sp>
        <p:nvSpPr>
          <p:cNvPr id="11" name="text-314"/>
          <p:cNvSpPr txBox="1"/>
          <p:nvPr/>
        </p:nvSpPr>
        <p:spPr>
          <a:xfrm>
            <a:off x="4718304" y="4343400"/>
            <a:ext cx="1783080" cy="411480"/>
          </a:xfrm>
          <a:prstGeom prst="rect">
            <a:avLst/>
          </a:prstGeom>
          <a:noFill/>
          <a:ln/>
        </p:spPr>
        <p:txBody>
          <a:bodyPr wrap="square" lIns="0" tIns="0" rIns="0" bIns="0" rtlCol="0" anchor="ctr"/>
          <a:lstStyle/>
          <a:p>
            <a:pPr indent="0" marL="0">
              <a:buNone/>
            </a:pPr>
            <a:r>
              <a:rPr lang="en-US" sz="1050" b="1" dirty="0">
                <a:solidFill>
                  <a:schemeClr val="tx1"/>
                </a:solidFill>
              </a:rPr>
              <a:t>Integrated Gradients: </a:t>
            </a:r>
            <a:pPr indent="0" marL="0">
              <a:buNone/>
            </a:pPr>
            <a:r>
              <a:rPr lang="en-US" sz="1050" dirty="0">
                <a:solidFill>
                  <a:srgbClr val="6B7F75"/>
                </a:solidFill>
              </a:rPr>
              <a:t>faint on these leaves</a:t>
            </a:r>
            <a:endParaRPr lang="en-US" sz="1400" dirty="0"/>
          </a:p>
        </p:txBody>
      </p:sp>
      <p:sp>
        <p:nvSpPr>
          <p:cNvPr id="12" name="card-315"/>
          <p:cNvSpPr/>
          <p:nvPr/>
        </p:nvSpPr>
        <p:spPr>
          <a:xfrm>
            <a:off x="6711696" y="4343400"/>
            <a:ext cx="1965960" cy="411480"/>
          </a:xfrm>
          <a:prstGeom prst="roundRect">
            <a:avLst>
              <a:gd name="adj" fmla="val 17778"/>
            </a:avLst>
          </a:prstGeom>
          <a:solidFill>
            <a:schemeClr val="bg2"/>
          </a:solidFill>
          <a:ln w="12700">
            <a:solidFill>
              <a:schemeClr val="bg2"/>
            </a:solidFill>
            <a:prstDash val="solid"/>
          </a:ln>
        </p:spPr>
      </p:sp>
      <p:sp>
        <p:nvSpPr>
          <p:cNvPr id="13" name="text-316"/>
          <p:cNvSpPr txBox="1"/>
          <p:nvPr/>
        </p:nvSpPr>
        <p:spPr>
          <a:xfrm>
            <a:off x="6803136" y="4343400"/>
            <a:ext cx="1783080" cy="411480"/>
          </a:xfrm>
          <a:prstGeom prst="rect">
            <a:avLst/>
          </a:prstGeom>
          <a:noFill/>
          <a:ln/>
        </p:spPr>
        <p:txBody>
          <a:bodyPr wrap="square" lIns="0" tIns="0" rIns="0" bIns="0" rtlCol="0" anchor="ctr"/>
          <a:lstStyle/>
          <a:p>
            <a:pPr indent="0" marL="0">
              <a:buNone/>
            </a:pPr>
            <a:r>
              <a:rPr lang="en-US" sz="1050" b="1" dirty="0">
                <a:solidFill>
                  <a:schemeClr val="tx1"/>
                </a:solidFill>
              </a:rPr>
              <a:t>SHAP and LIME: </a:t>
            </a:r>
            <a:pPr indent="0" marL="0">
              <a:buNone/>
            </a:pPr>
            <a:r>
              <a:rPr lang="en-US" sz="1050" dirty="0">
                <a:solidFill>
                  <a:srgbClr val="6B7F75"/>
                </a:solidFill>
              </a:rPr>
              <a:t>coarse patches / superpixels</a:t>
            </a:r>
            <a:endParaRPr lang="en-US" sz="1400" dirty="0"/>
          </a:p>
        </p:txBody>
      </p:sp>
      <p:sp>
        <p:nvSpPr>
          <p:cNvPr id="25" name="Slide Number Placeholder 0"/>
          <p:cNvSpPr>
            <a:spLocks noGrp="1"/>
          </p:cNvSpPr>
          <p:nvPr>
            <p:ph type="sldNum" sz="quarter" idx="4294967295"/>
          </p:nvPr>
        </p:nvSpPr>
        <p:spPr>
          <a:xfrm>
            <a:off x="8229600" y="4828032"/>
            <a:ext cx="457200" cy="22860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defRPr>
            </a:lvl1pPr>
          </a:lstStyle>
          <a:p>
            <a:pPr algn="r"/>
            <a:fld id="{F7021451-1387-4CA6-816F-3879F97B5CBC}" type="slidenum">
              <a:rPr b="0" lang="en-US"/>
              <a:t>22</a:t>
            </a:fld>
            <a:endParaRPr lang="en-US"/>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spTree>
      <p:nvGrpSpPr>
        <p:cNvPr id="1" name=""/>
        <p:cNvGrpSpPr/>
        <p:nvPr/>
      </p:nvGrpSpPr>
      <p:grpSpPr>
        <a:xfrm>
          <a:off x="0" y="0"/>
          <a:ext cx="0" cy="0"/>
          <a:chOff x="0" y="0"/>
          <a:chExt cx="0" cy="0"/>
        </a:xfrm>
      </p:grpSpPr>
      <p:sp>
        <p:nvSpPr>
          <p:cNvPr id="2" name="Text 0"/>
          <p:cNvSpPr/>
          <p:nvPr>
            <p:ph idx="100" type="title" hasCustomPrompt="1"/>
          </p:nvPr>
        </p:nvSpPr>
        <p:spPr>
          <a:xfrm>
            <a:off x="457200" y="256032"/>
            <a:ext cx="8229600" cy="685800"/>
          </a:xfrm>
          <a:prstGeom prst="rect">
            <a:avLst/>
          </a:prstGeom>
          <a:noFill/>
          <a:ln/>
        </p:spPr>
        <p:txBody>
          <a:bodyPr wrap="square" lIns="0" tIns="0" rIns="0" bIns="0" rtlCol="0" anchor="ctr"/>
          <a:lstStyle/>
          <a:p>
            <a:pPr algn="l" indent="0" marL="0">
              <a:buNone/>
            </a:pPr>
            <a:r>
              <a:rPr lang="en-US" sz="2800" b="1" dirty="0">
                <a:solidFill>
                  <a:schemeClr val="tx1"/>
                </a:solidFill>
              </a:rPr>
              <a:t>Judging predictions on three criteria</a:t>
            </a:r>
            <a:endParaRPr lang="en-US" sz="2800" dirty="0"/>
          </a:p>
        </p:txBody>
      </p:sp>
      <p:sp>
        <p:nvSpPr>
          <p:cNvPr id="4" name="card-317"/>
          <p:cNvSpPr/>
          <p:nvPr/>
        </p:nvSpPr>
        <p:spPr>
          <a:xfrm>
            <a:off x="457200" y="1097280"/>
            <a:ext cx="2606040" cy="2743200"/>
          </a:xfrm>
          <a:prstGeom prst="roundRect">
            <a:avLst>
              <a:gd name="adj" fmla="val 2807"/>
            </a:avLst>
          </a:prstGeom>
          <a:solidFill>
            <a:schemeClr val="bg2"/>
          </a:solidFill>
          <a:ln w="12700">
            <a:solidFill>
              <a:schemeClr val="bg2"/>
            </a:solidFill>
            <a:prstDash val="solid"/>
          </a:ln>
        </p:spPr>
      </p:sp>
      <p:sp>
        <p:nvSpPr>
          <p:cNvPr id="5" name="text-318"/>
          <p:cNvSpPr txBox="1"/>
          <p:nvPr/>
        </p:nvSpPr>
        <p:spPr>
          <a:xfrm>
            <a:off x="640080" y="1207008"/>
            <a:ext cx="2286000" cy="365760"/>
          </a:xfrm>
          <a:prstGeom prst="rect">
            <a:avLst/>
          </a:prstGeom>
          <a:noFill/>
          <a:ln/>
        </p:spPr>
        <p:txBody>
          <a:bodyPr wrap="square" lIns="0" tIns="0" rIns="0" bIns="0" rtlCol="0" anchor="t"/>
          <a:lstStyle/>
          <a:p>
            <a:pPr indent="0" marL="0">
              <a:buNone/>
            </a:pPr>
            <a:r>
              <a:rPr lang="en-US" sz="1800" b="1" dirty="0">
                <a:solidFill>
                  <a:schemeClr val="accent3"/>
                </a:solidFill>
                <a:latin typeface="Cambria" pitchFamily="34" charset="0"/>
                <a:ea typeface="Cambria" pitchFamily="34" charset="-122"/>
                <a:cs typeface="Cambria" pitchFamily="34" charset="-120"/>
              </a:rPr>
              <a:t>Interpretability</a:t>
            </a:r>
            <a:endParaRPr lang="en-US" sz="1800" dirty="0"/>
          </a:p>
        </p:txBody>
      </p:sp>
      <p:sp>
        <p:nvSpPr>
          <p:cNvPr id="6" name="text-319"/>
          <p:cNvSpPr txBox="1"/>
          <p:nvPr/>
        </p:nvSpPr>
        <p:spPr>
          <a:xfrm>
            <a:off x="640080" y="1691640"/>
            <a:ext cx="2286000" cy="822960"/>
          </a:xfrm>
          <a:prstGeom prst="rect">
            <a:avLst/>
          </a:prstGeom>
          <a:noFill/>
          <a:ln/>
        </p:spPr>
        <p:txBody>
          <a:bodyPr wrap="square" lIns="0" tIns="0" rIns="0" bIns="0" rtlCol="0" anchor="t"/>
          <a:lstStyle/>
          <a:p>
            <a:pPr indent="0" marL="0">
              <a:buNone/>
            </a:pPr>
            <a:r>
              <a:rPr lang="en-US" sz="1350" dirty="0">
                <a:solidFill>
                  <a:schemeClr val="tx1"/>
                </a:solidFill>
              </a:rPr>
              <a:t>How far a person can understand how the model works inside.</a:t>
            </a:r>
            <a:endParaRPr lang="en-US" sz="1350" dirty="0"/>
          </a:p>
        </p:txBody>
      </p:sp>
      <p:sp>
        <p:nvSpPr>
          <p:cNvPr id="7" name="text-320"/>
          <p:cNvSpPr txBox="1"/>
          <p:nvPr/>
        </p:nvSpPr>
        <p:spPr>
          <a:xfrm>
            <a:off x="640080" y="2514600"/>
            <a:ext cx="2286000" cy="228600"/>
          </a:xfrm>
          <a:prstGeom prst="rect">
            <a:avLst/>
          </a:prstGeom>
          <a:noFill/>
          <a:ln/>
        </p:spPr>
        <p:txBody>
          <a:bodyPr wrap="square" lIns="0" tIns="0" rIns="0" bIns="0" rtlCol="0" anchor="t"/>
          <a:lstStyle/>
          <a:p>
            <a:pPr indent="0" marL="0">
              <a:buNone/>
            </a:pPr>
            <a:r>
              <a:rPr lang="en-US" sz="1100" b="1" dirty="0">
                <a:solidFill>
                  <a:schemeClr val="accent6"/>
                </a:solidFill>
              </a:rPr>
              <a:t>In this project</a:t>
            </a:r>
            <a:endParaRPr lang="en-US" sz="1100" dirty="0"/>
          </a:p>
        </p:txBody>
      </p:sp>
      <p:sp>
        <p:nvSpPr>
          <p:cNvPr id="8" name="text-321"/>
          <p:cNvSpPr txBox="1"/>
          <p:nvPr/>
        </p:nvSpPr>
        <p:spPr>
          <a:xfrm>
            <a:off x="640080" y="2761488"/>
            <a:ext cx="2286000" cy="1051560"/>
          </a:xfrm>
          <a:prstGeom prst="rect">
            <a:avLst/>
          </a:prstGeom>
          <a:noFill/>
          <a:ln/>
        </p:spPr>
        <p:txBody>
          <a:bodyPr wrap="square" lIns="0" tIns="0" rIns="0" bIns="0" rtlCol="0" anchor="t"/>
          <a:lstStyle/>
          <a:p>
            <a:pPr indent="0" marL="0">
              <a:buNone/>
            </a:pPr>
            <a:r>
              <a:rPr lang="en-US" sz="1250" dirty="0">
                <a:solidFill>
                  <a:schemeClr val="tx1"/>
                </a:solidFill>
              </a:rPr>
              <a:t>EfficientNet-B0 with a known last convolution layer that we read directly.</a:t>
            </a:r>
            <a:endParaRPr lang="en-US" sz="1250" dirty="0"/>
          </a:p>
        </p:txBody>
      </p:sp>
      <p:sp>
        <p:nvSpPr>
          <p:cNvPr id="9" name="card-322"/>
          <p:cNvSpPr/>
          <p:nvPr/>
        </p:nvSpPr>
        <p:spPr>
          <a:xfrm>
            <a:off x="3246120" y="1097280"/>
            <a:ext cx="2606040" cy="2743200"/>
          </a:xfrm>
          <a:prstGeom prst="roundRect">
            <a:avLst>
              <a:gd name="adj" fmla="val 2807"/>
            </a:avLst>
          </a:prstGeom>
          <a:solidFill>
            <a:schemeClr val="bg2"/>
          </a:solidFill>
          <a:ln w="12700">
            <a:solidFill>
              <a:schemeClr val="bg2"/>
            </a:solidFill>
            <a:prstDash val="solid"/>
          </a:ln>
        </p:spPr>
      </p:sp>
      <p:sp>
        <p:nvSpPr>
          <p:cNvPr id="10" name="text-323"/>
          <p:cNvSpPr txBox="1"/>
          <p:nvPr/>
        </p:nvSpPr>
        <p:spPr>
          <a:xfrm>
            <a:off x="3429000" y="1207008"/>
            <a:ext cx="2286000" cy="365760"/>
          </a:xfrm>
          <a:prstGeom prst="rect">
            <a:avLst/>
          </a:prstGeom>
          <a:noFill/>
          <a:ln/>
        </p:spPr>
        <p:txBody>
          <a:bodyPr wrap="square" lIns="0" tIns="0" rIns="0" bIns="0" rtlCol="0" anchor="t"/>
          <a:lstStyle/>
          <a:p>
            <a:pPr indent="0" marL="0">
              <a:buNone/>
            </a:pPr>
            <a:r>
              <a:rPr lang="en-US" sz="1800" b="1" dirty="0">
                <a:solidFill>
                  <a:schemeClr val="accent1"/>
                </a:solidFill>
                <a:latin typeface="Cambria" pitchFamily="34" charset="0"/>
                <a:ea typeface="Cambria" pitchFamily="34" charset="-122"/>
                <a:cs typeface="Cambria" pitchFamily="34" charset="-120"/>
              </a:rPr>
              <a:t>Explainability</a:t>
            </a:r>
            <a:endParaRPr lang="en-US" sz="1800" dirty="0"/>
          </a:p>
        </p:txBody>
      </p:sp>
      <p:sp>
        <p:nvSpPr>
          <p:cNvPr id="11" name="text-324"/>
          <p:cNvSpPr txBox="1"/>
          <p:nvPr/>
        </p:nvSpPr>
        <p:spPr>
          <a:xfrm>
            <a:off x="3429000" y="1691640"/>
            <a:ext cx="2286000" cy="822960"/>
          </a:xfrm>
          <a:prstGeom prst="rect">
            <a:avLst/>
          </a:prstGeom>
          <a:noFill/>
          <a:ln/>
        </p:spPr>
        <p:txBody>
          <a:bodyPr wrap="square" lIns="0" tIns="0" rIns="0" bIns="0" rtlCol="0" anchor="t"/>
          <a:lstStyle/>
          <a:p>
            <a:pPr indent="0" marL="0">
              <a:buNone/>
            </a:pPr>
            <a:r>
              <a:rPr lang="en-US" sz="1350" dirty="0">
                <a:solidFill>
                  <a:schemeClr val="tx1"/>
                </a:solidFill>
              </a:rPr>
              <a:t>Post-hoc techniques that show why one prediction was made.</a:t>
            </a:r>
            <a:endParaRPr lang="en-US" sz="1350" dirty="0"/>
          </a:p>
        </p:txBody>
      </p:sp>
      <p:sp>
        <p:nvSpPr>
          <p:cNvPr id="12" name="text-325"/>
          <p:cNvSpPr txBox="1"/>
          <p:nvPr/>
        </p:nvSpPr>
        <p:spPr>
          <a:xfrm>
            <a:off x="3429000" y="2514600"/>
            <a:ext cx="2286000" cy="228600"/>
          </a:xfrm>
          <a:prstGeom prst="rect">
            <a:avLst/>
          </a:prstGeom>
          <a:noFill/>
          <a:ln/>
        </p:spPr>
        <p:txBody>
          <a:bodyPr wrap="square" lIns="0" tIns="0" rIns="0" bIns="0" rtlCol="0" anchor="t"/>
          <a:lstStyle/>
          <a:p>
            <a:pPr indent="0" marL="0">
              <a:buNone/>
            </a:pPr>
            <a:r>
              <a:rPr lang="en-US" sz="1100" b="1" dirty="0">
                <a:solidFill>
                  <a:schemeClr val="accent6"/>
                </a:solidFill>
              </a:rPr>
              <a:t>In this project</a:t>
            </a:r>
            <a:endParaRPr lang="en-US" sz="1100" dirty="0"/>
          </a:p>
        </p:txBody>
      </p:sp>
      <p:sp>
        <p:nvSpPr>
          <p:cNvPr id="13" name="text-326"/>
          <p:cNvSpPr txBox="1"/>
          <p:nvPr/>
        </p:nvSpPr>
        <p:spPr>
          <a:xfrm>
            <a:off x="3429000" y="2761488"/>
            <a:ext cx="2286000" cy="1051560"/>
          </a:xfrm>
          <a:prstGeom prst="rect">
            <a:avLst/>
          </a:prstGeom>
          <a:noFill/>
          <a:ln/>
        </p:spPr>
        <p:txBody>
          <a:bodyPr wrap="square" lIns="0" tIns="0" rIns="0" bIns="0" rtlCol="0" anchor="t"/>
          <a:lstStyle/>
          <a:p>
            <a:pPr indent="0" marL="0">
              <a:buNone/>
            </a:pPr>
            <a:r>
              <a:rPr lang="en-US" sz="1250" dirty="0">
                <a:solidFill>
                  <a:schemeClr val="tx1"/>
                </a:solidFill>
              </a:rPr>
              <a:t>Seven engines: heatmaps, a counterfactual test and concept scores.</a:t>
            </a:r>
            <a:endParaRPr lang="en-US" sz="1250" dirty="0"/>
          </a:p>
        </p:txBody>
      </p:sp>
      <p:sp>
        <p:nvSpPr>
          <p:cNvPr id="14" name="card-327"/>
          <p:cNvSpPr/>
          <p:nvPr/>
        </p:nvSpPr>
        <p:spPr>
          <a:xfrm>
            <a:off x="6035040" y="1097280"/>
            <a:ext cx="2606040" cy="2743200"/>
          </a:xfrm>
          <a:prstGeom prst="roundRect">
            <a:avLst>
              <a:gd name="adj" fmla="val 2807"/>
            </a:avLst>
          </a:prstGeom>
          <a:solidFill>
            <a:schemeClr val="bg2"/>
          </a:solidFill>
          <a:ln w="12700">
            <a:solidFill>
              <a:schemeClr val="bg2"/>
            </a:solidFill>
            <a:prstDash val="solid"/>
          </a:ln>
        </p:spPr>
      </p:sp>
      <p:sp>
        <p:nvSpPr>
          <p:cNvPr id="15" name="text-328"/>
          <p:cNvSpPr txBox="1"/>
          <p:nvPr/>
        </p:nvSpPr>
        <p:spPr>
          <a:xfrm>
            <a:off x="6217920" y="1207008"/>
            <a:ext cx="2286000" cy="365760"/>
          </a:xfrm>
          <a:prstGeom prst="rect">
            <a:avLst/>
          </a:prstGeom>
          <a:noFill/>
          <a:ln/>
        </p:spPr>
        <p:txBody>
          <a:bodyPr wrap="square" lIns="0" tIns="0" rIns="0" bIns="0" rtlCol="0" anchor="t"/>
          <a:lstStyle/>
          <a:p>
            <a:pPr indent="0" marL="0">
              <a:buNone/>
            </a:pPr>
            <a:r>
              <a:rPr lang="en-US" sz="1800" b="1" dirty="0">
                <a:solidFill>
                  <a:schemeClr val="accent2"/>
                </a:solidFill>
                <a:latin typeface="Cambria" pitchFamily="34" charset="0"/>
                <a:ea typeface="Cambria" pitchFamily="34" charset="-122"/>
                <a:cs typeface="Cambria" pitchFamily="34" charset="-120"/>
              </a:rPr>
              <a:t>Trustworthiness</a:t>
            </a:r>
            <a:endParaRPr lang="en-US" sz="1800" dirty="0"/>
          </a:p>
        </p:txBody>
      </p:sp>
      <p:sp>
        <p:nvSpPr>
          <p:cNvPr id="16" name="text-329"/>
          <p:cNvSpPr txBox="1"/>
          <p:nvPr/>
        </p:nvSpPr>
        <p:spPr>
          <a:xfrm>
            <a:off x="6217920" y="1691640"/>
            <a:ext cx="2286000" cy="822960"/>
          </a:xfrm>
          <a:prstGeom prst="rect">
            <a:avLst/>
          </a:prstGeom>
          <a:noFill/>
          <a:ln/>
        </p:spPr>
        <p:txBody>
          <a:bodyPr wrap="square" lIns="0" tIns="0" rIns="0" bIns="0" rtlCol="0" anchor="t"/>
          <a:lstStyle/>
          <a:p>
            <a:pPr indent="0" marL="0">
              <a:buNone/>
            </a:pPr>
            <a:r>
              <a:rPr lang="en-US" sz="1350" dirty="0">
                <a:solidFill>
                  <a:schemeClr val="tx1"/>
                </a:solidFill>
              </a:rPr>
              <a:t>Whether the system can be relied on, and says when it cannot.</a:t>
            </a:r>
            <a:endParaRPr lang="en-US" sz="1350" dirty="0"/>
          </a:p>
        </p:txBody>
      </p:sp>
      <p:sp>
        <p:nvSpPr>
          <p:cNvPr id="17" name="text-330"/>
          <p:cNvSpPr txBox="1"/>
          <p:nvPr/>
        </p:nvSpPr>
        <p:spPr>
          <a:xfrm>
            <a:off x="6217920" y="2514600"/>
            <a:ext cx="2286000" cy="228600"/>
          </a:xfrm>
          <a:prstGeom prst="rect">
            <a:avLst/>
          </a:prstGeom>
          <a:noFill/>
          <a:ln/>
        </p:spPr>
        <p:txBody>
          <a:bodyPr wrap="square" lIns="0" tIns="0" rIns="0" bIns="0" rtlCol="0" anchor="t"/>
          <a:lstStyle/>
          <a:p>
            <a:pPr indent="0" marL="0">
              <a:buNone/>
            </a:pPr>
            <a:r>
              <a:rPr lang="en-US" sz="1100" b="1" dirty="0">
                <a:solidFill>
                  <a:schemeClr val="accent6"/>
                </a:solidFill>
              </a:rPr>
              <a:t>In this project</a:t>
            </a:r>
            <a:endParaRPr lang="en-US" sz="1100" dirty="0"/>
          </a:p>
        </p:txBody>
      </p:sp>
      <p:sp>
        <p:nvSpPr>
          <p:cNvPr id="18" name="text-331"/>
          <p:cNvSpPr txBox="1"/>
          <p:nvPr/>
        </p:nvSpPr>
        <p:spPr>
          <a:xfrm>
            <a:off x="6217920" y="2761488"/>
            <a:ext cx="2286000" cy="1051560"/>
          </a:xfrm>
          <a:prstGeom prst="rect">
            <a:avLst/>
          </a:prstGeom>
          <a:noFill/>
          <a:ln/>
        </p:spPr>
        <p:txBody>
          <a:bodyPr wrap="square" lIns="0" tIns="0" rIns="0" bIns="0" rtlCol="0" anchor="t"/>
          <a:lstStyle/>
          <a:p>
            <a:pPr indent="0" marL="0">
              <a:buNone/>
            </a:pPr>
            <a:r>
              <a:rPr lang="en-US" sz="1250" dirty="0">
                <a:solidFill>
                  <a:schemeClr val="tx1"/>
                </a:solidFill>
              </a:rPr>
              <a:t>Calibrated confidence, MC-Dropout uncertainty, robustness tests, six explanation metrics, failure analysis.</a:t>
            </a:r>
            <a:endParaRPr lang="en-US" sz="1250" dirty="0"/>
          </a:p>
        </p:txBody>
      </p:sp>
      <p:sp>
        <p:nvSpPr>
          <p:cNvPr id="19" name="chevron-332"/>
          <p:cNvSpPr/>
          <p:nvPr/>
        </p:nvSpPr>
        <p:spPr>
          <a:xfrm>
            <a:off x="457200" y="4023360"/>
            <a:ext cx="2651760" cy="640080"/>
          </a:xfrm>
          <a:prstGeom prst="homePlate">
            <a:avLst/>
          </a:prstGeom>
          <a:solidFill>
            <a:schemeClr val="accent3"/>
          </a:solidFill>
          <a:ln w="12700">
            <a:solidFill>
              <a:schemeClr val="bg1"/>
            </a:solidFill>
            <a:prstDash val="solid"/>
          </a:ln>
        </p:spPr>
      </p:sp>
      <p:sp>
        <p:nvSpPr>
          <p:cNvPr id="20" name="text-333"/>
          <p:cNvSpPr txBox="1"/>
          <p:nvPr/>
        </p:nvSpPr>
        <p:spPr>
          <a:xfrm>
            <a:off x="594360" y="4023360"/>
            <a:ext cx="2194560" cy="640080"/>
          </a:xfrm>
          <a:prstGeom prst="rect">
            <a:avLst/>
          </a:prstGeom>
          <a:noFill/>
          <a:ln/>
        </p:spPr>
        <p:txBody>
          <a:bodyPr wrap="square" lIns="0" tIns="0" rIns="0" bIns="0" rtlCol="0" anchor="ctr"/>
          <a:lstStyle/>
          <a:p>
            <a:pPr indent="0" marL="0">
              <a:buNone/>
            </a:pPr>
            <a:r>
              <a:rPr lang="en-US" sz="1400" b="1" dirty="0">
                <a:solidFill>
                  <a:schemeClr val="bg1"/>
                </a:solidFill>
              </a:rPr>
              <a:t>Interpretable model</a:t>
            </a:r>
            <a:endParaRPr lang="en-US" sz="1400" dirty="0"/>
          </a:p>
        </p:txBody>
      </p:sp>
      <p:sp>
        <p:nvSpPr>
          <p:cNvPr id="21" name="chevron-334"/>
          <p:cNvSpPr/>
          <p:nvPr/>
        </p:nvSpPr>
        <p:spPr>
          <a:xfrm>
            <a:off x="3246120" y="4023360"/>
            <a:ext cx="2651760" cy="640080"/>
          </a:xfrm>
          <a:prstGeom prst="homePlate">
            <a:avLst/>
          </a:prstGeom>
          <a:solidFill>
            <a:schemeClr val="accent1"/>
          </a:solidFill>
          <a:ln w="12700">
            <a:solidFill>
              <a:schemeClr val="bg1"/>
            </a:solidFill>
            <a:prstDash val="solid"/>
          </a:ln>
        </p:spPr>
      </p:sp>
      <p:sp>
        <p:nvSpPr>
          <p:cNvPr id="22" name="text-335"/>
          <p:cNvSpPr txBox="1"/>
          <p:nvPr/>
        </p:nvSpPr>
        <p:spPr>
          <a:xfrm>
            <a:off x="3383280" y="4023360"/>
            <a:ext cx="2194560" cy="640080"/>
          </a:xfrm>
          <a:prstGeom prst="rect">
            <a:avLst/>
          </a:prstGeom>
          <a:noFill/>
          <a:ln/>
        </p:spPr>
        <p:txBody>
          <a:bodyPr wrap="square" lIns="0" tIns="0" rIns="0" bIns="0" rtlCol="0" anchor="ctr"/>
          <a:lstStyle/>
          <a:p>
            <a:pPr indent="0" marL="0">
              <a:buNone/>
            </a:pPr>
            <a:r>
              <a:rPr lang="en-US" sz="1400" b="1" dirty="0">
                <a:solidFill>
                  <a:schemeClr val="bg1"/>
                </a:solidFill>
              </a:rPr>
              <a:t>Explained predictions</a:t>
            </a:r>
            <a:endParaRPr lang="en-US" sz="1400" dirty="0"/>
          </a:p>
        </p:txBody>
      </p:sp>
      <p:sp>
        <p:nvSpPr>
          <p:cNvPr id="23" name="chevron-336"/>
          <p:cNvSpPr/>
          <p:nvPr/>
        </p:nvSpPr>
        <p:spPr>
          <a:xfrm>
            <a:off x="6035040" y="4023360"/>
            <a:ext cx="2651760" cy="640080"/>
          </a:xfrm>
          <a:prstGeom prst="homePlate">
            <a:avLst/>
          </a:prstGeom>
          <a:solidFill>
            <a:schemeClr val="accent2"/>
          </a:solidFill>
          <a:ln w="12700">
            <a:solidFill>
              <a:schemeClr val="bg1"/>
            </a:solidFill>
            <a:prstDash val="solid"/>
          </a:ln>
        </p:spPr>
      </p:sp>
      <p:sp>
        <p:nvSpPr>
          <p:cNvPr id="24" name="text-337"/>
          <p:cNvSpPr txBox="1"/>
          <p:nvPr/>
        </p:nvSpPr>
        <p:spPr>
          <a:xfrm>
            <a:off x="6172200" y="4023360"/>
            <a:ext cx="2194560" cy="640080"/>
          </a:xfrm>
          <a:prstGeom prst="rect">
            <a:avLst/>
          </a:prstGeom>
          <a:noFill/>
          <a:ln/>
        </p:spPr>
        <p:txBody>
          <a:bodyPr wrap="square" lIns="0" tIns="0" rIns="0" bIns="0" rtlCol="0" anchor="ctr"/>
          <a:lstStyle/>
          <a:p>
            <a:pPr indent="0" marL="0">
              <a:buNone/>
            </a:pPr>
            <a:r>
              <a:rPr lang="en-US" sz="1400" b="1" dirty="0">
                <a:solidFill>
                  <a:schemeClr val="bg1"/>
                </a:solidFill>
              </a:rPr>
              <a:t>Trusted decisions</a:t>
            </a:r>
            <a:endParaRPr lang="en-US" sz="1400" dirty="0"/>
          </a:p>
        </p:txBody>
      </p:sp>
      <p:sp>
        <p:nvSpPr>
          <p:cNvPr id="25" name="Slide Number Placeholder 0"/>
          <p:cNvSpPr>
            <a:spLocks noGrp="1"/>
          </p:cNvSpPr>
          <p:nvPr>
            <p:ph type="sldNum" sz="quarter" idx="4294967295"/>
          </p:nvPr>
        </p:nvSpPr>
        <p:spPr>
          <a:xfrm>
            <a:off x="8229600" y="4828032"/>
            <a:ext cx="457200" cy="22860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defRPr>
            </a:lvl1pPr>
          </a:lstStyle>
          <a:p>
            <a:pPr algn="r"/>
            <a:fld id="{F7021451-1387-4CA6-816F-3879F97B5CBC}" type="slidenum">
              <a:rPr b="0" lang="en-US"/>
              <a:t>23</a:t>
            </a:fld>
            <a:endParaRPr lang="en-US"/>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spTree>
      <p:nvGrpSpPr>
        <p:cNvPr id="1" name=""/>
        <p:cNvGrpSpPr/>
        <p:nvPr/>
      </p:nvGrpSpPr>
      <p:grpSpPr>
        <a:xfrm>
          <a:off x="0" y="0"/>
          <a:ext cx="0" cy="0"/>
          <a:chOff x="0" y="0"/>
          <a:chExt cx="0" cy="0"/>
        </a:xfrm>
      </p:grpSpPr>
      <p:sp>
        <p:nvSpPr>
          <p:cNvPr id="2" name="Text 0"/>
          <p:cNvSpPr/>
          <p:nvPr>
            <p:ph idx="100" type="title" hasCustomPrompt="1"/>
          </p:nvPr>
        </p:nvSpPr>
        <p:spPr>
          <a:xfrm>
            <a:off x="457200" y="256032"/>
            <a:ext cx="8229600" cy="685800"/>
          </a:xfrm>
          <a:prstGeom prst="rect">
            <a:avLst/>
          </a:prstGeom>
          <a:noFill/>
          <a:ln/>
        </p:spPr>
        <p:txBody>
          <a:bodyPr wrap="square" lIns="0" tIns="0" rIns="0" bIns="0" rtlCol="0" anchor="ctr"/>
          <a:lstStyle/>
          <a:p>
            <a:pPr algn="l" indent="0" marL="0">
              <a:buNone/>
            </a:pPr>
            <a:r>
              <a:rPr lang="en-US" sz="2800" b="1" dirty="0">
                <a:solidFill>
                  <a:schemeClr val="tx1"/>
                </a:solidFill>
              </a:rPr>
              <a:t>Scoring the explanations, not just showing them</a:t>
            </a:r>
            <a:endParaRPr lang="en-US" sz="2800" dirty="0"/>
          </a:p>
        </p:txBody>
      </p:sp>
      <p:sp>
        <p:nvSpPr>
          <p:cNvPr id="5" name="card-338"/>
          <p:cNvSpPr/>
          <p:nvPr/>
        </p:nvSpPr>
        <p:spPr>
          <a:xfrm>
            <a:off x="5669280" y="1097280"/>
            <a:ext cx="3017520" cy="3566160"/>
          </a:xfrm>
          <a:prstGeom prst="roundRect">
            <a:avLst>
              <a:gd name="adj" fmla="val 2424"/>
            </a:avLst>
          </a:prstGeom>
          <a:solidFill>
            <a:schemeClr val="bg2"/>
          </a:solidFill>
          <a:ln w="12700">
            <a:solidFill>
              <a:schemeClr val="bg2"/>
            </a:solidFill>
            <a:prstDash val="solid"/>
          </a:ln>
        </p:spPr>
      </p:sp>
      <p:sp>
        <p:nvSpPr>
          <p:cNvPr id="6" name="text-339"/>
          <p:cNvSpPr txBox="1"/>
          <p:nvPr/>
        </p:nvSpPr>
        <p:spPr>
          <a:xfrm>
            <a:off x="5806440" y="1188720"/>
            <a:ext cx="2743200" cy="2651760"/>
          </a:xfrm>
          <a:prstGeom prst="rect">
            <a:avLst/>
          </a:prstGeom>
          <a:noFill/>
          <a:ln/>
        </p:spPr>
        <p:txBody>
          <a:bodyPr wrap="square" lIns="0" tIns="0" rIns="0" bIns="0" rtlCol="0" anchor="t"/>
          <a:lstStyle/>
          <a:p>
            <a:pPr indent="0" marL="0">
              <a:spcAft>
                <a:spcPts val="800"/>
              </a:spcAft>
              <a:buNone/>
            </a:pPr>
            <a:r>
              <a:rPr lang="en-US" sz="1500" b="1" dirty="0">
                <a:solidFill>
                  <a:schemeClr val="tx1"/>
                </a:solidFill>
              </a:rPr>
              <a:t>Six quality metrics</a:t>
            </a:r>
            <a:endParaRPr lang="en-US" sz="1400" dirty="0"/>
          </a:p>
          <a:p>
            <a:pPr marL="342900" indent="-342900">
              <a:spcAft>
                <a:spcPts val="600"/>
              </a:spcAft>
              <a:buSzPct val="100000"/>
              <a:buChar char="•"/>
            </a:pPr>
            <a:r>
              <a:rPr lang="en-US" sz="1250" dirty="0">
                <a:solidFill>
                  <a:schemeClr val="tx1"/>
                </a:solidFill>
              </a:rPr>
              <a:t>Faithfulness: deletion and insertion curves</a:t>
            </a:r>
            <a:endParaRPr lang="en-US" sz="1400" dirty="0"/>
          </a:p>
          <a:p>
            <a:pPr marL="342900" indent="-342900">
              <a:spcAft>
                <a:spcPts val="600"/>
              </a:spcAft>
              <a:buSzPct val="100000"/>
              <a:buChar char="•"/>
            </a:pPr>
            <a:r>
              <a:rPr lang="en-US" sz="1250" dirty="0">
                <a:solidFill>
                  <a:schemeClr val="tx1"/>
                </a:solidFill>
              </a:rPr>
              <a:t>Stability: same map under small noise</a:t>
            </a:r>
            <a:endParaRPr lang="en-US" sz="1400" dirty="0"/>
          </a:p>
          <a:p>
            <a:pPr marL="342900" indent="-342900">
              <a:spcAft>
                <a:spcPts val="600"/>
              </a:spcAft>
              <a:buSzPct val="100000"/>
              <a:buChar char="•"/>
            </a:pPr>
            <a:r>
              <a:rPr lang="en-US" sz="1250" dirty="0">
                <a:solidFill>
                  <a:schemeClr val="tx1"/>
                </a:solidFill>
              </a:rPr>
              <a:t>Consistency: do methods agree</a:t>
            </a:r>
            <a:endParaRPr lang="en-US" sz="1400" dirty="0"/>
          </a:p>
          <a:p>
            <a:pPr marL="342900" indent="-342900">
              <a:spcAft>
                <a:spcPts val="600"/>
              </a:spcAft>
              <a:buSzPct val="100000"/>
              <a:buChar char="•"/>
            </a:pPr>
            <a:r>
              <a:rPr lang="en-US" sz="1250" dirty="0">
                <a:solidFill>
                  <a:schemeClr val="tx1"/>
                </a:solidFill>
              </a:rPr>
              <a:t>Robustness: map under lighting change</a:t>
            </a:r>
            <a:endParaRPr lang="en-US" sz="1400" dirty="0"/>
          </a:p>
          <a:p>
            <a:pPr marL="342900" indent="-342900">
              <a:spcAft>
                <a:spcPts val="600"/>
              </a:spcAft>
              <a:buSzPct val="100000"/>
              <a:buChar char="•"/>
            </a:pPr>
            <a:r>
              <a:rPr lang="en-US" sz="1250" dirty="0">
                <a:solidFill>
                  <a:schemeClr val="tx1"/>
                </a:solidFill>
              </a:rPr>
              <a:t>Sparsity: focused or smeared</a:t>
            </a:r>
            <a:endParaRPr lang="en-US" sz="1400" dirty="0"/>
          </a:p>
          <a:p>
            <a:pPr marL="342900" indent="-342900">
              <a:spcAft>
                <a:spcPts val="600"/>
              </a:spcAft>
              <a:buSzPct val="100000"/>
              <a:buChar char="•"/>
            </a:pPr>
            <a:r>
              <a:rPr lang="en-US" sz="1250" dirty="0">
                <a:solidFill>
                  <a:schemeClr val="tx1"/>
                </a:solidFill>
              </a:rPr>
              <a:t>Localization: attention on the leaf</a:t>
            </a:r>
            <a:endParaRPr lang="en-US" sz="1400" dirty="0"/>
          </a:p>
        </p:txBody>
      </p:sp>
      <p:sp>
        <p:nvSpPr>
          <p:cNvPr id="7" name="text-340"/>
          <p:cNvSpPr txBox="1"/>
          <p:nvPr/>
        </p:nvSpPr>
        <p:spPr>
          <a:xfrm>
            <a:off x="5806440" y="3931920"/>
            <a:ext cx="2743200" cy="685800"/>
          </a:xfrm>
          <a:prstGeom prst="rect">
            <a:avLst/>
          </a:prstGeom>
          <a:noFill/>
          <a:ln/>
        </p:spPr>
        <p:txBody>
          <a:bodyPr wrap="square" lIns="0" tIns="0" rIns="0" bIns="0" rtlCol="0" anchor="t"/>
          <a:lstStyle/>
          <a:p>
            <a:pPr indent="0" marL="0">
              <a:buNone/>
            </a:pPr>
            <a:r>
              <a:rPr lang="en-US" sz="1100" dirty="0">
                <a:solidFill>
                  <a:schemeClr val="accent6"/>
                </a:solidFill>
              </a:rPr>
              <a:t>300 test images (75 for LIME). Each method is compared with a random heatmap (Wilcoxon test).</a:t>
            </a:r>
            <a:endParaRPr lang="en-US" sz="1100" dirty="0"/>
          </a:p>
        </p:txBody>
      </p:sp>
      <p:sp>
        <p:nvSpPr>
          <p:cNvPr id="25" name="Slide Number Placeholder 0"/>
          <p:cNvSpPr>
            <a:spLocks noGrp="1"/>
          </p:cNvSpPr>
          <p:nvPr>
            <p:ph type="sldNum" sz="quarter" idx="4294967295"/>
          </p:nvPr>
        </p:nvSpPr>
        <p:spPr>
          <a:xfrm>
            <a:off x="8229600" y="4828032"/>
            <a:ext cx="457200" cy="22860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defRPr>
            </a:lvl1pPr>
          </a:lstStyle>
          <a:p>
            <a:pPr algn="r"/>
            <a:fld id="{F7021451-1387-4CA6-816F-3879F97B5CBC}" type="slidenum">
              <a:rPr b="0" lang="en-US"/>
              <a:t>24</a:t>
            </a:fld>
            <a:endParaRPr lang="en-US"/>
          </a:p>
        </p:txBody>
      </p:sp>
      <p:pic>
        <p:nvPicPr>
          <p:cNvPr id="26" name="Picture 25" descr="chart_slide24_faithfulness.png"/>
          <p:cNvPicPr>
            <a:picLocks noChangeAspect="1"/>
          </p:cNvPicPr>
          <p:nvPr/>
        </p:nvPicPr>
        <p:blipFill>
          <a:blip r:embed="rId4"/>
          <a:stretch>
            <a:fillRect/>
          </a:stretch>
        </p:blipFill>
        <p:spPr>
          <a:xfrm>
            <a:off x="365760" y="1051560"/>
            <a:ext cx="5120640" cy="3611880"/>
          </a:xfrm>
          <a:prstGeom prst="rect">
            <a:avLst/>
          </a:prstGeom>
        </p:spPr>
      </p:pic>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spTree>
      <p:nvGrpSpPr>
        <p:cNvPr id="1" name=""/>
        <p:cNvGrpSpPr/>
        <p:nvPr/>
      </p:nvGrpSpPr>
      <p:grpSpPr>
        <a:xfrm>
          <a:off x="0" y="0"/>
          <a:ext cx="0" cy="0"/>
          <a:chOff x="0" y="0"/>
          <a:chExt cx="0" cy="0"/>
        </a:xfrm>
      </p:grpSpPr>
      <p:sp>
        <p:nvSpPr>
          <p:cNvPr id="2" name="Text 0"/>
          <p:cNvSpPr/>
          <p:nvPr>
            <p:ph idx="100" type="title" hasCustomPrompt="1"/>
          </p:nvPr>
        </p:nvSpPr>
        <p:spPr>
          <a:xfrm>
            <a:off x="457200" y="256032"/>
            <a:ext cx="8229600" cy="685800"/>
          </a:xfrm>
          <a:prstGeom prst="rect">
            <a:avLst/>
          </a:prstGeom>
          <a:noFill/>
          <a:ln/>
        </p:spPr>
        <p:txBody>
          <a:bodyPr wrap="square" lIns="0" tIns="0" rIns="0" bIns="0" rtlCol="0" anchor="ctr"/>
          <a:lstStyle/>
          <a:p>
            <a:pPr algn="l" indent="0" marL="0">
              <a:buNone/>
            </a:pPr>
            <a:r>
              <a:rPr lang="en-US" sz="2800" b="1" dirty="0">
                <a:solidFill>
                  <a:schemeClr val="tx1"/>
                </a:solidFill>
              </a:rPr>
              <a:t>The app: explanation quality, scored per photo</a:t>
            </a:r>
            <a:endParaRPr lang="en-US" sz="2800" dirty="0"/>
          </a:p>
        </p:txBody>
      </p:sp>
      <p:sp>
        <p:nvSpPr>
          <p:cNvPr id="4" name="frame-341"/>
          <p:cNvSpPr/>
          <p:nvPr/>
        </p:nvSpPr>
        <p:spPr>
          <a:xfrm>
            <a:off x="1323165" y="1051560"/>
            <a:ext cx="6497669" cy="2514600"/>
          </a:xfrm>
          <a:prstGeom prst="roundRect">
            <a:avLst>
              <a:gd name="adj" fmla="val 2182"/>
            </a:avLst>
          </a:prstGeom>
          <a:solidFill>
            <a:srgbClr val="DCE7E0"/>
          </a:solidFill>
          <a:ln w="12700">
            <a:solidFill>
              <a:srgbClr val="DCE7E0"/>
            </a:solidFill>
            <a:prstDash val="solid"/>
          </a:ln>
        </p:spPr>
      </p:sp>
      <p:pic>
        <p:nvPicPr>
          <p:cNvPr id="5" name="screenshot-342" descr="/private/tmp/claude-501/-Users-parthsharma-Desktop-XAI-PDS/20cb58d2-ae23-468c-9c17-7a209704af59/scratchpad/deck/assets/app_quality_tiles.jpg">    </p:cNvPr>
          <p:cNvPicPr>
            <a:picLocks noChangeAspect="1"/>
          </p:cNvPicPr>
          <p:nvPr/>
        </p:nvPicPr>
        <p:blipFill>
          <a:blip r:embed="rId1"/>
          <a:stretch>
            <a:fillRect/>
          </a:stretch>
        </p:blipFill>
        <p:spPr>
          <a:xfrm>
            <a:off x="1378029" y="1106424"/>
            <a:ext cx="6387941" cy="2404872"/>
          </a:xfrm>
          <a:prstGeom prst="rect">
            <a:avLst/>
          </a:prstGeom>
        </p:spPr>
      </p:pic>
      <p:sp>
        <p:nvSpPr>
          <p:cNvPr id="6" name="card-343"/>
          <p:cNvSpPr/>
          <p:nvPr/>
        </p:nvSpPr>
        <p:spPr>
          <a:xfrm>
            <a:off x="457200" y="3703320"/>
            <a:ext cx="2651760" cy="1005840"/>
          </a:xfrm>
          <a:prstGeom prst="roundRect">
            <a:avLst>
              <a:gd name="adj" fmla="val 7273"/>
            </a:avLst>
          </a:prstGeom>
          <a:solidFill>
            <a:schemeClr val="bg2"/>
          </a:solidFill>
          <a:ln w="12700">
            <a:solidFill>
              <a:schemeClr val="bg2"/>
            </a:solidFill>
            <a:prstDash val="solid"/>
          </a:ln>
        </p:spPr>
      </p:sp>
      <p:sp>
        <p:nvSpPr>
          <p:cNvPr id="7" name="text-344"/>
          <p:cNvSpPr txBox="1"/>
          <p:nvPr/>
        </p:nvSpPr>
        <p:spPr>
          <a:xfrm>
            <a:off x="594360" y="3749040"/>
            <a:ext cx="2377440" cy="274320"/>
          </a:xfrm>
          <a:prstGeom prst="rect">
            <a:avLst/>
          </a:prstGeom>
          <a:noFill/>
          <a:ln/>
        </p:spPr>
        <p:txBody>
          <a:bodyPr wrap="square" lIns="0" tIns="0" rIns="0" bIns="0" rtlCol="0" anchor="t"/>
          <a:lstStyle/>
          <a:p>
            <a:pPr indent="0" marL="0">
              <a:buNone/>
            </a:pPr>
            <a:r>
              <a:rPr lang="en-US" sz="1350" b="1" dirty="0">
                <a:solidFill>
                  <a:schemeClr val="accent1"/>
                </a:solidFill>
              </a:rPr>
              <a:t>Faithfulness vs chance</a:t>
            </a:r>
            <a:endParaRPr lang="en-US" sz="1350" dirty="0"/>
          </a:p>
        </p:txBody>
      </p:sp>
      <p:sp>
        <p:nvSpPr>
          <p:cNvPr id="8" name="text-345"/>
          <p:cNvSpPr txBox="1"/>
          <p:nvPr/>
        </p:nvSpPr>
        <p:spPr>
          <a:xfrm>
            <a:off x="594360" y="4023360"/>
            <a:ext cx="2423160" cy="685800"/>
          </a:xfrm>
          <a:prstGeom prst="rect">
            <a:avLst/>
          </a:prstGeom>
          <a:noFill/>
          <a:ln/>
        </p:spPr>
        <p:txBody>
          <a:bodyPr wrap="square" lIns="0" tIns="0" rIns="0" bIns="0" rtlCol="0" anchor="t"/>
          <a:lstStyle/>
          <a:p>
            <a:pPr indent="0" marL="0">
              <a:buNone/>
            </a:pPr>
            <a:r>
              <a:rPr lang="en-US" sz="1100" dirty="0">
                <a:solidFill>
                  <a:schemeClr val="tx1"/>
                </a:solidFill>
              </a:rPr>
              <a:t>Shown next to the score a random heatmap gets, so about 50% means no better than chance.</a:t>
            </a:r>
            <a:endParaRPr lang="en-US" sz="1100" dirty="0"/>
          </a:p>
        </p:txBody>
      </p:sp>
      <p:sp>
        <p:nvSpPr>
          <p:cNvPr id="9" name="card-346"/>
          <p:cNvSpPr/>
          <p:nvPr/>
        </p:nvSpPr>
        <p:spPr>
          <a:xfrm>
            <a:off x="3246120" y="3703320"/>
            <a:ext cx="2651760" cy="1005840"/>
          </a:xfrm>
          <a:prstGeom prst="roundRect">
            <a:avLst>
              <a:gd name="adj" fmla="val 7273"/>
            </a:avLst>
          </a:prstGeom>
          <a:solidFill>
            <a:schemeClr val="bg2"/>
          </a:solidFill>
          <a:ln w="12700">
            <a:solidFill>
              <a:schemeClr val="bg2"/>
            </a:solidFill>
            <a:prstDash val="solid"/>
          </a:ln>
        </p:spPr>
      </p:sp>
      <p:sp>
        <p:nvSpPr>
          <p:cNvPr id="10" name="text-347"/>
          <p:cNvSpPr txBox="1"/>
          <p:nvPr/>
        </p:nvSpPr>
        <p:spPr>
          <a:xfrm>
            <a:off x="3383280" y="3749040"/>
            <a:ext cx="2377440" cy="274320"/>
          </a:xfrm>
          <a:prstGeom prst="rect">
            <a:avLst/>
          </a:prstGeom>
          <a:noFill/>
          <a:ln/>
        </p:spPr>
        <p:txBody>
          <a:bodyPr wrap="square" lIns="0" tIns="0" rIns="0" bIns="0" rtlCol="0" anchor="t"/>
          <a:lstStyle/>
          <a:p>
            <a:pPr indent="0" marL="0">
              <a:buNone/>
            </a:pPr>
            <a:r>
              <a:rPr lang="en-US" sz="1350" b="1" dirty="0">
                <a:solidFill>
                  <a:schemeClr val="accent1"/>
                </a:solidFill>
              </a:rPr>
              <a:t>Stable and robust</a:t>
            </a:r>
            <a:endParaRPr lang="en-US" sz="1350" dirty="0"/>
          </a:p>
        </p:txBody>
      </p:sp>
      <p:sp>
        <p:nvSpPr>
          <p:cNvPr id="11" name="text-348"/>
          <p:cNvSpPr txBox="1"/>
          <p:nvPr/>
        </p:nvSpPr>
        <p:spPr>
          <a:xfrm>
            <a:off x="3383280" y="4023360"/>
            <a:ext cx="2423160" cy="685800"/>
          </a:xfrm>
          <a:prstGeom prst="rect">
            <a:avLst/>
          </a:prstGeom>
          <a:noFill/>
          <a:ln/>
        </p:spPr>
        <p:txBody>
          <a:bodyPr wrap="square" lIns="0" tIns="0" rIns="0" bIns="0" rtlCol="0" anchor="t"/>
          <a:lstStyle/>
          <a:p>
            <a:pPr indent="0" marL="0">
              <a:buNone/>
            </a:pPr>
            <a:r>
              <a:rPr lang="en-US" sz="1100" dirty="0">
                <a:solidFill>
                  <a:schemeClr val="tx1"/>
                </a:solidFill>
              </a:rPr>
              <a:t>The map barely moves under noise or lighting changes.</a:t>
            </a:r>
            <a:endParaRPr lang="en-US" sz="1100" dirty="0"/>
          </a:p>
        </p:txBody>
      </p:sp>
      <p:sp>
        <p:nvSpPr>
          <p:cNvPr id="12" name="card-349"/>
          <p:cNvSpPr/>
          <p:nvPr/>
        </p:nvSpPr>
        <p:spPr>
          <a:xfrm>
            <a:off x="6035040" y="3703320"/>
            <a:ext cx="2651760" cy="1005840"/>
          </a:xfrm>
          <a:prstGeom prst="roundRect">
            <a:avLst>
              <a:gd name="adj" fmla="val 7273"/>
            </a:avLst>
          </a:prstGeom>
          <a:solidFill>
            <a:schemeClr val="bg2"/>
          </a:solidFill>
          <a:ln w="12700">
            <a:solidFill>
              <a:schemeClr val="bg2"/>
            </a:solidFill>
            <a:prstDash val="solid"/>
          </a:ln>
        </p:spPr>
      </p:sp>
      <p:sp>
        <p:nvSpPr>
          <p:cNvPr id="13" name="text-350"/>
          <p:cNvSpPr txBox="1"/>
          <p:nvPr/>
        </p:nvSpPr>
        <p:spPr>
          <a:xfrm>
            <a:off x="6172200" y="3749040"/>
            <a:ext cx="2377440" cy="274320"/>
          </a:xfrm>
          <a:prstGeom prst="rect">
            <a:avLst/>
          </a:prstGeom>
          <a:noFill/>
          <a:ln/>
        </p:spPr>
        <p:txBody>
          <a:bodyPr wrap="square" lIns="0" tIns="0" rIns="0" bIns="0" rtlCol="0" anchor="t"/>
          <a:lstStyle/>
          <a:p>
            <a:pPr indent="0" marL="0">
              <a:buNone/>
            </a:pPr>
            <a:r>
              <a:rPr lang="en-US" sz="1350" b="1" dirty="0">
                <a:solidFill>
                  <a:schemeClr val="accent1"/>
                </a:solidFill>
              </a:rPr>
              <a:t>Broad maps</a:t>
            </a:r>
            <a:endParaRPr lang="en-US" sz="1350" dirty="0"/>
          </a:p>
        </p:txBody>
      </p:sp>
      <p:sp>
        <p:nvSpPr>
          <p:cNvPr id="14" name="text-351"/>
          <p:cNvSpPr txBox="1"/>
          <p:nvPr/>
        </p:nvSpPr>
        <p:spPr>
          <a:xfrm>
            <a:off x="6172200" y="4023360"/>
            <a:ext cx="2423160" cy="685800"/>
          </a:xfrm>
          <a:prstGeom prst="rect">
            <a:avLst/>
          </a:prstGeom>
          <a:noFill/>
          <a:ln/>
        </p:spPr>
        <p:txBody>
          <a:bodyPr wrap="square" lIns="0" tIns="0" rIns="0" bIns="0" rtlCol="0" anchor="t"/>
          <a:lstStyle/>
          <a:p>
            <a:pPr indent="0" marL="0">
              <a:buNone/>
            </a:pPr>
            <a:r>
              <a:rPr lang="en-US" sz="1100" dirty="0">
                <a:solidFill>
                  <a:schemeClr val="tx1"/>
                </a:solidFill>
              </a:rPr>
              <a:t>Low sparsity: the heat is spread over a region, not a few pixels. Composite weights are a design choice.</a:t>
            </a:r>
            <a:endParaRPr lang="en-US" sz="1100" dirty="0"/>
          </a:p>
        </p:txBody>
      </p:sp>
      <p:sp>
        <p:nvSpPr>
          <p:cNvPr id="25" name="Slide Number Placeholder 0"/>
          <p:cNvSpPr>
            <a:spLocks noGrp="1"/>
          </p:cNvSpPr>
          <p:nvPr>
            <p:ph type="sldNum" sz="quarter" idx="4294967295"/>
          </p:nvPr>
        </p:nvSpPr>
        <p:spPr>
          <a:xfrm>
            <a:off x="8229600" y="4828032"/>
            <a:ext cx="457200" cy="22860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defRPr>
            </a:lvl1pPr>
          </a:lstStyle>
          <a:p>
            <a:pPr algn="r"/>
            <a:fld id="{F7021451-1387-4CA6-816F-3879F97B5CBC}" type="slidenum">
              <a:rPr b="0" lang="en-US"/>
              <a:t>25</a:t>
            </a:fld>
            <a:endParaRPr lang="en-US"/>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spTree>
      <p:nvGrpSpPr>
        <p:cNvPr id="1" name=""/>
        <p:cNvGrpSpPr/>
        <p:nvPr/>
      </p:nvGrpSpPr>
      <p:grpSpPr>
        <a:xfrm>
          <a:off x="0" y="0"/>
          <a:ext cx="0" cy="0"/>
          <a:chOff x="0" y="0"/>
          <a:chExt cx="0" cy="0"/>
        </a:xfrm>
      </p:grpSpPr>
      <p:sp>
        <p:nvSpPr>
          <p:cNvPr id="2" name="Text 0"/>
          <p:cNvSpPr/>
          <p:nvPr>
            <p:ph idx="100" type="title" hasCustomPrompt="1"/>
          </p:nvPr>
        </p:nvSpPr>
        <p:spPr>
          <a:xfrm>
            <a:off x="457200" y="256032"/>
            <a:ext cx="8229600" cy="685800"/>
          </a:xfrm>
          <a:prstGeom prst="rect">
            <a:avLst/>
          </a:prstGeom>
          <a:noFill/>
          <a:ln/>
        </p:spPr>
        <p:txBody>
          <a:bodyPr wrap="square" lIns="0" tIns="0" rIns="0" bIns="0" rtlCol="0" anchor="ctr"/>
          <a:lstStyle/>
          <a:p>
            <a:pPr algn="l" indent="0" marL="0">
              <a:buNone/>
            </a:pPr>
            <a:r>
              <a:rPr lang="en-US" sz="2800" b="1" dirty="0">
                <a:solidFill>
                  <a:schemeClr val="tx1"/>
                </a:solidFill>
              </a:rPr>
              <a:t>Robustness: fine on light, weak on noise</a:t>
            </a:r>
            <a:endParaRPr lang="en-US" sz="2800" dirty="0"/>
          </a:p>
        </p:txBody>
      </p:sp>
      <p:sp>
        <p:nvSpPr>
          <p:cNvPr id="5" name="card-352"/>
          <p:cNvSpPr/>
          <p:nvPr/>
        </p:nvSpPr>
        <p:spPr>
          <a:xfrm>
            <a:off x="6172200" y="1097280"/>
            <a:ext cx="2514600" cy="3566160"/>
          </a:xfrm>
          <a:prstGeom prst="roundRect">
            <a:avLst>
              <a:gd name="adj" fmla="val 2909"/>
            </a:avLst>
          </a:prstGeom>
          <a:solidFill>
            <a:schemeClr val="bg2"/>
          </a:solidFill>
          <a:ln w="12700">
            <a:solidFill>
              <a:schemeClr val="bg2"/>
            </a:solidFill>
            <a:prstDash val="solid"/>
          </a:ln>
        </p:spPr>
      </p:sp>
      <p:sp>
        <p:nvSpPr>
          <p:cNvPr id="6" name="text-353"/>
          <p:cNvSpPr txBox="1"/>
          <p:nvPr/>
        </p:nvSpPr>
        <p:spPr>
          <a:xfrm>
            <a:off x="6355080" y="1234440"/>
            <a:ext cx="2194560" cy="3291840"/>
          </a:xfrm>
          <a:prstGeom prst="rect">
            <a:avLst/>
          </a:prstGeom>
          <a:noFill/>
          <a:ln/>
        </p:spPr>
        <p:txBody>
          <a:bodyPr wrap="square" lIns="0" tIns="0" rIns="0" bIns="0" rtlCol="0" anchor="t"/>
          <a:lstStyle/>
          <a:p>
            <a:pPr indent="0" marL="0">
              <a:spcAft>
                <a:spcPts val="800"/>
              </a:spcAft>
              <a:buNone/>
            </a:pPr>
            <a:r>
              <a:rPr lang="en-US" sz="1500" b="1" dirty="0">
                <a:solidFill>
                  <a:schemeClr val="tx1"/>
                </a:solidFill>
              </a:rPr>
              <a:t>What this tells us</a:t>
            </a:r>
            <a:endParaRPr lang="en-US" sz="1400" dirty="0"/>
          </a:p>
          <a:p>
            <a:pPr marL="342900" indent="-342900">
              <a:spcAft>
                <a:spcPts val="1200"/>
              </a:spcAft>
              <a:buSzPct val="100000"/>
              <a:buChar char="•"/>
            </a:pPr>
            <a:r>
              <a:rPr lang="en-US" sz="1400" dirty="0">
                <a:solidFill>
                  <a:schemeClr val="tx1"/>
                </a:solidFill>
              </a:rPr>
              <a:t>Lighting and compression: fine</a:t>
            </a:r>
            <a:endParaRPr lang="en-US" sz="1400" dirty="0"/>
          </a:p>
          <a:p>
            <a:pPr marL="342900" indent="-342900">
              <a:spcAft>
                <a:spcPts val="1200"/>
              </a:spcAft>
              <a:buSzPct val="100000"/>
              <a:buChar char="•"/>
            </a:pPr>
            <a:r>
              <a:rPr lang="en-US" sz="1400" dirty="0">
                <a:solidFill>
                  <a:schemeClr val="tx1"/>
                </a:solidFill>
              </a:rPr>
              <a:t>Losing the background costs 23 points</a:t>
            </a:r>
            <a:endParaRPr lang="en-US" sz="1400" dirty="0"/>
          </a:p>
          <a:p>
            <a:pPr marL="342900" indent="-342900">
              <a:spcAft>
                <a:spcPts val="1200"/>
              </a:spcAft>
              <a:buSzPct val="100000"/>
              <a:buChar char="•"/>
            </a:pPr>
            <a:r>
              <a:rPr lang="en-US" sz="1400" dirty="0">
                <a:solidFill>
                  <a:schemeClr val="tx1"/>
                </a:solidFill>
              </a:rPr>
              <a:t>Noise (σ 0.10) and blur: accuracy collapses</a:t>
            </a:r>
            <a:endParaRPr lang="en-US" sz="1400" dirty="0"/>
          </a:p>
          <a:p>
            <a:pPr marL="342900" indent="-342900">
              <a:spcAft>
                <a:spcPts val="1200"/>
              </a:spcAft>
              <a:buSzPct val="100000"/>
              <a:buChar char="•"/>
            </a:pPr>
            <a:r>
              <a:rPr lang="en-US" sz="1400" dirty="0">
                <a:solidFill>
                  <a:schemeClr val="tx1"/>
                </a:solidFill>
              </a:rPr>
              <a:t>Next: train with noise and blur</a:t>
            </a:r>
            <a:endParaRPr lang="en-US" sz="1400" dirty="0"/>
          </a:p>
        </p:txBody>
      </p:sp>
      <p:sp>
        <p:nvSpPr>
          <p:cNvPr id="25" name="Slide Number Placeholder 0"/>
          <p:cNvSpPr>
            <a:spLocks noGrp="1"/>
          </p:cNvSpPr>
          <p:nvPr>
            <p:ph type="sldNum" sz="quarter" idx="4294967295"/>
          </p:nvPr>
        </p:nvSpPr>
        <p:spPr>
          <a:xfrm>
            <a:off x="8229600" y="4828032"/>
            <a:ext cx="457200" cy="22860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defRPr>
            </a:lvl1pPr>
          </a:lstStyle>
          <a:p>
            <a:pPr algn="r"/>
            <a:fld id="{F7021451-1387-4CA6-816F-3879F97B5CBC}" type="slidenum">
              <a:rPr b="0" lang="en-US"/>
              <a:t>26</a:t>
            </a:fld>
            <a:endParaRPr lang="en-US"/>
          </a:p>
        </p:txBody>
      </p:sp>
      <p:pic>
        <p:nvPicPr>
          <p:cNvPr id="26" name="Picture 25" descr="chart_slide26_robustness.png"/>
          <p:cNvPicPr>
            <a:picLocks noChangeAspect="1"/>
          </p:cNvPicPr>
          <p:nvPr/>
        </p:nvPicPr>
        <p:blipFill>
          <a:blip r:embed="rId4"/>
          <a:stretch>
            <a:fillRect/>
          </a:stretch>
        </p:blipFill>
        <p:spPr>
          <a:xfrm>
            <a:off x="365760" y="1051560"/>
            <a:ext cx="5577840" cy="3611880"/>
          </a:xfrm>
          <a:prstGeom prst="rect">
            <a:avLst/>
          </a:prstGeom>
        </p:spPr>
      </p:pic>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7">
    <p:spTree>
      <p:nvGrpSpPr>
        <p:cNvPr id="1" name=""/>
        <p:cNvGrpSpPr/>
        <p:nvPr/>
      </p:nvGrpSpPr>
      <p:grpSpPr>
        <a:xfrm>
          <a:off x="0" y="0"/>
          <a:ext cx="0" cy="0"/>
          <a:chOff x="0" y="0"/>
          <a:chExt cx="0" cy="0"/>
        </a:xfrm>
      </p:grpSpPr>
      <p:sp>
        <p:nvSpPr>
          <p:cNvPr id="2" name="Text 0"/>
          <p:cNvSpPr/>
          <p:nvPr>
            <p:ph idx="100" type="title" hasCustomPrompt="1"/>
          </p:nvPr>
        </p:nvSpPr>
        <p:spPr>
          <a:xfrm>
            <a:off x="457200" y="256032"/>
            <a:ext cx="8229600" cy="685800"/>
          </a:xfrm>
          <a:prstGeom prst="rect">
            <a:avLst/>
          </a:prstGeom>
          <a:noFill/>
          <a:ln/>
        </p:spPr>
        <p:txBody>
          <a:bodyPr wrap="square" lIns="0" tIns="0" rIns="0" bIns="0" rtlCol="0" anchor="ctr"/>
          <a:lstStyle/>
          <a:p>
            <a:pPr algn="l" indent="0" marL="0">
              <a:buNone/>
            </a:pPr>
            <a:r>
              <a:rPr lang="en-US" sz="2800" b="1" dirty="0">
                <a:solidFill>
                  <a:schemeClr val="tx1"/>
                </a:solidFill>
              </a:rPr>
              <a:t>Leaf damage and decision support</a:t>
            </a:r>
            <a:endParaRPr lang="en-US" sz="2800" dirty="0"/>
          </a:p>
        </p:txBody>
      </p:sp>
      <p:sp>
        <p:nvSpPr>
          <p:cNvPr id="4" name="card-354"/>
          <p:cNvSpPr/>
          <p:nvPr/>
        </p:nvSpPr>
        <p:spPr>
          <a:xfrm>
            <a:off x="457200" y="1051560"/>
            <a:ext cx="5212080" cy="2011680"/>
          </a:xfrm>
          <a:prstGeom prst="roundRect">
            <a:avLst>
              <a:gd name="adj" fmla="val 3636"/>
            </a:avLst>
          </a:prstGeom>
          <a:solidFill>
            <a:srgbClr val="FFFFFF"/>
          </a:solidFill>
          <a:ln w="12700">
            <a:solidFill>
              <a:srgbClr val="FFFFFF"/>
            </a:solidFill>
            <a:prstDash val="solid"/>
          </a:ln>
        </p:spPr>
      </p:sp>
      <p:pic>
        <p:nvPicPr>
          <p:cNvPr id="5" name="image-355" descr="/private/tmp/claude-501/-Users-parthsharma-Desktop-XAI-PDS/20cb58d2-ae23-468c-9c17-7a209704af59/scratchpad/deck/assets/severity_strip.png">    </p:cNvPr>
          <p:cNvPicPr>
            <a:picLocks noChangeAspect="1"/>
          </p:cNvPicPr>
          <p:nvPr/>
        </p:nvPicPr>
        <p:blipFill>
          <a:blip r:embed="rId1"/>
          <a:stretch>
            <a:fillRect/>
          </a:stretch>
        </p:blipFill>
        <p:spPr>
          <a:xfrm>
            <a:off x="502920" y="1097280"/>
            <a:ext cx="5120640" cy="1706880"/>
          </a:xfrm>
          <a:prstGeom prst="rect">
            <a:avLst/>
          </a:prstGeom>
        </p:spPr>
      </p:pic>
      <p:sp>
        <p:nvSpPr>
          <p:cNvPr id="6" name="badge-356"/>
          <p:cNvSpPr/>
          <p:nvPr/>
        </p:nvSpPr>
        <p:spPr>
          <a:xfrm>
            <a:off x="457200" y="3227832"/>
            <a:ext cx="329184" cy="329184"/>
          </a:xfrm>
          <a:prstGeom prst="ellipse">
            <a:avLst/>
          </a:prstGeom>
          <a:solidFill>
            <a:schemeClr val="accent1"/>
          </a:solidFill>
          <a:ln w="12700">
            <a:solidFill>
              <a:schemeClr val="accent1"/>
            </a:solidFill>
            <a:prstDash val="solid"/>
          </a:ln>
        </p:spPr>
      </p:sp>
      <p:sp>
        <p:nvSpPr>
          <p:cNvPr id="7" name="badge-text-357"/>
          <p:cNvSpPr txBox="1"/>
          <p:nvPr/>
        </p:nvSpPr>
        <p:spPr>
          <a:xfrm>
            <a:off x="457200" y="3227832"/>
            <a:ext cx="329184" cy="329184"/>
          </a:xfrm>
          <a:prstGeom prst="rect">
            <a:avLst/>
          </a:prstGeom>
          <a:noFill/>
          <a:ln/>
        </p:spPr>
        <p:txBody>
          <a:bodyPr wrap="square" lIns="0" tIns="0" rIns="0" bIns="0" rtlCol="0" anchor="ctr"/>
          <a:lstStyle/>
          <a:p>
            <a:pPr algn="ctr" indent="0" marL="0">
              <a:buNone/>
            </a:pPr>
            <a:r>
              <a:rPr lang="en-US" sz="1400" b="1" dirty="0">
                <a:solidFill>
                  <a:schemeClr val="bg1"/>
                </a:solidFill>
              </a:rPr>
              <a:t>1</a:t>
            </a:r>
            <a:endParaRPr lang="en-US" sz="1400" dirty="0"/>
          </a:p>
        </p:txBody>
      </p:sp>
      <p:sp>
        <p:nvSpPr>
          <p:cNvPr id="8" name="text-358"/>
          <p:cNvSpPr txBox="1"/>
          <p:nvPr/>
        </p:nvSpPr>
        <p:spPr>
          <a:xfrm>
            <a:off x="914400" y="3200400"/>
            <a:ext cx="2103120" cy="256032"/>
          </a:xfrm>
          <a:prstGeom prst="rect">
            <a:avLst/>
          </a:prstGeom>
          <a:noFill/>
          <a:ln/>
        </p:spPr>
        <p:txBody>
          <a:bodyPr wrap="square" lIns="0" tIns="0" rIns="0" bIns="0" rtlCol="0" anchor="t"/>
          <a:lstStyle/>
          <a:p>
            <a:pPr indent="0" marL="0">
              <a:buNone/>
            </a:pPr>
            <a:r>
              <a:rPr lang="en-US" sz="1350" b="1" dirty="0">
                <a:solidFill>
                  <a:schemeClr val="tx1"/>
                </a:solidFill>
              </a:rPr>
              <a:t>Find the leaf</a:t>
            </a:r>
            <a:endParaRPr lang="en-US" sz="1350" dirty="0"/>
          </a:p>
        </p:txBody>
      </p:sp>
      <p:sp>
        <p:nvSpPr>
          <p:cNvPr id="9" name="text-359"/>
          <p:cNvSpPr txBox="1"/>
          <p:nvPr/>
        </p:nvSpPr>
        <p:spPr>
          <a:xfrm>
            <a:off x="914400" y="3456432"/>
            <a:ext cx="2103120" cy="457200"/>
          </a:xfrm>
          <a:prstGeom prst="rect">
            <a:avLst/>
          </a:prstGeom>
          <a:noFill/>
          <a:ln/>
        </p:spPr>
        <p:txBody>
          <a:bodyPr wrap="square" lIns="0" tIns="0" rIns="0" bIns="0" rtlCol="0" anchor="t"/>
          <a:lstStyle/>
          <a:p>
            <a:pPr indent="0" marL="0">
              <a:buNone/>
            </a:pPr>
            <a:r>
              <a:rPr lang="en-US" sz="1150" dirty="0">
                <a:solidFill>
                  <a:schemeClr val="accent6"/>
                </a:solidFill>
              </a:rPr>
              <a:t>GrabCut mask seeded by green regions</a:t>
            </a:r>
            <a:endParaRPr lang="en-US" sz="1150" dirty="0"/>
          </a:p>
        </p:txBody>
      </p:sp>
      <p:sp>
        <p:nvSpPr>
          <p:cNvPr id="10" name="badge-360"/>
          <p:cNvSpPr/>
          <p:nvPr/>
        </p:nvSpPr>
        <p:spPr>
          <a:xfrm>
            <a:off x="3108960" y="3227832"/>
            <a:ext cx="329184" cy="329184"/>
          </a:xfrm>
          <a:prstGeom prst="ellipse">
            <a:avLst/>
          </a:prstGeom>
          <a:solidFill>
            <a:schemeClr val="accent1"/>
          </a:solidFill>
          <a:ln w="12700">
            <a:solidFill>
              <a:schemeClr val="accent1"/>
            </a:solidFill>
            <a:prstDash val="solid"/>
          </a:ln>
        </p:spPr>
      </p:sp>
      <p:sp>
        <p:nvSpPr>
          <p:cNvPr id="11" name="badge-text-361"/>
          <p:cNvSpPr txBox="1"/>
          <p:nvPr/>
        </p:nvSpPr>
        <p:spPr>
          <a:xfrm>
            <a:off x="3108960" y="3227832"/>
            <a:ext cx="329184" cy="329184"/>
          </a:xfrm>
          <a:prstGeom prst="rect">
            <a:avLst/>
          </a:prstGeom>
          <a:noFill/>
          <a:ln/>
        </p:spPr>
        <p:txBody>
          <a:bodyPr wrap="square" lIns="0" tIns="0" rIns="0" bIns="0" rtlCol="0" anchor="ctr"/>
          <a:lstStyle/>
          <a:p>
            <a:pPr algn="ctr" indent="0" marL="0">
              <a:buNone/>
            </a:pPr>
            <a:r>
              <a:rPr lang="en-US" sz="1400" b="1" dirty="0">
                <a:solidFill>
                  <a:schemeClr val="bg1"/>
                </a:solidFill>
              </a:rPr>
              <a:t>2</a:t>
            </a:r>
            <a:endParaRPr lang="en-US" sz="1400" dirty="0"/>
          </a:p>
        </p:txBody>
      </p:sp>
      <p:sp>
        <p:nvSpPr>
          <p:cNvPr id="12" name="text-362"/>
          <p:cNvSpPr txBox="1"/>
          <p:nvPr/>
        </p:nvSpPr>
        <p:spPr>
          <a:xfrm>
            <a:off x="3566160" y="3200400"/>
            <a:ext cx="2103120" cy="256032"/>
          </a:xfrm>
          <a:prstGeom prst="rect">
            <a:avLst/>
          </a:prstGeom>
          <a:noFill/>
          <a:ln/>
        </p:spPr>
        <p:txBody>
          <a:bodyPr wrap="square" lIns="0" tIns="0" rIns="0" bIns="0" rtlCol="0" anchor="t"/>
          <a:lstStyle/>
          <a:p>
            <a:pPr indent="0" marL="0">
              <a:buNone/>
            </a:pPr>
            <a:r>
              <a:rPr lang="en-US" sz="1350" b="1" dirty="0">
                <a:solidFill>
                  <a:schemeClr val="tx1"/>
                </a:solidFill>
              </a:rPr>
              <a:t>Count damage</a:t>
            </a:r>
            <a:endParaRPr lang="en-US" sz="1350" dirty="0"/>
          </a:p>
        </p:txBody>
      </p:sp>
      <p:sp>
        <p:nvSpPr>
          <p:cNvPr id="13" name="text-363"/>
          <p:cNvSpPr txBox="1"/>
          <p:nvPr/>
        </p:nvSpPr>
        <p:spPr>
          <a:xfrm>
            <a:off x="3566160" y="3456432"/>
            <a:ext cx="2103120" cy="457200"/>
          </a:xfrm>
          <a:prstGeom prst="rect">
            <a:avLst/>
          </a:prstGeom>
          <a:noFill/>
          <a:ln/>
        </p:spPr>
        <p:txBody>
          <a:bodyPr wrap="square" lIns="0" tIns="0" rIns="0" bIns="0" rtlCol="0" anchor="t"/>
          <a:lstStyle/>
          <a:p>
            <a:pPr indent="0" marL="0">
              <a:buNone/>
            </a:pPr>
            <a:r>
              <a:rPr lang="en-US" sz="1150" dirty="0">
                <a:solidFill>
                  <a:schemeClr val="accent6"/>
                </a:solidFill>
              </a:rPr>
              <a:t>yellow, brown, dark or pale pixels</a:t>
            </a:r>
            <a:endParaRPr lang="en-US" sz="1150" dirty="0"/>
          </a:p>
        </p:txBody>
      </p:sp>
      <p:sp>
        <p:nvSpPr>
          <p:cNvPr id="14" name="badge-364"/>
          <p:cNvSpPr/>
          <p:nvPr/>
        </p:nvSpPr>
        <p:spPr>
          <a:xfrm>
            <a:off x="457200" y="3977640"/>
            <a:ext cx="329184" cy="329184"/>
          </a:xfrm>
          <a:prstGeom prst="ellipse">
            <a:avLst/>
          </a:prstGeom>
          <a:solidFill>
            <a:schemeClr val="accent1"/>
          </a:solidFill>
          <a:ln w="12700">
            <a:solidFill>
              <a:schemeClr val="accent1"/>
            </a:solidFill>
            <a:prstDash val="solid"/>
          </a:ln>
        </p:spPr>
      </p:sp>
      <p:sp>
        <p:nvSpPr>
          <p:cNvPr id="15" name="badge-text-365"/>
          <p:cNvSpPr txBox="1"/>
          <p:nvPr/>
        </p:nvSpPr>
        <p:spPr>
          <a:xfrm>
            <a:off x="457200" y="3977640"/>
            <a:ext cx="329184" cy="329184"/>
          </a:xfrm>
          <a:prstGeom prst="rect">
            <a:avLst/>
          </a:prstGeom>
          <a:noFill/>
          <a:ln/>
        </p:spPr>
        <p:txBody>
          <a:bodyPr wrap="square" lIns="0" tIns="0" rIns="0" bIns="0" rtlCol="0" anchor="ctr"/>
          <a:lstStyle/>
          <a:p>
            <a:pPr algn="ctr" indent="0" marL="0">
              <a:buNone/>
            </a:pPr>
            <a:r>
              <a:rPr lang="en-US" sz="1400" b="1" dirty="0">
                <a:solidFill>
                  <a:schemeClr val="bg1"/>
                </a:solidFill>
              </a:rPr>
              <a:t>3</a:t>
            </a:r>
            <a:endParaRPr lang="en-US" sz="1400" dirty="0"/>
          </a:p>
        </p:txBody>
      </p:sp>
      <p:sp>
        <p:nvSpPr>
          <p:cNvPr id="16" name="text-366"/>
          <p:cNvSpPr txBox="1"/>
          <p:nvPr/>
        </p:nvSpPr>
        <p:spPr>
          <a:xfrm>
            <a:off x="914400" y="3950208"/>
            <a:ext cx="2103120" cy="256032"/>
          </a:xfrm>
          <a:prstGeom prst="rect">
            <a:avLst/>
          </a:prstGeom>
          <a:noFill/>
          <a:ln/>
        </p:spPr>
        <p:txBody>
          <a:bodyPr wrap="square" lIns="0" tIns="0" rIns="0" bIns="0" rtlCol="0" anchor="t"/>
          <a:lstStyle/>
          <a:p>
            <a:pPr indent="0" marL="0">
              <a:buNone/>
            </a:pPr>
            <a:r>
              <a:rPr lang="en-US" sz="1350" b="1" dirty="0">
                <a:solidFill>
                  <a:schemeClr val="tx1"/>
                </a:solidFill>
              </a:rPr>
              <a:t>Percent of leaf</a:t>
            </a:r>
            <a:endParaRPr lang="en-US" sz="1350" dirty="0"/>
          </a:p>
        </p:txBody>
      </p:sp>
      <p:sp>
        <p:nvSpPr>
          <p:cNvPr id="17" name="text-367"/>
          <p:cNvSpPr txBox="1"/>
          <p:nvPr/>
        </p:nvSpPr>
        <p:spPr>
          <a:xfrm>
            <a:off x="914400" y="4206240"/>
            <a:ext cx="2103120" cy="457200"/>
          </a:xfrm>
          <a:prstGeom prst="rect">
            <a:avLst/>
          </a:prstGeom>
          <a:noFill/>
          <a:ln/>
        </p:spPr>
        <p:txBody>
          <a:bodyPr wrap="square" lIns="0" tIns="0" rIns="0" bIns="0" rtlCol="0" anchor="t"/>
          <a:lstStyle/>
          <a:p>
            <a:pPr indent="0" marL="0">
              <a:buNone/>
            </a:pPr>
            <a:r>
              <a:rPr lang="en-US" sz="1150" dirty="0">
                <a:solidFill>
                  <a:schemeClr val="accent6"/>
                </a:solidFill>
              </a:rPr>
              <a:t>damaged ÷ leaf pixels</a:t>
            </a:r>
            <a:endParaRPr lang="en-US" sz="1150" dirty="0"/>
          </a:p>
        </p:txBody>
      </p:sp>
      <p:sp>
        <p:nvSpPr>
          <p:cNvPr id="18" name="badge-368"/>
          <p:cNvSpPr/>
          <p:nvPr/>
        </p:nvSpPr>
        <p:spPr>
          <a:xfrm>
            <a:off x="3108960" y="3977640"/>
            <a:ext cx="329184" cy="329184"/>
          </a:xfrm>
          <a:prstGeom prst="ellipse">
            <a:avLst/>
          </a:prstGeom>
          <a:solidFill>
            <a:schemeClr val="accent1"/>
          </a:solidFill>
          <a:ln w="12700">
            <a:solidFill>
              <a:schemeClr val="accent1"/>
            </a:solidFill>
            <a:prstDash val="solid"/>
          </a:ln>
        </p:spPr>
      </p:sp>
      <p:sp>
        <p:nvSpPr>
          <p:cNvPr id="19" name="badge-text-369"/>
          <p:cNvSpPr txBox="1"/>
          <p:nvPr/>
        </p:nvSpPr>
        <p:spPr>
          <a:xfrm>
            <a:off x="3108960" y="3977640"/>
            <a:ext cx="329184" cy="329184"/>
          </a:xfrm>
          <a:prstGeom prst="rect">
            <a:avLst/>
          </a:prstGeom>
          <a:noFill/>
          <a:ln/>
        </p:spPr>
        <p:txBody>
          <a:bodyPr wrap="square" lIns="0" tIns="0" rIns="0" bIns="0" rtlCol="0" anchor="ctr"/>
          <a:lstStyle/>
          <a:p>
            <a:pPr algn="ctr" indent="0" marL="0">
              <a:buNone/>
            </a:pPr>
            <a:r>
              <a:rPr lang="en-US" sz="1400" b="1" dirty="0">
                <a:solidFill>
                  <a:schemeClr val="bg1"/>
                </a:solidFill>
              </a:rPr>
              <a:t>4</a:t>
            </a:r>
            <a:endParaRPr lang="en-US" sz="1400" dirty="0"/>
          </a:p>
        </p:txBody>
      </p:sp>
      <p:sp>
        <p:nvSpPr>
          <p:cNvPr id="20" name="text-370"/>
          <p:cNvSpPr txBox="1"/>
          <p:nvPr/>
        </p:nvSpPr>
        <p:spPr>
          <a:xfrm>
            <a:off x="3566160" y="3950208"/>
            <a:ext cx="2103120" cy="256032"/>
          </a:xfrm>
          <a:prstGeom prst="rect">
            <a:avLst/>
          </a:prstGeom>
          <a:noFill/>
          <a:ln/>
        </p:spPr>
        <p:txBody>
          <a:bodyPr wrap="square" lIns="0" tIns="0" rIns="0" bIns="0" rtlCol="0" anchor="t"/>
          <a:lstStyle/>
          <a:p>
            <a:pPr indent="0" marL="0">
              <a:buNone/>
            </a:pPr>
            <a:r>
              <a:rPr lang="en-US" sz="1350" b="1" dirty="0">
                <a:solidFill>
                  <a:schemeClr val="tx1"/>
                </a:solidFill>
              </a:rPr>
              <a:t>Stage</a:t>
            </a:r>
            <a:endParaRPr lang="en-US" sz="1350" dirty="0"/>
          </a:p>
        </p:txBody>
      </p:sp>
      <p:sp>
        <p:nvSpPr>
          <p:cNvPr id="21" name="text-371"/>
          <p:cNvSpPr txBox="1"/>
          <p:nvPr/>
        </p:nvSpPr>
        <p:spPr>
          <a:xfrm>
            <a:off x="3566160" y="4206240"/>
            <a:ext cx="2103120" cy="457200"/>
          </a:xfrm>
          <a:prstGeom prst="rect">
            <a:avLst/>
          </a:prstGeom>
          <a:noFill/>
          <a:ln/>
        </p:spPr>
        <p:txBody>
          <a:bodyPr wrap="square" lIns="0" tIns="0" rIns="0" bIns="0" rtlCol="0" anchor="t"/>
          <a:lstStyle/>
          <a:p>
            <a:pPr indent="0" marL="0">
              <a:buNone/>
            </a:pPr>
            <a:r>
              <a:rPr lang="en-US" sz="1150" dirty="0">
                <a:solidFill>
                  <a:schemeClr val="accent6"/>
                </a:solidFill>
              </a:rPr>
              <a:t>1: &lt; 10%   2: 10–25%   3: &gt; 25%</a:t>
            </a:r>
            <a:endParaRPr lang="en-US" sz="1150" dirty="0"/>
          </a:p>
        </p:txBody>
      </p:sp>
      <p:sp>
        <p:nvSpPr>
          <p:cNvPr id="22" name="card-372"/>
          <p:cNvSpPr/>
          <p:nvPr/>
        </p:nvSpPr>
        <p:spPr>
          <a:xfrm>
            <a:off x="5852160" y="1097280"/>
            <a:ext cx="2834640" cy="3611880"/>
          </a:xfrm>
          <a:prstGeom prst="roundRect">
            <a:avLst>
              <a:gd name="adj" fmla="val 2581"/>
            </a:avLst>
          </a:prstGeom>
          <a:solidFill>
            <a:schemeClr val="bg2"/>
          </a:solidFill>
          <a:ln w="12700">
            <a:solidFill>
              <a:schemeClr val="bg2"/>
            </a:solidFill>
            <a:prstDash val="solid"/>
          </a:ln>
        </p:spPr>
      </p:sp>
      <p:sp>
        <p:nvSpPr>
          <p:cNvPr id="23" name="text-373"/>
          <p:cNvSpPr txBox="1"/>
          <p:nvPr/>
        </p:nvSpPr>
        <p:spPr>
          <a:xfrm>
            <a:off x="6035040" y="1207008"/>
            <a:ext cx="2560320" cy="274320"/>
          </a:xfrm>
          <a:prstGeom prst="rect">
            <a:avLst/>
          </a:prstGeom>
          <a:noFill/>
          <a:ln/>
        </p:spPr>
        <p:txBody>
          <a:bodyPr wrap="square" lIns="0" tIns="0" rIns="0" bIns="0" rtlCol="0" anchor="t"/>
          <a:lstStyle/>
          <a:p>
            <a:pPr indent="0" marL="0">
              <a:buNone/>
            </a:pPr>
            <a:r>
              <a:rPr lang="en-US" sz="1450" b="1" dirty="0">
                <a:solidFill>
                  <a:schemeClr val="tx1"/>
                </a:solidFill>
              </a:rPr>
              <a:t>Checked against known truth</a:t>
            </a:r>
            <a:endParaRPr lang="en-US" sz="1450" dirty="0"/>
          </a:p>
        </p:txBody>
      </p:sp>
      <p:sp>
        <p:nvSpPr>
          <p:cNvPr id="24" name="text-374"/>
          <p:cNvSpPr txBox="1"/>
          <p:nvPr/>
        </p:nvSpPr>
        <p:spPr>
          <a:xfrm>
            <a:off x="6035040" y="1645920"/>
            <a:ext cx="2514600" cy="531707"/>
          </a:xfrm>
          <a:prstGeom prst="rect">
            <a:avLst/>
          </a:prstGeom>
          <a:noFill/>
          <a:ln/>
        </p:spPr>
        <p:txBody>
          <a:bodyPr wrap="square" lIns="0" tIns="0" rIns="0" bIns="0" rtlCol="0" anchor="t"/>
          <a:lstStyle/>
          <a:p>
            <a:pPr indent="0" marL="0">
              <a:buNone/>
            </a:pPr>
            <a:r>
              <a:rPr lang="en-US" sz="2600" b="1" dirty="0">
                <a:solidFill>
                  <a:schemeClr val="accent1"/>
                </a:solidFill>
                <a:latin typeface="Cambria" pitchFamily="34" charset="0"/>
                <a:ea typeface="Cambria" pitchFamily="34" charset="-122"/>
                <a:cs typeface="Cambria" pitchFamily="34" charset="-120"/>
              </a:rPr>
              <a:t>0.1%</a:t>
            </a:r>
            <a:endParaRPr lang="en-US" sz="2600" dirty="0"/>
          </a:p>
        </p:txBody>
      </p:sp>
      <p:sp>
        <p:nvSpPr>
          <p:cNvPr id="25" name="text-375"/>
          <p:cNvSpPr txBox="1"/>
          <p:nvPr/>
        </p:nvSpPr>
        <p:spPr>
          <a:xfrm>
            <a:off x="6035040" y="2195915"/>
            <a:ext cx="2514600" cy="548640"/>
          </a:xfrm>
          <a:prstGeom prst="rect">
            <a:avLst/>
          </a:prstGeom>
          <a:noFill/>
          <a:ln/>
        </p:spPr>
        <p:txBody>
          <a:bodyPr wrap="square" lIns="0" tIns="0" rIns="0" bIns="0" rtlCol="0" anchor="t"/>
          <a:lstStyle/>
          <a:p>
            <a:pPr indent="0" marL="0">
              <a:buNone/>
            </a:pPr>
            <a:r>
              <a:rPr lang="en-US" sz="1300" dirty="0">
                <a:solidFill>
                  <a:schemeClr val="accent6"/>
                </a:solidFill>
              </a:rPr>
              <a:t>median on 120 real healthy leaves (93% under 5%)</a:t>
            </a:r>
            <a:endParaRPr lang="en-US" sz="1300" dirty="0"/>
          </a:p>
        </p:txBody>
      </p:sp>
      <p:sp>
        <p:nvSpPr>
          <p:cNvPr id="26" name="text-376"/>
          <p:cNvSpPr txBox="1"/>
          <p:nvPr/>
        </p:nvSpPr>
        <p:spPr>
          <a:xfrm>
            <a:off x="6035040" y="2743200"/>
            <a:ext cx="2514600" cy="531707"/>
          </a:xfrm>
          <a:prstGeom prst="rect">
            <a:avLst/>
          </a:prstGeom>
          <a:noFill/>
          <a:ln/>
        </p:spPr>
        <p:txBody>
          <a:bodyPr wrap="square" lIns="0" tIns="0" rIns="0" bIns="0" rtlCol="0" anchor="t"/>
          <a:lstStyle/>
          <a:p>
            <a:pPr indent="0" marL="0">
              <a:buNone/>
            </a:pPr>
            <a:r>
              <a:rPr lang="en-US" sz="2600" b="1" dirty="0">
                <a:solidFill>
                  <a:schemeClr val="accent1"/>
                </a:solidFill>
                <a:latin typeface="Cambria" pitchFamily="34" charset="0"/>
                <a:ea typeface="Cambria" pitchFamily="34" charset="-122"/>
                <a:cs typeface="Cambria" pitchFamily="34" charset="-120"/>
              </a:rPr>
              <a:t>1.6 pts</a:t>
            </a:r>
            <a:endParaRPr lang="en-US" sz="2600" dirty="0"/>
          </a:p>
        </p:txBody>
      </p:sp>
      <p:sp>
        <p:nvSpPr>
          <p:cNvPr id="27" name="text-377"/>
          <p:cNvSpPr txBox="1"/>
          <p:nvPr/>
        </p:nvSpPr>
        <p:spPr>
          <a:xfrm>
            <a:off x="6035040" y="3293195"/>
            <a:ext cx="2514600" cy="548640"/>
          </a:xfrm>
          <a:prstGeom prst="rect">
            <a:avLst/>
          </a:prstGeom>
          <a:noFill/>
          <a:ln/>
        </p:spPr>
        <p:txBody>
          <a:bodyPr wrap="square" lIns="0" tIns="0" rIns="0" bIns="0" rtlCol="0" anchor="t"/>
          <a:lstStyle/>
          <a:p>
            <a:pPr indent="0" marL="0">
              <a:buNone/>
            </a:pPr>
            <a:r>
              <a:rPr lang="en-US" sz="1300" dirty="0">
                <a:solidFill>
                  <a:schemeClr val="accent6"/>
                </a:solidFill>
              </a:rPr>
              <a:t>average error on painted lesions (r = 0.97, stage right 94%)</a:t>
            </a:r>
            <a:endParaRPr lang="en-US" sz="1300" dirty="0"/>
          </a:p>
        </p:txBody>
      </p:sp>
      <p:sp>
        <p:nvSpPr>
          <p:cNvPr id="28" name="text-378"/>
          <p:cNvSpPr txBox="1"/>
          <p:nvPr/>
        </p:nvSpPr>
        <p:spPr>
          <a:xfrm>
            <a:off x="6035040" y="3931920"/>
            <a:ext cx="2560320" cy="731520"/>
          </a:xfrm>
          <a:prstGeom prst="rect">
            <a:avLst/>
          </a:prstGeom>
          <a:noFill/>
          <a:ln/>
        </p:spPr>
        <p:txBody>
          <a:bodyPr wrap="square" lIns="0" tIns="0" rIns="0" bIns="0" rtlCol="0" anchor="t"/>
          <a:lstStyle/>
          <a:p>
            <a:pPr indent="0" marL="0">
              <a:buNone/>
            </a:pPr>
            <a:r>
              <a:rPr lang="en-US" sz="1050" dirty="0">
                <a:solidFill>
                  <a:schemeClr val="accent4"/>
                </a:solidFill>
              </a:rPr>
              <a:t>Painted lesions are synthetic: no expert lesion masks exist, so accuracy on real lesions is not measured.</a:t>
            </a:r>
            <a:endParaRPr lang="en-US" sz="1050" dirty="0"/>
          </a:p>
        </p:txBody>
      </p:sp>
      <p:sp>
        <p:nvSpPr>
          <p:cNvPr id="25" name="Slide Number Placeholder 0"/>
          <p:cNvSpPr>
            <a:spLocks noGrp="1"/>
          </p:cNvSpPr>
          <p:nvPr>
            <p:ph type="sldNum" sz="quarter" idx="4294967295"/>
          </p:nvPr>
        </p:nvSpPr>
        <p:spPr>
          <a:xfrm>
            <a:off x="8229600" y="4828032"/>
            <a:ext cx="457200" cy="22860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defRPr>
            </a:lvl1pPr>
          </a:lstStyle>
          <a:p>
            <a:pPr algn="r"/>
            <a:fld id="{F7021451-1387-4CA6-816F-3879F97B5CBC}" type="slidenum">
              <a:rPr b="0" lang="en-US"/>
              <a:t>27</a:t>
            </a:fld>
            <a:endParaRPr lang="en-US"/>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28">
    <p:spTree>
      <p:nvGrpSpPr>
        <p:cNvPr id="1" name=""/>
        <p:cNvGrpSpPr/>
        <p:nvPr/>
      </p:nvGrpSpPr>
      <p:grpSpPr>
        <a:xfrm>
          <a:off x="0" y="0"/>
          <a:ext cx="0" cy="0"/>
          <a:chOff x="0" y="0"/>
          <a:chExt cx="0" cy="0"/>
        </a:xfrm>
      </p:grpSpPr>
      <p:sp>
        <p:nvSpPr>
          <p:cNvPr id="2" name="Text 0"/>
          <p:cNvSpPr/>
          <p:nvPr>
            <p:ph idx="100" type="title" hasCustomPrompt="1"/>
          </p:nvPr>
        </p:nvSpPr>
        <p:spPr>
          <a:xfrm>
            <a:off x="457200" y="256032"/>
            <a:ext cx="8229600" cy="685800"/>
          </a:xfrm>
          <a:prstGeom prst="rect">
            <a:avLst/>
          </a:prstGeom>
          <a:noFill/>
          <a:ln/>
        </p:spPr>
        <p:txBody>
          <a:bodyPr wrap="square" lIns="0" tIns="0" rIns="0" bIns="0" rtlCol="0" anchor="ctr"/>
          <a:lstStyle/>
          <a:p>
            <a:pPr algn="l" indent="0" marL="0">
              <a:buNone/>
            </a:pPr>
            <a:r>
              <a:rPr lang="en-US" sz="2800" b="1" dirty="0">
                <a:solidFill>
                  <a:schemeClr val="tx1"/>
                </a:solidFill>
              </a:rPr>
              <a:t>Learning from the 58 mistakes</a:t>
            </a:r>
            <a:endParaRPr lang="en-US" sz="2800" dirty="0"/>
          </a:p>
        </p:txBody>
      </p:sp>
      <p:sp>
        <p:nvSpPr>
          <p:cNvPr id="4" name="card-379"/>
          <p:cNvSpPr/>
          <p:nvPr/>
        </p:nvSpPr>
        <p:spPr>
          <a:xfrm>
            <a:off x="457200" y="1051560"/>
            <a:ext cx="8229600" cy="2926080"/>
          </a:xfrm>
          <a:prstGeom prst="roundRect">
            <a:avLst>
              <a:gd name="adj" fmla="val 2500"/>
            </a:avLst>
          </a:prstGeom>
          <a:solidFill>
            <a:srgbClr val="FFFFFF"/>
          </a:solidFill>
          <a:ln w="12700">
            <a:solidFill>
              <a:srgbClr val="FFFFFF"/>
            </a:solidFill>
            <a:prstDash val="solid"/>
          </a:ln>
        </p:spPr>
      </p:sp>
      <p:pic>
        <p:nvPicPr>
          <p:cNvPr id="5" name="image-380" descr="/Users/parthsharma/Desktop/XAI PDS/reports/study/figures/fig_failures_summary.png">    </p:cNvPr>
          <p:cNvPicPr>
            <a:picLocks noChangeAspect="1"/>
          </p:cNvPicPr>
          <p:nvPr/>
        </p:nvPicPr>
        <p:blipFill>
          <a:blip r:embed="rId1"/>
          <a:stretch>
            <a:fillRect/>
          </a:stretch>
        </p:blipFill>
        <p:spPr>
          <a:xfrm>
            <a:off x="548640" y="1097280"/>
            <a:ext cx="8046720" cy="2735885"/>
          </a:xfrm>
          <a:prstGeom prst="rect">
            <a:avLst/>
          </a:prstGeom>
        </p:spPr>
      </p:pic>
      <p:sp>
        <p:nvSpPr>
          <p:cNvPr id="6" name="card-381"/>
          <p:cNvSpPr/>
          <p:nvPr/>
        </p:nvSpPr>
        <p:spPr>
          <a:xfrm>
            <a:off x="457200" y="4114800"/>
            <a:ext cx="2606040" cy="594360"/>
          </a:xfrm>
          <a:prstGeom prst="roundRect">
            <a:avLst>
              <a:gd name="adj" fmla="val 12308"/>
            </a:avLst>
          </a:prstGeom>
          <a:solidFill>
            <a:schemeClr val="bg2"/>
          </a:solidFill>
          <a:ln w="12700">
            <a:solidFill>
              <a:schemeClr val="bg2"/>
            </a:solidFill>
            <a:prstDash val="solid"/>
          </a:ln>
        </p:spPr>
      </p:sp>
      <p:sp>
        <p:nvSpPr>
          <p:cNvPr id="7" name="text-382"/>
          <p:cNvSpPr txBox="1"/>
          <p:nvPr/>
        </p:nvSpPr>
        <p:spPr>
          <a:xfrm>
            <a:off x="566928" y="4114800"/>
            <a:ext cx="2377440" cy="594360"/>
          </a:xfrm>
          <a:prstGeom prst="rect">
            <a:avLst/>
          </a:prstGeom>
          <a:noFill/>
          <a:ln/>
        </p:spPr>
        <p:txBody>
          <a:bodyPr wrap="square" lIns="0" tIns="0" rIns="0" bIns="0" rtlCol="0" anchor="ctr"/>
          <a:lstStyle/>
          <a:p>
            <a:pPr indent="0" marL="0">
              <a:buNone/>
            </a:pPr>
            <a:r>
              <a:rPr lang="en-US" sz="1200" b="1" dirty="0">
                <a:solidFill>
                  <a:schemeClr val="tx1"/>
                </a:solidFill>
              </a:rPr>
              <a:t>Look-alike diseases: </a:t>
            </a:r>
            <a:pPr indent="0" marL="0">
              <a:buNone/>
            </a:pPr>
            <a:r>
              <a:rPr lang="en-US" sz="1150" dirty="0">
                <a:solidFill>
                  <a:srgbClr val="6B7F75"/>
                </a:solidFill>
              </a:rPr>
              <a:t>Blights and spot diseases, not random errors</a:t>
            </a:r>
            <a:endParaRPr lang="en-US" sz="1400" dirty="0"/>
          </a:p>
        </p:txBody>
      </p:sp>
      <p:sp>
        <p:nvSpPr>
          <p:cNvPr id="8" name="card-383"/>
          <p:cNvSpPr/>
          <p:nvPr/>
        </p:nvSpPr>
        <p:spPr>
          <a:xfrm>
            <a:off x="3246120" y="4114800"/>
            <a:ext cx="2606040" cy="594360"/>
          </a:xfrm>
          <a:prstGeom prst="roundRect">
            <a:avLst>
              <a:gd name="adj" fmla="val 12308"/>
            </a:avLst>
          </a:prstGeom>
          <a:solidFill>
            <a:schemeClr val="bg2"/>
          </a:solidFill>
          <a:ln w="12700">
            <a:solidFill>
              <a:schemeClr val="bg2"/>
            </a:solidFill>
            <a:prstDash val="solid"/>
          </a:ln>
        </p:spPr>
      </p:sp>
      <p:sp>
        <p:nvSpPr>
          <p:cNvPr id="9" name="text-384"/>
          <p:cNvSpPr txBox="1"/>
          <p:nvPr/>
        </p:nvSpPr>
        <p:spPr>
          <a:xfrm>
            <a:off x="3355848" y="4114800"/>
            <a:ext cx="2377440" cy="594360"/>
          </a:xfrm>
          <a:prstGeom prst="rect">
            <a:avLst/>
          </a:prstGeom>
          <a:noFill/>
          <a:ln/>
        </p:spPr>
        <p:txBody>
          <a:bodyPr wrap="square" lIns="0" tIns="0" rIns="0" bIns="0" rtlCol="0" anchor="ctr"/>
          <a:lstStyle/>
          <a:p>
            <a:pPr indent="0" marL="0">
              <a:buNone/>
            </a:pPr>
            <a:r>
              <a:rPr lang="en-US" sz="1200" b="1" dirty="0">
                <a:solidFill>
                  <a:schemeClr val="tx1"/>
                </a:solidFill>
              </a:rPr>
              <a:t>Every error explained: </a:t>
            </a:r>
            <a:pPr indent="0" marL="0">
              <a:buNone/>
            </a:pPr>
            <a:r>
              <a:rPr lang="en-US" sz="1150" dirty="0">
                <a:solidFill>
                  <a:srgbClr val="6B7F75"/>
                </a:solidFill>
              </a:rPr>
              <a:t>Four engines plus a counterfactual test</a:t>
            </a:r>
            <a:endParaRPr lang="en-US" sz="1400" dirty="0"/>
          </a:p>
        </p:txBody>
      </p:sp>
      <p:sp>
        <p:nvSpPr>
          <p:cNvPr id="10" name="card-385"/>
          <p:cNvSpPr/>
          <p:nvPr/>
        </p:nvSpPr>
        <p:spPr>
          <a:xfrm>
            <a:off x="6035040" y="4114800"/>
            <a:ext cx="2606040" cy="594360"/>
          </a:xfrm>
          <a:prstGeom prst="roundRect">
            <a:avLst>
              <a:gd name="adj" fmla="val 12308"/>
            </a:avLst>
          </a:prstGeom>
          <a:solidFill>
            <a:schemeClr val="bg2"/>
          </a:solidFill>
          <a:ln w="12700">
            <a:solidFill>
              <a:schemeClr val="bg2"/>
            </a:solidFill>
            <a:prstDash val="solid"/>
          </a:ln>
        </p:spPr>
      </p:sp>
      <p:sp>
        <p:nvSpPr>
          <p:cNvPr id="11" name="text-386"/>
          <p:cNvSpPr txBox="1"/>
          <p:nvPr/>
        </p:nvSpPr>
        <p:spPr>
          <a:xfrm>
            <a:off x="6144768" y="4114800"/>
            <a:ext cx="2377440" cy="594360"/>
          </a:xfrm>
          <a:prstGeom prst="rect">
            <a:avLst/>
          </a:prstGeom>
          <a:noFill/>
          <a:ln/>
        </p:spPr>
        <p:txBody>
          <a:bodyPr wrap="square" lIns="0" tIns="0" rIns="0" bIns="0" rtlCol="0" anchor="ctr"/>
          <a:lstStyle/>
          <a:p>
            <a:pPr indent="0" marL="0">
              <a:buNone/>
            </a:pPr>
            <a:r>
              <a:rPr lang="en-US" sz="1200" b="1" dirty="0">
                <a:solidFill>
                  <a:schemeClr val="tx1"/>
                </a:solidFill>
              </a:rPr>
              <a:t>Warning signs: </a:t>
            </a:r>
            <a:pPr indent="0" marL="0">
              <a:buNone/>
            </a:pPr>
            <a:r>
              <a:rPr lang="en-US" sz="1150" dirty="0">
                <a:solidFill>
                  <a:srgbClr val="6B7F75"/>
                </a:solidFill>
              </a:rPr>
              <a:t>Lower confidence and higher MC-Dropout spread</a:t>
            </a:r>
            <a:endParaRPr lang="en-US" sz="1400" dirty="0"/>
          </a:p>
        </p:txBody>
      </p:sp>
      <p:sp>
        <p:nvSpPr>
          <p:cNvPr id="25" name="Slide Number Placeholder 0"/>
          <p:cNvSpPr>
            <a:spLocks noGrp="1"/>
          </p:cNvSpPr>
          <p:nvPr>
            <p:ph type="sldNum" sz="quarter" idx="4294967295"/>
          </p:nvPr>
        </p:nvSpPr>
        <p:spPr>
          <a:xfrm>
            <a:off x="8229600" y="4828032"/>
            <a:ext cx="457200" cy="22860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defRPr>
            </a:lvl1pPr>
          </a:lstStyle>
          <a:p>
            <a:pPr algn="r"/>
            <a:fld id="{F7021451-1387-4CA6-816F-3879F97B5CBC}" type="slidenum">
              <a:rPr b="0" lang="en-US"/>
              <a:t>28</a:t>
            </a:fld>
            <a:endParaRPr lang="en-US"/>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Slide 29">
    <p:spTree>
      <p:nvGrpSpPr>
        <p:cNvPr id="1" name=""/>
        <p:cNvGrpSpPr/>
        <p:nvPr/>
      </p:nvGrpSpPr>
      <p:grpSpPr>
        <a:xfrm>
          <a:off x="0" y="0"/>
          <a:ext cx="0" cy="0"/>
          <a:chOff x="0" y="0"/>
          <a:chExt cx="0" cy="0"/>
        </a:xfrm>
      </p:grpSpPr>
      <p:sp>
        <p:nvSpPr>
          <p:cNvPr id="2" name="Text 0"/>
          <p:cNvSpPr/>
          <p:nvPr>
            <p:ph idx="100" type="title" hasCustomPrompt="1"/>
          </p:nvPr>
        </p:nvSpPr>
        <p:spPr>
          <a:xfrm>
            <a:off x="457200" y="256032"/>
            <a:ext cx="8229600" cy="685800"/>
          </a:xfrm>
          <a:prstGeom prst="rect">
            <a:avLst/>
          </a:prstGeom>
          <a:noFill/>
          <a:ln/>
        </p:spPr>
        <p:txBody>
          <a:bodyPr wrap="square" lIns="0" tIns="0" rIns="0" bIns="0" rtlCol="0" anchor="ctr"/>
          <a:lstStyle/>
          <a:p>
            <a:pPr algn="l" indent="0" marL="0">
              <a:buNone/>
            </a:pPr>
            <a:r>
              <a:rPr lang="en-US" sz="2800" b="1" dirty="0">
                <a:solidFill>
                  <a:schemeClr val="tx1"/>
                </a:solidFill>
              </a:rPr>
              <a:t>How this compares with earlier work</a:t>
            </a:r>
            <a:endParaRPr lang="en-US" sz="2800" dirty="0"/>
          </a:p>
        </p:txBody>
      </p:sp>
      <p:graphicFrame>
        <p:nvGraphicFramePr>
          <p:cNvPr id="30" name="compare-table"/>
          <p:cNvGraphicFramePr>
            <a:graphicFrameLocks noGrp="1"/>
          </p:cNvGraphicFramePr>
          <p:nvPr>
            <p:extLst>
              <p:ext uri="{D42A27DB-BD31-4B8C-83A1-F6EECF244321}">
                <p14:modId xmlns:p14="http://schemas.microsoft.com/office/powerpoint/2010/main" val="1579011935"/>
              </p:ext>
            </p:extLst>
          </p:nvPr>
        </p:nvGraphicFramePr>
        <p:xfrm>
          <a:off x="457200" y="1097280"/>
          <a:ext cx="8229600" cy="914400"/>
        </p:xfrm>
        <a:graphic>
          <a:graphicData uri="http://schemas.openxmlformats.org/drawingml/2006/table">
            <a:tbl>
              <a:tblPr/>
              <a:tblGrid>
                <a:gridCol w="1828800"/>
                <a:gridCol w="1920240"/>
                <a:gridCol w="1463040"/>
                <a:gridCol w="1554480"/>
                <a:gridCol w="1463040"/>
              </a:tblGrid>
              <a:tr h="512064">
                <a:tc>
                  <a:txBody>
                    <a:bodyPr/>
                    <a:lstStyle/>
                    <a:p>
                      <a:pPr indent="0" marL="0">
                        <a:buNone/>
                      </a:pPr>
                      <a:r>
                        <a:rPr lang="en-US" sz="1300" b="1" dirty="0">
                          <a:solidFill>
                            <a:schemeClr val="bg1"/>
                          </a:solidFill>
                        </a:rPr>
                        <a:t>Study</a:t>
                      </a:r>
                      <a:endParaRPr lang="en-US" sz="1300" dirty="0"/>
                    </a:p>
                  </a:txBody>
                  <a:tcPr marL="91440" marR="91440" marT="45720" marB="45720" anchor="ctr">
                    <a:lnL w="6350" cap="flat" cmpd="sng" algn="ctr">
                      <a:solidFill>
                        <a:srgbClr val="D3DFD8"/>
                      </a:solidFill>
                      <a:prstDash val="solid"/>
                      <a:round/>
                      <a:headEnd type="none" w="med" len="med"/>
                      <a:tailEnd type="none" w="med" len="med"/>
                    </a:lnL>
                    <a:lnR w="6350" cap="flat" cmpd="sng" algn="ctr">
                      <a:solidFill>
                        <a:srgbClr val="D3DFD8"/>
                      </a:solidFill>
                      <a:prstDash val="solid"/>
                      <a:round/>
                      <a:headEnd type="none" w="med" len="med"/>
                      <a:tailEnd type="none" w="med" len="med"/>
                    </a:lnR>
                    <a:lnT w="6350" cap="flat" cmpd="sng" algn="ctr">
                      <a:solidFill>
                        <a:srgbClr val="D3DFD8"/>
                      </a:solidFill>
                      <a:prstDash val="solid"/>
                      <a:round/>
                      <a:headEnd type="none" w="med" len="med"/>
                      <a:tailEnd type="none" w="med" len="med"/>
                    </a:lnT>
                    <a:lnB w="6350" cap="flat" cmpd="sng" algn="ctr">
                      <a:solidFill>
                        <a:srgbClr val="D3DFD8"/>
                      </a:solidFill>
                      <a:prstDash val="solid"/>
                      <a:round/>
                      <a:headEnd type="none" w="med" len="med"/>
                      <a:tailEnd type="none" w="med" len="med"/>
                    </a:lnB>
                    <a:solidFill>
                      <a:schemeClr val="tx2"/>
                    </a:solidFill>
                  </a:tcPr>
                </a:tc>
                <a:tc>
                  <a:txBody>
                    <a:bodyPr/>
                    <a:lstStyle/>
                    <a:p>
                      <a:pPr indent="0" marL="0">
                        <a:buNone/>
                      </a:pPr>
                      <a:r>
                        <a:rPr lang="en-US" sz="1300" b="1" dirty="0">
                          <a:solidFill>
                            <a:schemeClr val="bg1"/>
                          </a:solidFill>
                        </a:rPr>
                        <a:t>Model</a:t>
                      </a:r>
                      <a:endParaRPr lang="en-US" sz="1300" dirty="0"/>
                    </a:p>
                  </a:txBody>
                  <a:tcPr marL="91440" marR="91440" marT="45720" marB="45720" anchor="ctr">
                    <a:lnL w="6350" cap="flat" cmpd="sng" algn="ctr">
                      <a:solidFill>
                        <a:srgbClr val="D3DFD8"/>
                      </a:solidFill>
                      <a:prstDash val="solid"/>
                      <a:round/>
                      <a:headEnd type="none" w="med" len="med"/>
                      <a:tailEnd type="none" w="med" len="med"/>
                    </a:lnL>
                    <a:lnR w="6350" cap="flat" cmpd="sng" algn="ctr">
                      <a:solidFill>
                        <a:srgbClr val="D3DFD8"/>
                      </a:solidFill>
                      <a:prstDash val="solid"/>
                      <a:round/>
                      <a:headEnd type="none" w="med" len="med"/>
                      <a:tailEnd type="none" w="med" len="med"/>
                    </a:lnR>
                    <a:lnT w="6350" cap="flat" cmpd="sng" algn="ctr">
                      <a:solidFill>
                        <a:srgbClr val="D3DFD8"/>
                      </a:solidFill>
                      <a:prstDash val="solid"/>
                      <a:round/>
                      <a:headEnd type="none" w="med" len="med"/>
                      <a:tailEnd type="none" w="med" len="med"/>
                    </a:lnT>
                    <a:lnB w="6350" cap="flat" cmpd="sng" algn="ctr">
                      <a:solidFill>
                        <a:srgbClr val="D3DFD8"/>
                      </a:solidFill>
                      <a:prstDash val="solid"/>
                      <a:round/>
                      <a:headEnd type="none" w="med" len="med"/>
                      <a:tailEnd type="none" w="med" len="med"/>
                    </a:lnB>
                    <a:solidFill>
                      <a:schemeClr val="tx2"/>
                    </a:solidFill>
                  </a:tcPr>
                </a:tc>
                <a:tc>
                  <a:txBody>
                    <a:bodyPr/>
                    <a:lstStyle/>
                    <a:p>
                      <a:pPr indent="0" marL="0">
                        <a:buNone/>
                      </a:pPr>
                      <a:r>
                        <a:rPr lang="en-US" sz="1300" b="1" dirty="0">
                          <a:solidFill>
                            <a:schemeClr val="bg1"/>
                          </a:solidFill>
                        </a:rPr>
                        <a:t>Reported accuracy</a:t>
                      </a:r>
                      <a:endParaRPr lang="en-US" sz="1300" dirty="0"/>
                    </a:p>
                  </a:txBody>
                  <a:tcPr marL="91440" marR="91440" marT="45720" marB="45720" anchor="ctr">
                    <a:lnL w="6350" cap="flat" cmpd="sng" algn="ctr">
                      <a:solidFill>
                        <a:srgbClr val="D3DFD8"/>
                      </a:solidFill>
                      <a:prstDash val="solid"/>
                      <a:round/>
                      <a:headEnd type="none" w="med" len="med"/>
                      <a:tailEnd type="none" w="med" len="med"/>
                    </a:lnL>
                    <a:lnR w="6350" cap="flat" cmpd="sng" algn="ctr">
                      <a:solidFill>
                        <a:srgbClr val="D3DFD8"/>
                      </a:solidFill>
                      <a:prstDash val="solid"/>
                      <a:round/>
                      <a:headEnd type="none" w="med" len="med"/>
                      <a:tailEnd type="none" w="med" len="med"/>
                    </a:lnR>
                    <a:lnT w="6350" cap="flat" cmpd="sng" algn="ctr">
                      <a:solidFill>
                        <a:srgbClr val="D3DFD8"/>
                      </a:solidFill>
                      <a:prstDash val="solid"/>
                      <a:round/>
                      <a:headEnd type="none" w="med" len="med"/>
                      <a:tailEnd type="none" w="med" len="med"/>
                    </a:lnT>
                    <a:lnB w="6350" cap="flat" cmpd="sng" algn="ctr">
                      <a:solidFill>
                        <a:srgbClr val="D3DFD8"/>
                      </a:solidFill>
                      <a:prstDash val="solid"/>
                      <a:round/>
                      <a:headEnd type="none" w="med" len="med"/>
                      <a:tailEnd type="none" w="med" len="med"/>
                    </a:lnB>
                    <a:solidFill>
                      <a:schemeClr val="tx2"/>
                    </a:solidFill>
                  </a:tcPr>
                </a:tc>
                <a:tc>
                  <a:txBody>
                    <a:bodyPr/>
                    <a:lstStyle/>
                    <a:p>
                      <a:pPr indent="0" marL="0">
                        <a:buNone/>
                      </a:pPr>
                      <a:r>
                        <a:rPr lang="en-US" sz="1300" b="1" dirty="0">
                          <a:solidFill>
                            <a:schemeClr val="bg1"/>
                          </a:solidFill>
                        </a:rPr>
                        <a:t>Shows explanations</a:t>
                      </a:r>
                      <a:endParaRPr lang="en-US" sz="1300" dirty="0"/>
                    </a:p>
                  </a:txBody>
                  <a:tcPr marL="91440" marR="91440" marT="45720" marB="45720" anchor="ctr">
                    <a:lnL w="6350" cap="flat" cmpd="sng" algn="ctr">
                      <a:solidFill>
                        <a:srgbClr val="D3DFD8"/>
                      </a:solidFill>
                      <a:prstDash val="solid"/>
                      <a:round/>
                      <a:headEnd type="none" w="med" len="med"/>
                      <a:tailEnd type="none" w="med" len="med"/>
                    </a:lnL>
                    <a:lnR w="6350" cap="flat" cmpd="sng" algn="ctr">
                      <a:solidFill>
                        <a:srgbClr val="D3DFD8"/>
                      </a:solidFill>
                      <a:prstDash val="solid"/>
                      <a:round/>
                      <a:headEnd type="none" w="med" len="med"/>
                      <a:tailEnd type="none" w="med" len="med"/>
                    </a:lnR>
                    <a:lnT w="6350" cap="flat" cmpd="sng" algn="ctr">
                      <a:solidFill>
                        <a:srgbClr val="D3DFD8"/>
                      </a:solidFill>
                      <a:prstDash val="solid"/>
                      <a:round/>
                      <a:headEnd type="none" w="med" len="med"/>
                      <a:tailEnd type="none" w="med" len="med"/>
                    </a:lnT>
                    <a:lnB w="6350" cap="flat" cmpd="sng" algn="ctr">
                      <a:solidFill>
                        <a:srgbClr val="D3DFD8"/>
                      </a:solidFill>
                      <a:prstDash val="solid"/>
                      <a:round/>
                      <a:headEnd type="none" w="med" len="med"/>
                      <a:tailEnd type="none" w="med" len="med"/>
                    </a:lnB>
                    <a:solidFill>
                      <a:schemeClr val="tx2"/>
                    </a:solidFill>
                  </a:tcPr>
                </a:tc>
                <a:tc>
                  <a:txBody>
                    <a:bodyPr/>
                    <a:lstStyle/>
                    <a:p>
                      <a:pPr indent="0" marL="0">
                        <a:buNone/>
                      </a:pPr>
                      <a:r>
                        <a:rPr lang="en-US" sz="1300" b="1" dirty="0">
                          <a:solidFill>
                            <a:schemeClr val="bg1"/>
                          </a:solidFill>
                        </a:rPr>
                        <a:t>Scores explanations</a:t>
                      </a:r>
                      <a:endParaRPr lang="en-US" sz="1300" dirty="0"/>
                    </a:p>
                  </a:txBody>
                  <a:tcPr marL="91440" marR="91440" marT="45720" marB="45720" anchor="ctr">
                    <a:lnL w="6350" cap="flat" cmpd="sng" algn="ctr">
                      <a:solidFill>
                        <a:srgbClr val="D3DFD8"/>
                      </a:solidFill>
                      <a:prstDash val="solid"/>
                      <a:round/>
                      <a:headEnd type="none" w="med" len="med"/>
                      <a:tailEnd type="none" w="med" len="med"/>
                    </a:lnL>
                    <a:lnR w="6350" cap="flat" cmpd="sng" algn="ctr">
                      <a:solidFill>
                        <a:srgbClr val="D3DFD8"/>
                      </a:solidFill>
                      <a:prstDash val="solid"/>
                      <a:round/>
                      <a:headEnd type="none" w="med" len="med"/>
                      <a:tailEnd type="none" w="med" len="med"/>
                    </a:lnR>
                    <a:lnT w="6350" cap="flat" cmpd="sng" algn="ctr">
                      <a:solidFill>
                        <a:srgbClr val="D3DFD8"/>
                      </a:solidFill>
                      <a:prstDash val="solid"/>
                      <a:round/>
                      <a:headEnd type="none" w="med" len="med"/>
                      <a:tailEnd type="none" w="med" len="med"/>
                    </a:lnT>
                    <a:lnB w="6350" cap="flat" cmpd="sng" algn="ctr">
                      <a:solidFill>
                        <a:srgbClr val="D3DFD8"/>
                      </a:solidFill>
                      <a:prstDash val="solid"/>
                      <a:round/>
                      <a:headEnd type="none" w="med" len="med"/>
                      <a:tailEnd type="none" w="med" len="med"/>
                    </a:lnB>
                    <a:solidFill>
                      <a:schemeClr val="tx2"/>
                    </a:solidFill>
                  </a:tcPr>
                </a:tc>
              </a:tr>
              <a:tr h="512064">
                <a:tc>
                  <a:txBody>
                    <a:bodyPr/>
                    <a:lstStyle/>
                    <a:p>
                      <a:pPr indent="0" marL="0">
                        <a:buNone/>
                      </a:pPr>
                      <a:r>
                        <a:rPr lang="en-US" sz="1300" dirty="0">
                          <a:solidFill>
                            <a:srgbClr val="000000"/>
                          </a:solidFill>
                        </a:rPr>
                        <a:t>Mohanty et al., 2016</a:t>
                      </a:r>
                      <a:endParaRPr lang="en-US" sz="1300" dirty="0"/>
                    </a:p>
                  </a:txBody>
                  <a:tcPr marL="91440" marR="91440" marT="45720" marB="45720" anchor="ctr">
                    <a:lnL w="6350" cap="flat" cmpd="sng" algn="ctr">
                      <a:solidFill>
                        <a:srgbClr val="D3DFD8"/>
                      </a:solidFill>
                      <a:prstDash val="solid"/>
                      <a:round/>
                      <a:headEnd type="none" w="med" len="med"/>
                      <a:tailEnd type="none" w="med" len="med"/>
                    </a:lnL>
                    <a:lnR w="6350" cap="flat" cmpd="sng" algn="ctr">
                      <a:solidFill>
                        <a:srgbClr val="D3DFD8"/>
                      </a:solidFill>
                      <a:prstDash val="solid"/>
                      <a:round/>
                      <a:headEnd type="none" w="med" len="med"/>
                      <a:tailEnd type="none" w="med" len="med"/>
                    </a:lnR>
                    <a:lnT w="6350" cap="flat" cmpd="sng" algn="ctr">
                      <a:solidFill>
                        <a:srgbClr val="D3DFD8"/>
                      </a:solidFill>
                      <a:prstDash val="solid"/>
                      <a:round/>
                      <a:headEnd type="none" w="med" len="med"/>
                      <a:tailEnd type="none" w="med" len="med"/>
                    </a:lnT>
                    <a:lnB w="6350" cap="flat" cmpd="sng" algn="ctr">
                      <a:solidFill>
                        <a:srgbClr val="D3DFD8"/>
                      </a:solidFill>
                      <a:prstDash val="solid"/>
                      <a:round/>
                      <a:headEnd type="none" w="med" len="med"/>
                      <a:tailEnd type="none" w="med" len="med"/>
                    </a:lnB>
                    <a:solidFill>
                      <a:srgbClr val="FFFFFF"/>
                    </a:solidFill>
                  </a:tcPr>
                </a:tc>
                <a:tc>
                  <a:txBody>
                    <a:bodyPr/>
                    <a:lstStyle/>
                    <a:p>
                      <a:pPr indent="0" marL="0">
                        <a:buNone/>
                      </a:pPr>
                      <a:r>
                        <a:rPr lang="en-US" sz="1300" dirty="0">
                          <a:solidFill>
                            <a:srgbClr val="000000"/>
                          </a:solidFill>
                        </a:rPr>
                        <a:t>AlexNet, GoogLeNet</a:t>
                      </a:r>
                      <a:endParaRPr lang="en-US" sz="1300" dirty="0"/>
                    </a:p>
                  </a:txBody>
                  <a:tcPr marL="91440" marR="91440" marT="45720" marB="45720" anchor="ctr">
                    <a:lnL w="6350" cap="flat" cmpd="sng" algn="ctr">
                      <a:solidFill>
                        <a:srgbClr val="D3DFD8"/>
                      </a:solidFill>
                      <a:prstDash val="solid"/>
                      <a:round/>
                      <a:headEnd type="none" w="med" len="med"/>
                      <a:tailEnd type="none" w="med" len="med"/>
                    </a:lnL>
                    <a:lnR w="6350" cap="flat" cmpd="sng" algn="ctr">
                      <a:solidFill>
                        <a:srgbClr val="D3DFD8"/>
                      </a:solidFill>
                      <a:prstDash val="solid"/>
                      <a:round/>
                      <a:headEnd type="none" w="med" len="med"/>
                      <a:tailEnd type="none" w="med" len="med"/>
                    </a:lnR>
                    <a:lnT w="6350" cap="flat" cmpd="sng" algn="ctr">
                      <a:solidFill>
                        <a:srgbClr val="D3DFD8"/>
                      </a:solidFill>
                      <a:prstDash val="solid"/>
                      <a:round/>
                      <a:headEnd type="none" w="med" len="med"/>
                      <a:tailEnd type="none" w="med" len="med"/>
                    </a:lnT>
                    <a:lnB w="6350" cap="flat" cmpd="sng" algn="ctr">
                      <a:solidFill>
                        <a:srgbClr val="D3DFD8"/>
                      </a:solidFill>
                      <a:prstDash val="solid"/>
                      <a:round/>
                      <a:headEnd type="none" w="med" len="med"/>
                      <a:tailEnd type="none" w="med" len="med"/>
                    </a:lnB>
                    <a:solidFill>
                      <a:srgbClr val="FFFFFF"/>
                    </a:solidFill>
                  </a:tcPr>
                </a:tc>
                <a:tc>
                  <a:txBody>
                    <a:bodyPr/>
                    <a:lstStyle/>
                    <a:p>
                      <a:pPr indent="0" marL="0">
                        <a:buNone/>
                      </a:pPr>
                      <a:r>
                        <a:rPr lang="en-US" sz="1300" dirty="0">
                          <a:solidFill>
                            <a:srgbClr val="000000"/>
                          </a:solidFill>
                        </a:rPr>
                        <a:t>99.35%</a:t>
                      </a:r>
                      <a:endParaRPr lang="en-US" sz="1300" dirty="0"/>
                    </a:p>
                  </a:txBody>
                  <a:tcPr marL="91440" marR="91440" marT="45720" marB="45720" anchor="ctr">
                    <a:lnL w="6350" cap="flat" cmpd="sng" algn="ctr">
                      <a:solidFill>
                        <a:srgbClr val="D3DFD8"/>
                      </a:solidFill>
                      <a:prstDash val="solid"/>
                      <a:round/>
                      <a:headEnd type="none" w="med" len="med"/>
                      <a:tailEnd type="none" w="med" len="med"/>
                    </a:lnL>
                    <a:lnR w="6350" cap="flat" cmpd="sng" algn="ctr">
                      <a:solidFill>
                        <a:srgbClr val="D3DFD8"/>
                      </a:solidFill>
                      <a:prstDash val="solid"/>
                      <a:round/>
                      <a:headEnd type="none" w="med" len="med"/>
                      <a:tailEnd type="none" w="med" len="med"/>
                    </a:lnR>
                    <a:lnT w="6350" cap="flat" cmpd="sng" algn="ctr">
                      <a:solidFill>
                        <a:srgbClr val="D3DFD8"/>
                      </a:solidFill>
                      <a:prstDash val="solid"/>
                      <a:round/>
                      <a:headEnd type="none" w="med" len="med"/>
                      <a:tailEnd type="none" w="med" len="med"/>
                    </a:lnT>
                    <a:lnB w="6350" cap="flat" cmpd="sng" algn="ctr">
                      <a:solidFill>
                        <a:srgbClr val="D3DFD8"/>
                      </a:solidFill>
                      <a:prstDash val="solid"/>
                      <a:round/>
                      <a:headEnd type="none" w="med" len="med"/>
                      <a:tailEnd type="none" w="med" len="med"/>
                    </a:lnB>
                    <a:solidFill>
                      <a:srgbClr val="FFFFFF"/>
                    </a:solidFill>
                  </a:tcPr>
                </a:tc>
                <a:tc>
                  <a:txBody>
                    <a:bodyPr/>
                    <a:lstStyle/>
                    <a:p>
                      <a:pPr indent="0" marL="0">
                        <a:buNone/>
                      </a:pPr>
                      <a:r>
                        <a:rPr lang="en-US" sz="1300" dirty="0">
                          <a:solidFill>
                            <a:srgbClr val="000000"/>
                          </a:solidFill>
                        </a:rPr>
                        <a:t>No</a:t>
                      </a:r>
                      <a:endParaRPr lang="en-US" sz="1300" dirty="0"/>
                    </a:p>
                  </a:txBody>
                  <a:tcPr marL="91440" marR="91440" marT="45720" marB="45720" anchor="ctr">
                    <a:lnL w="6350" cap="flat" cmpd="sng" algn="ctr">
                      <a:solidFill>
                        <a:srgbClr val="D3DFD8"/>
                      </a:solidFill>
                      <a:prstDash val="solid"/>
                      <a:round/>
                      <a:headEnd type="none" w="med" len="med"/>
                      <a:tailEnd type="none" w="med" len="med"/>
                    </a:lnL>
                    <a:lnR w="6350" cap="flat" cmpd="sng" algn="ctr">
                      <a:solidFill>
                        <a:srgbClr val="D3DFD8"/>
                      </a:solidFill>
                      <a:prstDash val="solid"/>
                      <a:round/>
                      <a:headEnd type="none" w="med" len="med"/>
                      <a:tailEnd type="none" w="med" len="med"/>
                    </a:lnR>
                    <a:lnT w="6350" cap="flat" cmpd="sng" algn="ctr">
                      <a:solidFill>
                        <a:srgbClr val="D3DFD8"/>
                      </a:solidFill>
                      <a:prstDash val="solid"/>
                      <a:round/>
                      <a:headEnd type="none" w="med" len="med"/>
                      <a:tailEnd type="none" w="med" len="med"/>
                    </a:lnT>
                    <a:lnB w="6350" cap="flat" cmpd="sng" algn="ctr">
                      <a:solidFill>
                        <a:srgbClr val="D3DFD8"/>
                      </a:solidFill>
                      <a:prstDash val="solid"/>
                      <a:round/>
                      <a:headEnd type="none" w="med" len="med"/>
                      <a:tailEnd type="none" w="med" len="med"/>
                    </a:lnB>
                    <a:solidFill>
                      <a:srgbClr val="FFFFFF"/>
                    </a:solidFill>
                  </a:tcPr>
                </a:tc>
                <a:tc>
                  <a:txBody>
                    <a:bodyPr/>
                    <a:lstStyle/>
                    <a:p>
                      <a:pPr indent="0" marL="0">
                        <a:buNone/>
                      </a:pPr>
                      <a:r>
                        <a:rPr lang="en-US" sz="1300" dirty="0">
                          <a:solidFill>
                            <a:srgbClr val="000000"/>
                          </a:solidFill>
                        </a:rPr>
                        <a:t>No</a:t>
                      </a:r>
                      <a:endParaRPr lang="en-US" sz="1300" dirty="0"/>
                    </a:p>
                  </a:txBody>
                  <a:tcPr marL="91440" marR="91440" marT="45720" marB="45720" anchor="ctr">
                    <a:lnL w="6350" cap="flat" cmpd="sng" algn="ctr">
                      <a:solidFill>
                        <a:srgbClr val="D3DFD8"/>
                      </a:solidFill>
                      <a:prstDash val="solid"/>
                      <a:round/>
                      <a:headEnd type="none" w="med" len="med"/>
                      <a:tailEnd type="none" w="med" len="med"/>
                    </a:lnL>
                    <a:lnR w="6350" cap="flat" cmpd="sng" algn="ctr">
                      <a:solidFill>
                        <a:srgbClr val="D3DFD8"/>
                      </a:solidFill>
                      <a:prstDash val="solid"/>
                      <a:round/>
                      <a:headEnd type="none" w="med" len="med"/>
                      <a:tailEnd type="none" w="med" len="med"/>
                    </a:lnR>
                    <a:lnT w="6350" cap="flat" cmpd="sng" algn="ctr">
                      <a:solidFill>
                        <a:srgbClr val="D3DFD8"/>
                      </a:solidFill>
                      <a:prstDash val="solid"/>
                      <a:round/>
                      <a:headEnd type="none" w="med" len="med"/>
                      <a:tailEnd type="none" w="med" len="med"/>
                    </a:lnT>
                    <a:lnB w="6350" cap="flat" cmpd="sng" algn="ctr">
                      <a:solidFill>
                        <a:srgbClr val="D3DFD8"/>
                      </a:solidFill>
                      <a:prstDash val="solid"/>
                      <a:round/>
                      <a:headEnd type="none" w="med" len="med"/>
                      <a:tailEnd type="none" w="med" len="med"/>
                    </a:lnB>
                    <a:solidFill>
                      <a:srgbClr val="FFFFFF"/>
                    </a:solidFill>
                  </a:tcPr>
                </a:tc>
              </a:tr>
              <a:tr h="512064">
                <a:tc>
                  <a:txBody>
                    <a:bodyPr/>
                    <a:lstStyle/>
                    <a:p>
                      <a:pPr indent="0" marL="0">
                        <a:buNone/>
                      </a:pPr>
                      <a:r>
                        <a:rPr lang="en-US" sz="1300" dirty="0">
                          <a:solidFill>
                            <a:srgbClr val="000000"/>
                          </a:solidFill>
                        </a:rPr>
                        <a:t>Ferentinos, 2018</a:t>
                      </a:r>
                      <a:endParaRPr lang="en-US" sz="1300" dirty="0"/>
                    </a:p>
                  </a:txBody>
                  <a:tcPr marL="91440" marR="91440" marT="45720" marB="45720" anchor="ctr">
                    <a:lnL w="6350" cap="flat" cmpd="sng" algn="ctr">
                      <a:solidFill>
                        <a:srgbClr val="D3DFD8"/>
                      </a:solidFill>
                      <a:prstDash val="solid"/>
                      <a:round/>
                      <a:headEnd type="none" w="med" len="med"/>
                      <a:tailEnd type="none" w="med" len="med"/>
                    </a:lnL>
                    <a:lnR w="6350" cap="flat" cmpd="sng" algn="ctr">
                      <a:solidFill>
                        <a:srgbClr val="D3DFD8"/>
                      </a:solidFill>
                      <a:prstDash val="solid"/>
                      <a:round/>
                      <a:headEnd type="none" w="med" len="med"/>
                      <a:tailEnd type="none" w="med" len="med"/>
                    </a:lnR>
                    <a:lnT w="6350" cap="flat" cmpd="sng" algn="ctr">
                      <a:solidFill>
                        <a:srgbClr val="D3DFD8"/>
                      </a:solidFill>
                      <a:prstDash val="solid"/>
                      <a:round/>
                      <a:headEnd type="none" w="med" len="med"/>
                      <a:tailEnd type="none" w="med" len="med"/>
                    </a:lnT>
                    <a:lnB w="6350" cap="flat" cmpd="sng" algn="ctr">
                      <a:solidFill>
                        <a:srgbClr val="D3DFD8"/>
                      </a:solidFill>
                      <a:prstDash val="solid"/>
                      <a:round/>
                      <a:headEnd type="none" w="med" len="med"/>
                      <a:tailEnd type="none" w="med" len="med"/>
                    </a:lnB>
                    <a:solidFill>
                      <a:srgbClr val="F1F6F3"/>
                    </a:solidFill>
                  </a:tcPr>
                </a:tc>
                <a:tc>
                  <a:txBody>
                    <a:bodyPr/>
                    <a:lstStyle/>
                    <a:p>
                      <a:pPr indent="0" marL="0">
                        <a:buNone/>
                      </a:pPr>
                      <a:r>
                        <a:rPr lang="en-US" sz="1300" dirty="0">
                          <a:solidFill>
                            <a:srgbClr val="000000"/>
                          </a:solidFill>
                        </a:rPr>
                        <a:t>VGG and other CNNs</a:t>
                      </a:r>
                      <a:endParaRPr lang="en-US" sz="1300" dirty="0"/>
                    </a:p>
                  </a:txBody>
                  <a:tcPr marL="91440" marR="91440" marT="45720" marB="45720" anchor="ctr">
                    <a:lnL w="6350" cap="flat" cmpd="sng" algn="ctr">
                      <a:solidFill>
                        <a:srgbClr val="D3DFD8"/>
                      </a:solidFill>
                      <a:prstDash val="solid"/>
                      <a:round/>
                      <a:headEnd type="none" w="med" len="med"/>
                      <a:tailEnd type="none" w="med" len="med"/>
                    </a:lnL>
                    <a:lnR w="6350" cap="flat" cmpd="sng" algn="ctr">
                      <a:solidFill>
                        <a:srgbClr val="D3DFD8"/>
                      </a:solidFill>
                      <a:prstDash val="solid"/>
                      <a:round/>
                      <a:headEnd type="none" w="med" len="med"/>
                      <a:tailEnd type="none" w="med" len="med"/>
                    </a:lnR>
                    <a:lnT w="6350" cap="flat" cmpd="sng" algn="ctr">
                      <a:solidFill>
                        <a:srgbClr val="D3DFD8"/>
                      </a:solidFill>
                      <a:prstDash val="solid"/>
                      <a:round/>
                      <a:headEnd type="none" w="med" len="med"/>
                      <a:tailEnd type="none" w="med" len="med"/>
                    </a:lnT>
                    <a:lnB w="6350" cap="flat" cmpd="sng" algn="ctr">
                      <a:solidFill>
                        <a:srgbClr val="D3DFD8"/>
                      </a:solidFill>
                      <a:prstDash val="solid"/>
                      <a:round/>
                      <a:headEnd type="none" w="med" len="med"/>
                      <a:tailEnd type="none" w="med" len="med"/>
                    </a:lnB>
                    <a:solidFill>
                      <a:srgbClr val="F1F6F3"/>
                    </a:solidFill>
                  </a:tcPr>
                </a:tc>
                <a:tc>
                  <a:txBody>
                    <a:bodyPr/>
                    <a:lstStyle/>
                    <a:p>
                      <a:pPr indent="0" marL="0">
                        <a:buNone/>
                      </a:pPr>
                      <a:r>
                        <a:rPr lang="en-US" sz="1300" dirty="0">
                          <a:solidFill>
                            <a:srgbClr val="000000"/>
                          </a:solidFill>
                        </a:rPr>
                        <a:t>99.53%</a:t>
                      </a:r>
                      <a:endParaRPr lang="en-US" sz="1300" dirty="0"/>
                    </a:p>
                  </a:txBody>
                  <a:tcPr marL="91440" marR="91440" marT="45720" marB="45720" anchor="ctr">
                    <a:lnL w="6350" cap="flat" cmpd="sng" algn="ctr">
                      <a:solidFill>
                        <a:srgbClr val="D3DFD8"/>
                      </a:solidFill>
                      <a:prstDash val="solid"/>
                      <a:round/>
                      <a:headEnd type="none" w="med" len="med"/>
                      <a:tailEnd type="none" w="med" len="med"/>
                    </a:lnL>
                    <a:lnR w="6350" cap="flat" cmpd="sng" algn="ctr">
                      <a:solidFill>
                        <a:srgbClr val="D3DFD8"/>
                      </a:solidFill>
                      <a:prstDash val="solid"/>
                      <a:round/>
                      <a:headEnd type="none" w="med" len="med"/>
                      <a:tailEnd type="none" w="med" len="med"/>
                    </a:lnR>
                    <a:lnT w="6350" cap="flat" cmpd="sng" algn="ctr">
                      <a:solidFill>
                        <a:srgbClr val="D3DFD8"/>
                      </a:solidFill>
                      <a:prstDash val="solid"/>
                      <a:round/>
                      <a:headEnd type="none" w="med" len="med"/>
                      <a:tailEnd type="none" w="med" len="med"/>
                    </a:lnT>
                    <a:lnB w="6350" cap="flat" cmpd="sng" algn="ctr">
                      <a:solidFill>
                        <a:srgbClr val="D3DFD8"/>
                      </a:solidFill>
                      <a:prstDash val="solid"/>
                      <a:round/>
                      <a:headEnd type="none" w="med" len="med"/>
                      <a:tailEnd type="none" w="med" len="med"/>
                    </a:lnB>
                    <a:solidFill>
                      <a:srgbClr val="F1F6F3"/>
                    </a:solidFill>
                  </a:tcPr>
                </a:tc>
                <a:tc>
                  <a:txBody>
                    <a:bodyPr/>
                    <a:lstStyle/>
                    <a:p>
                      <a:pPr indent="0" marL="0">
                        <a:buNone/>
                      </a:pPr>
                      <a:r>
                        <a:rPr lang="en-US" sz="1300" dirty="0">
                          <a:solidFill>
                            <a:srgbClr val="000000"/>
                          </a:solidFill>
                        </a:rPr>
                        <a:t>No</a:t>
                      </a:r>
                      <a:endParaRPr lang="en-US" sz="1300" dirty="0"/>
                    </a:p>
                  </a:txBody>
                  <a:tcPr marL="91440" marR="91440" marT="45720" marB="45720" anchor="ctr">
                    <a:lnL w="6350" cap="flat" cmpd="sng" algn="ctr">
                      <a:solidFill>
                        <a:srgbClr val="D3DFD8"/>
                      </a:solidFill>
                      <a:prstDash val="solid"/>
                      <a:round/>
                      <a:headEnd type="none" w="med" len="med"/>
                      <a:tailEnd type="none" w="med" len="med"/>
                    </a:lnL>
                    <a:lnR w="6350" cap="flat" cmpd="sng" algn="ctr">
                      <a:solidFill>
                        <a:srgbClr val="D3DFD8"/>
                      </a:solidFill>
                      <a:prstDash val="solid"/>
                      <a:round/>
                      <a:headEnd type="none" w="med" len="med"/>
                      <a:tailEnd type="none" w="med" len="med"/>
                    </a:lnR>
                    <a:lnT w="6350" cap="flat" cmpd="sng" algn="ctr">
                      <a:solidFill>
                        <a:srgbClr val="D3DFD8"/>
                      </a:solidFill>
                      <a:prstDash val="solid"/>
                      <a:round/>
                      <a:headEnd type="none" w="med" len="med"/>
                      <a:tailEnd type="none" w="med" len="med"/>
                    </a:lnT>
                    <a:lnB w="6350" cap="flat" cmpd="sng" algn="ctr">
                      <a:solidFill>
                        <a:srgbClr val="D3DFD8"/>
                      </a:solidFill>
                      <a:prstDash val="solid"/>
                      <a:round/>
                      <a:headEnd type="none" w="med" len="med"/>
                      <a:tailEnd type="none" w="med" len="med"/>
                    </a:lnB>
                    <a:solidFill>
                      <a:srgbClr val="F1F6F3"/>
                    </a:solidFill>
                  </a:tcPr>
                </a:tc>
                <a:tc>
                  <a:txBody>
                    <a:bodyPr/>
                    <a:lstStyle/>
                    <a:p>
                      <a:pPr indent="0" marL="0">
                        <a:buNone/>
                      </a:pPr>
                      <a:r>
                        <a:rPr lang="en-US" sz="1300" dirty="0">
                          <a:solidFill>
                            <a:srgbClr val="000000"/>
                          </a:solidFill>
                        </a:rPr>
                        <a:t>No</a:t>
                      </a:r>
                      <a:endParaRPr lang="en-US" sz="1300" dirty="0"/>
                    </a:p>
                  </a:txBody>
                  <a:tcPr marL="91440" marR="91440" marT="45720" marB="45720" anchor="ctr">
                    <a:lnL w="6350" cap="flat" cmpd="sng" algn="ctr">
                      <a:solidFill>
                        <a:srgbClr val="D3DFD8"/>
                      </a:solidFill>
                      <a:prstDash val="solid"/>
                      <a:round/>
                      <a:headEnd type="none" w="med" len="med"/>
                      <a:tailEnd type="none" w="med" len="med"/>
                    </a:lnL>
                    <a:lnR w="6350" cap="flat" cmpd="sng" algn="ctr">
                      <a:solidFill>
                        <a:srgbClr val="D3DFD8"/>
                      </a:solidFill>
                      <a:prstDash val="solid"/>
                      <a:round/>
                      <a:headEnd type="none" w="med" len="med"/>
                      <a:tailEnd type="none" w="med" len="med"/>
                    </a:lnR>
                    <a:lnT w="6350" cap="flat" cmpd="sng" algn="ctr">
                      <a:solidFill>
                        <a:srgbClr val="D3DFD8"/>
                      </a:solidFill>
                      <a:prstDash val="solid"/>
                      <a:round/>
                      <a:headEnd type="none" w="med" len="med"/>
                      <a:tailEnd type="none" w="med" len="med"/>
                    </a:lnT>
                    <a:lnB w="6350" cap="flat" cmpd="sng" algn="ctr">
                      <a:solidFill>
                        <a:srgbClr val="D3DFD8"/>
                      </a:solidFill>
                      <a:prstDash val="solid"/>
                      <a:round/>
                      <a:headEnd type="none" w="med" len="med"/>
                      <a:tailEnd type="none" w="med" len="med"/>
                    </a:lnB>
                    <a:solidFill>
                      <a:srgbClr val="F1F6F3"/>
                    </a:solidFill>
                  </a:tcPr>
                </a:tc>
              </a:tr>
              <a:tr h="512064">
                <a:tc>
                  <a:txBody>
                    <a:bodyPr/>
                    <a:lstStyle/>
                    <a:p>
                      <a:pPr indent="0" marL="0">
                        <a:buNone/>
                      </a:pPr>
                      <a:r>
                        <a:rPr lang="en-US" sz="1300" dirty="0">
                          <a:solidFill>
                            <a:srgbClr val="000000"/>
                          </a:solidFill>
                        </a:rPr>
                        <a:t>Brahimi et al., 2017</a:t>
                      </a:r>
                      <a:endParaRPr lang="en-US" sz="1300" dirty="0"/>
                    </a:p>
                  </a:txBody>
                  <a:tcPr marL="91440" marR="91440" marT="45720" marB="45720" anchor="ctr">
                    <a:lnL w="6350" cap="flat" cmpd="sng" algn="ctr">
                      <a:solidFill>
                        <a:srgbClr val="D3DFD8"/>
                      </a:solidFill>
                      <a:prstDash val="solid"/>
                      <a:round/>
                      <a:headEnd type="none" w="med" len="med"/>
                      <a:tailEnd type="none" w="med" len="med"/>
                    </a:lnL>
                    <a:lnR w="6350" cap="flat" cmpd="sng" algn="ctr">
                      <a:solidFill>
                        <a:srgbClr val="D3DFD8"/>
                      </a:solidFill>
                      <a:prstDash val="solid"/>
                      <a:round/>
                      <a:headEnd type="none" w="med" len="med"/>
                      <a:tailEnd type="none" w="med" len="med"/>
                    </a:lnR>
                    <a:lnT w="6350" cap="flat" cmpd="sng" algn="ctr">
                      <a:solidFill>
                        <a:srgbClr val="D3DFD8"/>
                      </a:solidFill>
                      <a:prstDash val="solid"/>
                      <a:round/>
                      <a:headEnd type="none" w="med" len="med"/>
                      <a:tailEnd type="none" w="med" len="med"/>
                    </a:lnT>
                    <a:lnB w="6350" cap="flat" cmpd="sng" algn="ctr">
                      <a:solidFill>
                        <a:srgbClr val="D3DFD8"/>
                      </a:solidFill>
                      <a:prstDash val="solid"/>
                      <a:round/>
                      <a:headEnd type="none" w="med" len="med"/>
                      <a:tailEnd type="none" w="med" len="med"/>
                    </a:lnB>
                    <a:solidFill>
                      <a:srgbClr val="FFFFFF"/>
                    </a:solidFill>
                  </a:tcPr>
                </a:tc>
                <a:tc>
                  <a:txBody>
                    <a:bodyPr/>
                    <a:lstStyle/>
                    <a:p>
                      <a:pPr indent="0" marL="0">
                        <a:buNone/>
                      </a:pPr>
                      <a:r>
                        <a:rPr lang="en-US" sz="1300" dirty="0">
                          <a:solidFill>
                            <a:srgbClr val="000000"/>
                          </a:solidFill>
                        </a:rPr>
                        <a:t>AlexNet, GoogLeNet (tomato)</a:t>
                      </a:r>
                      <a:endParaRPr lang="en-US" sz="1300" dirty="0"/>
                    </a:p>
                  </a:txBody>
                  <a:tcPr marL="91440" marR="91440" marT="45720" marB="45720" anchor="ctr">
                    <a:lnL w="6350" cap="flat" cmpd="sng" algn="ctr">
                      <a:solidFill>
                        <a:srgbClr val="D3DFD8"/>
                      </a:solidFill>
                      <a:prstDash val="solid"/>
                      <a:round/>
                      <a:headEnd type="none" w="med" len="med"/>
                      <a:tailEnd type="none" w="med" len="med"/>
                    </a:lnL>
                    <a:lnR w="6350" cap="flat" cmpd="sng" algn="ctr">
                      <a:solidFill>
                        <a:srgbClr val="D3DFD8"/>
                      </a:solidFill>
                      <a:prstDash val="solid"/>
                      <a:round/>
                      <a:headEnd type="none" w="med" len="med"/>
                      <a:tailEnd type="none" w="med" len="med"/>
                    </a:lnR>
                    <a:lnT w="6350" cap="flat" cmpd="sng" algn="ctr">
                      <a:solidFill>
                        <a:srgbClr val="D3DFD8"/>
                      </a:solidFill>
                      <a:prstDash val="solid"/>
                      <a:round/>
                      <a:headEnd type="none" w="med" len="med"/>
                      <a:tailEnd type="none" w="med" len="med"/>
                    </a:lnT>
                    <a:lnB w="6350" cap="flat" cmpd="sng" algn="ctr">
                      <a:solidFill>
                        <a:srgbClr val="D3DFD8"/>
                      </a:solidFill>
                      <a:prstDash val="solid"/>
                      <a:round/>
                      <a:headEnd type="none" w="med" len="med"/>
                      <a:tailEnd type="none" w="med" len="med"/>
                    </a:lnB>
                    <a:solidFill>
                      <a:srgbClr val="FFFFFF"/>
                    </a:solidFill>
                  </a:tcPr>
                </a:tc>
                <a:tc>
                  <a:txBody>
                    <a:bodyPr/>
                    <a:lstStyle/>
                    <a:p>
                      <a:pPr indent="0" marL="0">
                        <a:buNone/>
                      </a:pPr>
                      <a:r>
                        <a:rPr lang="en-US" sz="1300" dirty="0">
                          <a:solidFill>
                            <a:srgbClr val="000000"/>
                          </a:solidFill>
                        </a:rPr>
                        <a:t>99.18%</a:t>
                      </a:r>
                      <a:endParaRPr lang="en-US" sz="1300" dirty="0"/>
                    </a:p>
                  </a:txBody>
                  <a:tcPr marL="91440" marR="91440" marT="45720" marB="45720" anchor="ctr">
                    <a:lnL w="6350" cap="flat" cmpd="sng" algn="ctr">
                      <a:solidFill>
                        <a:srgbClr val="D3DFD8"/>
                      </a:solidFill>
                      <a:prstDash val="solid"/>
                      <a:round/>
                      <a:headEnd type="none" w="med" len="med"/>
                      <a:tailEnd type="none" w="med" len="med"/>
                    </a:lnL>
                    <a:lnR w="6350" cap="flat" cmpd="sng" algn="ctr">
                      <a:solidFill>
                        <a:srgbClr val="D3DFD8"/>
                      </a:solidFill>
                      <a:prstDash val="solid"/>
                      <a:round/>
                      <a:headEnd type="none" w="med" len="med"/>
                      <a:tailEnd type="none" w="med" len="med"/>
                    </a:lnR>
                    <a:lnT w="6350" cap="flat" cmpd="sng" algn="ctr">
                      <a:solidFill>
                        <a:srgbClr val="D3DFD8"/>
                      </a:solidFill>
                      <a:prstDash val="solid"/>
                      <a:round/>
                      <a:headEnd type="none" w="med" len="med"/>
                      <a:tailEnd type="none" w="med" len="med"/>
                    </a:lnT>
                    <a:lnB w="6350" cap="flat" cmpd="sng" algn="ctr">
                      <a:solidFill>
                        <a:srgbClr val="D3DFD8"/>
                      </a:solidFill>
                      <a:prstDash val="solid"/>
                      <a:round/>
                      <a:headEnd type="none" w="med" len="med"/>
                      <a:tailEnd type="none" w="med" len="med"/>
                    </a:lnB>
                    <a:solidFill>
                      <a:srgbClr val="FFFFFF"/>
                    </a:solidFill>
                  </a:tcPr>
                </a:tc>
                <a:tc>
                  <a:txBody>
                    <a:bodyPr/>
                    <a:lstStyle/>
                    <a:p>
                      <a:pPr indent="0" marL="0">
                        <a:buNone/>
                      </a:pPr>
                      <a:r>
                        <a:rPr lang="en-US" sz="1300" dirty="0">
                          <a:solidFill>
                            <a:srgbClr val="000000"/>
                          </a:solidFill>
                        </a:rPr>
                        <a:t>Saliency, occlusion</a:t>
                      </a:r>
                      <a:endParaRPr lang="en-US" sz="1300" dirty="0"/>
                    </a:p>
                  </a:txBody>
                  <a:tcPr marL="91440" marR="91440" marT="45720" marB="45720" anchor="ctr">
                    <a:lnL w="6350" cap="flat" cmpd="sng" algn="ctr">
                      <a:solidFill>
                        <a:srgbClr val="D3DFD8"/>
                      </a:solidFill>
                      <a:prstDash val="solid"/>
                      <a:round/>
                      <a:headEnd type="none" w="med" len="med"/>
                      <a:tailEnd type="none" w="med" len="med"/>
                    </a:lnL>
                    <a:lnR w="6350" cap="flat" cmpd="sng" algn="ctr">
                      <a:solidFill>
                        <a:srgbClr val="D3DFD8"/>
                      </a:solidFill>
                      <a:prstDash val="solid"/>
                      <a:round/>
                      <a:headEnd type="none" w="med" len="med"/>
                      <a:tailEnd type="none" w="med" len="med"/>
                    </a:lnR>
                    <a:lnT w="6350" cap="flat" cmpd="sng" algn="ctr">
                      <a:solidFill>
                        <a:srgbClr val="D3DFD8"/>
                      </a:solidFill>
                      <a:prstDash val="solid"/>
                      <a:round/>
                      <a:headEnd type="none" w="med" len="med"/>
                      <a:tailEnd type="none" w="med" len="med"/>
                    </a:lnT>
                    <a:lnB w="6350" cap="flat" cmpd="sng" algn="ctr">
                      <a:solidFill>
                        <a:srgbClr val="D3DFD8"/>
                      </a:solidFill>
                      <a:prstDash val="solid"/>
                      <a:round/>
                      <a:headEnd type="none" w="med" len="med"/>
                      <a:tailEnd type="none" w="med" len="med"/>
                    </a:lnB>
                    <a:solidFill>
                      <a:srgbClr val="FFFFFF"/>
                    </a:solidFill>
                  </a:tcPr>
                </a:tc>
                <a:tc>
                  <a:txBody>
                    <a:bodyPr/>
                    <a:lstStyle/>
                    <a:p>
                      <a:pPr indent="0" marL="0">
                        <a:buNone/>
                      </a:pPr>
                      <a:r>
                        <a:rPr lang="en-US" sz="1300" dirty="0">
                          <a:solidFill>
                            <a:srgbClr val="000000"/>
                          </a:solidFill>
                        </a:rPr>
                        <a:t>No</a:t>
                      </a:r>
                      <a:endParaRPr lang="en-US" sz="1300" dirty="0"/>
                    </a:p>
                  </a:txBody>
                  <a:tcPr marL="91440" marR="91440" marT="45720" marB="45720" anchor="ctr">
                    <a:lnL w="6350" cap="flat" cmpd="sng" algn="ctr">
                      <a:solidFill>
                        <a:srgbClr val="D3DFD8"/>
                      </a:solidFill>
                      <a:prstDash val="solid"/>
                      <a:round/>
                      <a:headEnd type="none" w="med" len="med"/>
                      <a:tailEnd type="none" w="med" len="med"/>
                    </a:lnL>
                    <a:lnR w="6350" cap="flat" cmpd="sng" algn="ctr">
                      <a:solidFill>
                        <a:srgbClr val="D3DFD8"/>
                      </a:solidFill>
                      <a:prstDash val="solid"/>
                      <a:round/>
                      <a:headEnd type="none" w="med" len="med"/>
                      <a:tailEnd type="none" w="med" len="med"/>
                    </a:lnR>
                    <a:lnT w="6350" cap="flat" cmpd="sng" algn="ctr">
                      <a:solidFill>
                        <a:srgbClr val="D3DFD8"/>
                      </a:solidFill>
                      <a:prstDash val="solid"/>
                      <a:round/>
                      <a:headEnd type="none" w="med" len="med"/>
                      <a:tailEnd type="none" w="med" len="med"/>
                    </a:lnT>
                    <a:lnB w="6350" cap="flat" cmpd="sng" algn="ctr">
                      <a:solidFill>
                        <a:srgbClr val="D3DFD8"/>
                      </a:solidFill>
                      <a:prstDash val="solid"/>
                      <a:round/>
                      <a:headEnd type="none" w="med" len="med"/>
                      <a:tailEnd type="none" w="med" len="med"/>
                    </a:lnB>
                    <a:solidFill>
                      <a:srgbClr val="FFFFFF"/>
                    </a:solidFill>
                  </a:tcPr>
                </a:tc>
              </a:tr>
              <a:tr h="512064">
                <a:tc>
                  <a:txBody>
                    <a:bodyPr/>
                    <a:lstStyle/>
                    <a:p>
                      <a:pPr indent="0" marL="0">
                        <a:buNone/>
                      </a:pPr>
                      <a:r>
                        <a:rPr lang="en-US" sz="1300" dirty="0">
                          <a:solidFill>
                            <a:srgbClr val="000000"/>
                          </a:solidFill>
                        </a:rPr>
                        <a:t>Toda and Okura, 2019</a:t>
                      </a:r>
                      <a:endParaRPr lang="en-US" sz="1300" dirty="0"/>
                    </a:p>
                  </a:txBody>
                  <a:tcPr marL="91440" marR="91440" marT="45720" marB="45720" anchor="ctr">
                    <a:lnL w="6350" cap="flat" cmpd="sng" algn="ctr">
                      <a:solidFill>
                        <a:srgbClr val="D3DFD8"/>
                      </a:solidFill>
                      <a:prstDash val="solid"/>
                      <a:round/>
                      <a:headEnd type="none" w="med" len="med"/>
                      <a:tailEnd type="none" w="med" len="med"/>
                    </a:lnL>
                    <a:lnR w="6350" cap="flat" cmpd="sng" algn="ctr">
                      <a:solidFill>
                        <a:srgbClr val="D3DFD8"/>
                      </a:solidFill>
                      <a:prstDash val="solid"/>
                      <a:round/>
                      <a:headEnd type="none" w="med" len="med"/>
                      <a:tailEnd type="none" w="med" len="med"/>
                    </a:lnR>
                    <a:lnT w="6350" cap="flat" cmpd="sng" algn="ctr">
                      <a:solidFill>
                        <a:srgbClr val="D3DFD8"/>
                      </a:solidFill>
                      <a:prstDash val="solid"/>
                      <a:round/>
                      <a:headEnd type="none" w="med" len="med"/>
                      <a:tailEnd type="none" w="med" len="med"/>
                    </a:lnT>
                    <a:lnB w="6350" cap="flat" cmpd="sng" algn="ctr">
                      <a:solidFill>
                        <a:srgbClr val="D3DFD8"/>
                      </a:solidFill>
                      <a:prstDash val="solid"/>
                      <a:round/>
                      <a:headEnd type="none" w="med" len="med"/>
                      <a:tailEnd type="none" w="med" len="med"/>
                    </a:lnB>
                    <a:solidFill>
                      <a:srgbClr val="F1F6F3"/>
                    </a:solidFill>
                  </a:tcPr>
                </a:tc>
                <a:tc>
                  <a:txBody>
                    <a:bodyPr/>
                    <a:lstStyle/>
                    <a:p>
                      <a:pPr indent="0" marL="0">
                        <a:buNone/>
                      </a:pPr>
                      <a:r>
                        <a:rPr lang="en-US" sz="1300" dirty="0">
                          <a:solidFill>
                            <a:srgbClr val="000000"/>
                          </a:solidFill>
                        </a:rPr>
                        <a:t>CNN, visualised</a:t>
                      </a:r>
                      <a:endParaRPr lang="en-US" sz="1300" dirty="0"/>
                    </a:p>
                  </a:txBody>
                  <a:tcPr marL="91440" marR="91440" marT="45720" marB="45720" anchor="ctr">
                    <a:lnL w="6350" cap="flat" cmpd="sng" algn="ctr">
                      <a:solidFill>
                        <a:srgbClr val="D3DFD8"/>
                      </a:solidFill>
                      <a:prstDash val="solid"/>
                      <a:round/>
                      <a:headEnd type="none" w="med" len="med"/>
                      <a:tailEnd type="none" w="med" len="med"/>
                    </a:lnL>
                    <a:lnR w="6350" cap="flat" cmpd="sng" algn="ctr">
                      <a:solidFill>
                        <a:srgbClr val="D3DFD8"/>
                      </a:solidFill>
                      <a:prstDash val="solid"/>
                      <a:round/>
                      <a:headEnd type="none" w="med" len="med"/>
                      <a:tailEnd type="none" w="med" len="med"/>
                    </a:lnR>
                    <a:lnT w="6350" cap="flat" cmpd="sng" algn="ctr">
                      <a:solidFill>
                        <a:srgbClr val="D3DFD8"/>
                      </a:solidFill>
                      <a:prstDash val="solid"/>
                      <a:round/>
                      <a:headEnd type="none" w="med" len="med"/>
                      <a:tailEnd type="none" w="med" len="med"/>
                    </a:lnT>
                    <a:lnB w="6350" cap="flat" cmpd="sng" algn="ctr">
                      <a:solidFill>
                        <a:srgbClr val="D3DFD8"/>
                      </a:solidFill>
                      <a:prstDash val="solid"/>
                      <a:round/>
                      <a:headEnd type="none" w="med" len="med"/>
                      <a:tailEnd type="none" w="med" len="med"/>
                    </a:lnB>
                    <a:solidFill>
                      <a:srgbClr val="F1F6F3"/>
                    </a:solidFill>
                  </a:tcPr>
                </a:tc>
                <a:tc>
                  <a:txBody>
                    <a:bodyPr/>
                    <a:lstStyle/>
                    <a:p>
                      <a:pPr indent="0" marL="0">
                        <a:buNone/>
                      </a:pPr>
                      <a:r>
                        <a:rPr lang="en-US" sz="1300" dirty="0">
                          <a:solidFill>
                            <a:srgbClr val="000000"/>
                          </a:solidFill>
                        </a:rPr>
                        <a:t>not the focus</a:t>
                      </a:r>
                      <a:endParaRPr lang="en-US" sz="1300" dirty="0"/>
                    </a:p>
                  </a:txBody>
                  <a:tcPr marL="91440" marR="91440" marT="45720" marB="45720" anchor="ctr">
                    <a:lnL w="6350" cap="flat" cmpd="sng" algn="ctr">
                      <a:solidFill>
                        <a:srgbClr val="D3DFD8"/>
                      </a:solidFill>
                      <a:prstDash val="solid"/>
                      <a:round/>
                      <a:headEnd type="none" w="med" len="med"/>
                      <a:tailEnd type="none" w="med" len="med"/>
                    </a:lnL>
                    <a:lnR w="6350" cap="flat" cmpd="sng" algn="ctr">
                      <a:solidFill>
                        <a:srgbClr val="D3DFD8"/>
                      </a:solidFill>
                      <a:prstDash val="solid"/>
                      <a:round/>
                      <a:headEnd type="none" w="med" len="med"/>
                      <a:tailEnd type="none" w="med" len="med"/>
                    </a:lnR>
                    <a:lnT w="6350" cap="flat" cmpd="sng" algn="ctr">
                      <a:solidFill>
                        <a:srgbClr val="D3DFD8"/>
                      </a:solidFill>
                      <a:prstDash val="solid"/>
                      <a:round/>
                      <a:headEnd type="none" w="med" len="med"/>
                      <a:tailEnd type="none" w="med" len="med"/>
                    </a:lnT>
                    <a:lnB w="6350" cap="flat" cmpd="sng" algn="ctr">
                      <a:solidFill>
                        <a:srgbClr val="D3DFD8"/>
                      </a:solidFill>
                      <a:prstDash val="solid"/>
                      <a:round/>
                      <a:headEnd type="none" w="med" len="med"/>
                      <a:tailEnd type="none" w="med" len="med"/>
                    </a:lnB>
                    <a:solidFill>
                      <a:srgbClr val="F1F6F3"/>
                    </a:solidFill>
                  </a:tcPr>
                </a:tc>
                <a:tc>
                  <a:txBody>
                    <a:bodyPr/>
                    <a:lstStyle/>
                    <a:p>
                      <a:pPr indent="0" marL="0">
                        <a:buNone/>
                      </a:pPr>
                      <a:r>
                        <a:rPr lang="en-US" sz="1300" dirty="0">
                          <a:solidFill>
                            <a:srgbClr val="000000"/>
                          </a:solidFill>
                        </a:rPr>
                        <a:t>Feature visualisation</a:t>
                      </a:r>
                      <a:endParaRPr lang="en-US" sz="1300" dirty="0"/>
                    </a:p>
                  </a:txBody>
                  <a:tcPr marL="91440" marR="91440" marT="45720" marB="45720" anchor="ctr">
                    <a:lnL w="6350" cap="flat" cmpd="sng" algn="ctr">
                      <a:solidFill>
                        <a:srgbClr val="D3DFD8"/>
                      </a:solidFill>
                      <a:prstDash val="solid"/>
                      <a:round/>
                      <a:headEnd type="none" w="med" len="med"/>
                      <a:tailEnd type="none" w="med" len="med"/>
                    </a:lnL>
                    <a:lnR w="6350" cap="flat" cmpd="sng" algn="ctr">
                      <a:solidFill>
                        <a:srgbClr val="D3DFD8"/>
                      </a:solidFill>
                      <a:prstDash val="solid"/>
                      <a:round/>
                      <a:headEnd type="none" w="med" len="med"/>
                      <a:tailEnd type="none" w="med" len="med"/>
                    </a:lnR>
                    <a:lnT w="6350" cap="flat" cmpd="sng" algn="ctr">
                      <a:solidFill>
                        <a:srgbClr val="D3DFD8"/>
                      </a:solidFill>
                      <a:prstDash val="solid"/>
                      <a:round/>
                      <a:headEnd type="none" w="med" len="med"/>
                      <a:tailEnd type="none" w="med" len="med"/>
                    </a:lnT>
                    <a:lnB w="6350" cap="flat" cmpd="sng" algn="ctr">
                      <a:solidFill>
                        <a:srgbClr val="D3DFD8"/>
                      </a:solidFill>
                      <a:prstDash val="solid"/>
                      <a:round/>
                      <a:headEnd type="none" w="med" len="med"/>
                      <a:tailEnd type="none" w="med" len="med"/>
                    </a:lnB>
                    <a:solidFill>
                      <a:srgbClr val="F1F6F3"/>
                    </a:solidFill>
                  </a:tcPr>
                </a:tc>
                <a:tc>
                  <a:txBody>
                    <a:bodyPr/>
                    <a:lstStyle/>
                    <a:p>
                      <a:pPr indent="0" marL="0">
                        <a:buNone/>
                      </a:pPr>
                      <a:r>
                        <a:rPr lang="en-US" sz="1300" dirty="0">
                          <a:solidFill>
                            <a:srgbClr val="000000"/>
                          </a:solidFill>
                        </a:rPr>
                        <a:t>Qualitative only</a:t>
                      </a:r>
                      <a:endParaRPr lang="en-US" sz="1300" dirty="0"/>
                    </a:p>
                  </a:txBody>
                  <a:tcPr marL="91440" marR="91440" marT="45720" marB="45720" anchor="ctr">
                    <a:lnL w="6350" cap="flat" cmpd="sng" algn="ctr">
                      <a:solidFill>
                        <a:srgbClr val="D3DFD8"/>
                      </a:solidFill>
                      <a:prstDash val="solid"/>
                      <a:round/>
                      <a:headEnd type="none" w="med" len="med"/>
                      <a:tailEnd type="none" w="med" len="med"/>
                    </a:lnL>
                    <a:lnR w="6350" cap="flat" cmpd="sng" algn="ctr">
                      <a:solidFill>
                        <a:srgbClr val="D3DFD8"/>
                      </a:solidFill>
                      <a:prstDash val="solid"/>
                      <a:round/>
                      <a:headEnd type="none" w="med" len="med"/>
                      <a:tailEnd type="none" w="med" len="med"/>
                    </a:lnR>
                    <a:lnT w="6350" cap="flat" cmpd="sng" algn="ctr">
                      <a:solidFill>
                        <a:srgbClr val="D3DFD8"/>
                      </a:solidFill>
                      <a:prstDash val="solid"/>
                      <a:round/>
                      <a:headEnd type="none" w="med" len="med"/>
                      <a:tailEnd type="none" w="med" len="med"/>
                    </a:lnT>
                    <a:lnB w="6350" cap="flat" cmpd="sng" algn="ctr">
                      <a:solidFill>
                        <a:srgbClr val="D3DFD8"/>
                      </a:solidFill>
                      <a:prstDash val="solid"/>
                      <a:round/>
                      <a:headEnd type="none" w="med" len="med"/>
                      <a:tailEnd type="none" w="med" len="med"/>
                    </a:lnB>
                    <a:solidFill>
                      <a:srgbClr val="F1F6F3"/>
                    </a:solidFill>
                  </a:tcPr>
                </a:tc>
              </a:tr>
              <a:tr h="512064">
                <a:tc>
                  <a:txBody>
                    <a:bodyPr/>
                    <a:lstStyle/>
                    <a:p>
                      <a:pPr indent="0" marL="0">
                        <a:buNone/>
                      </a:pPr>
                      <a:r>
                        <a:rPr lang="en-US" sz="1300" b="1" dirty="0">
                          <a:solidFill>
                            <a:srgbClr val="000000"/>
                          </a:solidFill>
                        </a:rPr>
                        <a:t>PhytoShield AI (ours)</a:t>
                      </a:r>
                      <a:endParaRPr lang="en-US" sz="1300" dirty="0"/>
                    </a:p>
                  </a:txBody>
                  <a:tcPr marL="91440" marR="91440" marT="45720" marB="45720" anchor="ctr">
                    <a:lnL w="6350" cap="flat" cmpd="sng" algn="ctr">
                      <a:solidFill>
                        <a:srgbClr val="D3DFD8"/>
                      </a:solidFill>
                      <a:prstDash val="solid"/>
                      <a:round/>
                      <a:headEnd type="none" w="med" len="med"/>
                      <a:tailEnd type="none" w="med" len="med"/>
                    </a:lnL>
                    <a:lnR w="6350" cap="flat" cmpd="sng" algn="ctr">
                      <a:solidFill>
                        <a:srgbClr val="D3DFD8"/>
                      </a:solidFill>
                      <a:prstDash val="solid"/>
                      <a:round/>
                      <a:headEnd type="none" w="med" len="med"/>
                      <a:tailEnd type="none" w="med" len="med"/>
                    </a:lnR>
                    <a:lnT w="6350" cap="flat" cmpd="sng" algn="ctr">
                      <a:solidFill>
                        <a:srgbClr val="D3DFD8"/>
                      </a:solidFill>
                      <a:prstDash val="solid"/>
                      <a:round/>
                      <a:headEnd type="none" w="med" len="med"/>
                      <a:tailEnd type="none" w="med" len="med"/>
                    </a:lnT>
                    <a:lnB w="6350" cap="flat" cmpd="sng" algn="ctr">
                      <a:solidFill>
                        <a:srgbClr val="D3DFD8"/>
                      </a:solidFill>
                      <a:prstDash val="solid"/>
                      <a:round/>
                      <a:headEnd type="none" w="med" len="med"/>
                      <a:tailEnd type="none" w="med" len="med"/>
                    </a:lnB>
                    <a:solidFill>
                      <a:srgbClr val="DCEFE4"/>
                    </a:solidFill>
                  </a:tcPr>
                </a:tc>
                <a:tc>
                  <a:txBody>
                    <a:bodyPr/>
                    <a:lstStyle/>
                    <a:p>
                      <a:pPr indent="0" marL="0">
                        <a:buNone/>
                      </a:pPr>
                      <a:r>
                        <a:rPr lang="en-US" sz="1300" b="1" dirty="0">
                          <a:solidFill>
                            <a:srgbClr val="000000"/>
                          </a:solidFill>
                        </a:rPr>
                        <a:t>EfficientNet-B0</a:t>
                      </a:r>
                      <a:endParaRPr lang="en-US" sz="1300" dirty="0"/>
                    </a:p>
                  </a:txBody>
                  <a:tcPr marL="91440" marR="91440" marT="45720" marB="45720" anchor="ctr">
                    <a:lnL w="6350" cap="flat" cmpd="sng" algn="ctr">
                      <a:solidFill>
                        <a:srgbClr val="D3DFD8"/>
                      </a:solidFill>
                      <a:prstDash val="solid"/>
                      <a:round/>
                      <a:headEnd type="none" w="med" len="med"/>
                      <a:tailEnd type="none" w="med" len="med"/>
                    </a:lnL>
                    <a:lnR w="6350" cap="flat" cmpd="sng" algn="ctr">
                      <a:solidFill>
                        <a:srgbClr val="D3DFD8"/>
                      </a:solidFill>
                      <a:prstDash val="solid"/>
                      <a:round/>
                      <a:headEnd type="none" w="med" len="med"/>
                      <a:tailEnd type="none" w="med" len="med"/>
                    </a:lnR>
                    <a:lnT w="6350" cap="flat" cmpd="sng" algn="ctr">
                      <a:solidFill>
                        <a:srgbClr val="D3DFD8"/>
                      </a:solidFill>
                      <a:prstDash val="solid"/>
                      <a:round/>
                      <a:headEnd type="none" w="med" len="med"/>
                      <a:tailEnd type="none" w="med" len="med"/>
                    </a:lnT>
                    <a:lnB w="6350" cap="flat" cmpd="sng" algn="ctr">
                      <a:solidFill>
                        <a:srgbClr val="D3DFD8"/>
                      </a:solidFill>
                      <a:prstDash val="solid"/>
                      <a:round/>
                      <a:headEnd type="none" w="med" len="med"/>
                      <a:tailEnd type="none" w="med" len="med"/>
                    </a:lnB>
                    <a:solidFill>
                      <a:srgbClr val="DCEFE4"/>
                    </a:solidFill>
                  </a:tcPr>
                </a:tc>
                <a:tc>
                  <a:txBody>
                    <a:bodyPr/>
                    <a:lstStyle/>
                    <a:p>
                      <a:pPr indent="0" marL="0">
                        <a:buNone/>
                      </a:pPr>
                      <a:r>
                        <a:rPr lang="en-US" sz="1300" b="1" dirty="0">
                          <a:solidFill>
                            <a:srgbClr val="000000"/>
                          </a:solidFill>
                        </a:rPr>
                        <a:t>98.13% (de-duplicated)</a:t>
                      </a:r>
                      <a:endParaRPr lang="en-US" sz="1300" dirty="0"/>
                    </a:p>
                  </a:txBody>
                  <a:tcPr marL="91440" marR="91440" marT="45720" marB="45720" anchor="ctr">
                    <a:lnL w="6350" cap="flat" cmpd="sng" algn="ctr">
                      <a:solidFill>
                        <a:srgbClr val="D3DFD8"/>
                      </a:solidFill>
                      <a:prstDash val="solid"/>
                      <a:round/>
                      <a:headEnd type="none" w="med" len="med"/>
                      <a:tailEnd type="none" w="med" len="med"/>
                    </a:lnL>
                    <a:lnR w="6350" cap="flat" cmpd="sng" algn="ctr">
                      <a:solidFill>
                        <a:srgbClr val="D3DFD8"/>
                      </a:solidFill>
                      <a:prstDash val="solid"/>
                      <a:round/>
                      <a:headEnd type="none" w="med" len="med"/>
                      <a:tailEnd type="none" w="med" len="med"/>
                    </a:lnR>
                    <a:lnT w="6350" cap="flat" cmpd="sng" algn="ctr">
                      <a:solidFill>
                        <a:srgbClr val="D3DFD8"/>
                      </a:solidFill>
                      <a:prstDash val="solid"/>
                      <a:round/>
                      <a:headEnd type="none" w="med" len="med"/>
                      <a:tailEnd type="none" w="med" len="med"/>
                    </a:lnT>
                    <a:lnB w="6350" cap="flat" cmpd="sng" algn="ctr">
                      <a:solidFill>
                        <a:srgbClr val="D3DFD8"/>
                      </a:solidFill>
                      <a:prstDash val="solid"/>
                      <a:round/>
                      <a:headEnd type="none" w="med" len="med"/>
                      <a:tailEnd type="none" w="med" len="med"/>
                    </a:lnB>
                    <a:solidFill>
                      <a:srgbClr val="DCEFE4"/>
                    </a:solidFill>
                  </a:tcPr>
                </a:tc>
                <a:tc>
                  <a:txBody>
                    <a:bodyPr/>
                    <a:lstStyle/>
                    <a:p>
                      <a:pPr indent="0" marL="0">
                        <a:buNone/>
                      </a:pPr>
                      <a:r>
                        <a:rPr lang="en-US" sz="1300" b="1" dirty="0">
                          <a:solidFill>
                            <a:srgbClr val="000000"/>
                          </a:solidFill>
                        </a:rPr>
                        <a:t>7 engines + counterfactual</a:t>
                      </a:r>
                      <a:endParaRPr lang="en-US" sz="1300" dirty="0"/>
                    </a:p>
                  </a:txBody>
                  <a:tcPr marL="91440" marR="91440" marT="45720" marB="45720" anchor="ctr">
                    <a:lnL w="6350" cap="flat" cmpd="sng" algn="ctr">
                      <a:solidFill>
                        <a:srgbClr val="D3DFD8"/>
                      </a:solidFill>
                      <a:prstDash val="solid"/>
                      <a:round/>
                      <a:headEnd type="none" w="med" len="med"/>
                      <a:tailEnd type="none" w="med" len="med"/>
                    </a:lnL>
                    <a:lnR w="6350" cap="flat" cmpd="sng" algn="ctr">
                      <a:solidFill>
                        <a:srgbClr val="D3DFD8"/>
                      </a:solidFill>
                      <a:prstDash val="solid"/>
                      <a:round/>
                      <a:headEnd type="none" w="med" len="med"/>
                      <a:tailEnd type="none" w="med" len="med"/>
                    </a:lnR>
                    <a:lnT w="6350" cap="flat" cmpd="sng" algn="ctr">
                      <a:solidFill>
                        <a:srgbClr val="D3DFD8"/>
                      </a:solidFill>
                      <a:prstDash val="solid"/>
                      <a:round/>
                      <a:headEnd type="none" w="med" len="med"/>
                      <a:tailEnd type="none" w="med" len="med"/>
                    </a:lnT>
                    <a:lnB w="6350" cap="flat" cmpd="sng" algn="ctr">
                      <a:solidFill>
                        <a:srgbClr val="D3DFD8"/>
                      </a:solidFill>
                      <a:prstDash val="solid"/>
                      <a:round/>
                      <a:headEnd type="none" w="med" len="med"/>
                      <a:tailEnd type="none" w="med" len="med"/>
                    </a:lnB>
                    <a:solidFill>
                      <a:srgbClr val="DCEFE4"/>
                    </a:solidFill>
                  </a:tcPr>
                </a:tc>
                <a:tc>
                  <a:txBody>
                    <a:bodyPr/>
                    <a:lstStyle/>
                    <a:p>
                      <a:pPr indent="0" marL="0">
                        <a:buNone/>
                      </a:pPr>
                      <a:r>
                        <a:rPr lang="en-US" sz="1300" b="1" dirty="0">
                          <a:solidFill>
                            <a:srgbClr val="000000"/>
                          </a:solidFill>
                        </a:rPr>
                        <a:t>Yes: 6 metrics vs random</a:t>
                      </a:r>
                      <a:endParaRPr lang="en-US" sz="1300" dirty="0"/>
                    </a:p>
                  </a:txBody>
                  <a:tcPr marL="91440" marR="91440" marT="45720" marB="45720" anchor="ctr">
                    <a:lnL w="6350" cap="flat" cmpd="sng" algn="ctr">
                      <a:solidFill>
                        <a:srgbClr val="D3DFD8"/>
                      </a:solidFill>
                      <a:prstDash val="solid"/>
                      <a:round/>
                      <a:headEnd type="none" w="med" len="med"/>
                      <a:tailEnd type="none" w="med" len="med"/>
                    </a:lnL>
                    <a:lnR w="6350" cap="flat" cmpd="sng" algn="ctr">
                      <a:solidFill>
                        <a:srgbClr val="D3DFD8"/>
                      </a:solidFill>
                      <a:prstDash val="solid"/>
                      <a:round/>
                      <a:headEnd type="none" w="med" len="med"/>
                      <a:tailEnd type="none" w="med" len="med"/>
                    </a:lnR>
                    <a:lnT w="6350" cap="flat" cmpd="sng" algn="ctr">
                      <a:solidFill>
                        <a:srgbClr val="D3DFD8"/>
                      </a:solidFill>
                      <a:prstDash val="solid"/>
                      <a:round/>
                      <a:headEnd type="none" w="med" len="med"/>
                      <a:tailEnd type="none" w="med" len="med"/>
                    </a:lnT>
                    <a:lnB w="6350" cap="flat" cmpd="sng" algn="ctr">
                      <a:solidFill>
                        <a:srgbClr val="D3DFD8"/>
                      </a:solidFill>
                      <a:prstDash val="solid"/>
                      <a:round/>
                      <a:headEnd type="none" w="med" len="med"/>
                      <a:tailEnd type="none" w="med" len="med"/>
                    </a:lnB>
                    <a:solidFill>
                      <a:srgbClr val="DCEFE4"/>
                    </a:solidFill>
                  </a:tcPr>
                </a:tc>
              </a:tr>
            </a:tbl>
          </a:graphicData>
        </a:graphic>
      </p:graphicFrame>
      <p:sp>
        <p:nvSpPr>
          <p:cNvPr id="5" name="card-387"/>
          <p:cNvSpPr/>
          <p:nvPr/>
        </p:nvSpPr>
        <p:spPr>
          <a:xfrm>
            <a:off x="457200" y="4343400"/>
            <a:ext cx="8229600" cy="365760"/>
          </a:xfrm>
          <a:prstGeom prst="roundRect">
            <a:avLst>
              <a:gd name="adj" fmla="val 20000"/>
            </a:avLst>
          </a:prstGeom>
          <a:solidFill>
            <a:srgbClr val="F1F6F3"/>
          </a:solidFill>
          <a:ln w="12700">
            <a:solidFill>
              <a:srgbClr val="F1F6F3"/>
            </a:solidFill>
            <a:prstDash val="solid"/>
          </a:ln>
        </p:spPr>
      </p:sp>
      <p:sp>
        <p:nvSpPr>
          <p:cNvPr id="6" name="text-388"/>
          <p:cNvSpPr txBox="1"/>
          <p:nvPr/>
        </p:nvSpPr>
        <p:spPr>
          <a:xfrm>
            <a:off x="594360" y="4343400"/>
            <a:ext cx="7955280" cy="365760"/>
          </a:xfrm>
          <a:prstGeom prst="rect">
            <a:avLst/>
          </a:prstGeom>
          <a:noFill/>
          <a:ln/>
        </p:spPr>
        <p:txBody>
          <a:bodyPr wrap="square" lIns="0" tIns="0" rIns="0" bIns="0" rtlCol="0" anchor="ctr"/>
          <a:lstStyle/>
          <a:p>
            <a:pPr indent="0" marL="0">
              <a:buNone/>
            </a:pPr>
            <a:r>
              <a:rPr lang="en-US" sz="1100" dirty="0">
                <a:solidFill>
                  <a:schemeClr val="accent6"/>
                </a:solidFill>
              </a:rPr>
              <a:t>Accuracies are as reported by each paper on its own data and splits, so they are not directly comparable. Check against the original papers before citing.</a:t>
            </a:r>
            <a:endParaRPr lang="en-US" sz="1100" dirty="0"/>
          </a:p>
        </p:txBody>
      </p:sp>
      <p:sp>
        <p:nvSpPr>
          <p:cNvPr id="25" name="Slide Number Placeholder 0"/>
          <p:cNvSpPr>
            <a:spLocks noGrp="1"/>
          </p:cNvSpPr>
          <p:nvPr>
            <p:ph type="sldNum" sz="quarter" idx="4294967295"/>
          </p:nvPr>
        </p:nvSpPr>
        <p:spPr>
          <a:xfrm>
            <a:off x="8229600" y="4828032"/>
            <a:ext cx="457200" cy="22860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defRPr>
            </a:lvl1pPr>
          </a:lstStyle>
          <a:p>
            <a:pPr algn="r"/>
            <a:fld id="{F7021451-1387-4CA6-816F-3879F97B5CBC}" type="slidenum">
              <a:rPr b="0" lang="en-US"/>
              <a:t>29</a:t>
            </a:fld>
            <a:endParaRPr lang="en-US"/>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name="Slide 30">
    <p:spTree>
      <p:nvGrpSpPr>
        <p:cNvPr id="1" name=""/>
        <p:cNvGrpSpPr/>
        <p:nvPr/>
      </p:nvGrpSpPr>
      <p:grpSpPr>
        <a:xfrm>
          <a:off x="0" y="0"/>
          <a:ext cx="0" cy="0"/>
          <a:chOff x="0" y="0"/>
          <a:chExt cx="0" cy="0"/>
        </a:xfrm>
      </p:grpSpPr>
      <p:sp>
        <p:nvSpPr>
          <p:cNvPr id="2" name="Text 0"/>
          <p:cNvSpPr/>
          <p:nvPr>
            <p:ph idx="100" type="title" hasCustomPrompt="1"/>
          </p:nvPr>
        </p:nvSpPr>
        <p:spPr>
          <a:xfrm>
            <a:off x="457200" y="256032"/>
            <a:ext cx="8229600" cy="685800"/>
          </a:xfrm>
          <a:prstGeom prst="rect">
            <a:avLst/>
          </a:prstGeom>
          <a:noFill/>
          <a:ln/>
        </p:spPr>
        <p:txBody>
          <a:bodyPr wrap="square" lIns="0" tIns="0" rIns="0" bIns="0" rtlCol="0" anchor="ctr"/>
          <a:lstStyle/>
          <a:p>
            <a:pPr algn="l" indent="0" marL="0">
              <a:buNone/>
            </a:pPr>
            <a:r>
              <a:rPr lang="en-US" sz="2800" b="1" dirty="0">
                <a:solidFill>
                  <a:schemeClr val="tx1"/>
                </a:solidFill>
              </a:rPr>
              <a:t>Honest limits and next steps</a:t>
            </a:r>
            <a:endParaRPr lang="en-US" sz="2800" dirty="0"/>
          </a:p>
        </p:txBody>
      </p:sp>
      <p:sp>
        <p:nvSpPr>
          <p:cNvPr id="4" name="card-389"/>
          <p:cNvSpPr/>
          <p:nvPr/>
        </p:nvSpPr>
        <p:spPr>
          <a:xfrm>
            <a:off x="457200" y="1097280"/>
            <a:ext cx="4023360" cy="2606040"/>
          </a:xfrm>
          <a:prstGeom prst="roundRect">
            <a:avLst>
              <a:gd name="adj" fmla="val 2807"/>
            </a:avLst>
          </a:prstGeom>
          <a:solidFill>
            <a:schemeClr val="bg2"/>
          </a:solidFill>
          <a:ln w="12700">
            <a:solidFill>
              <a:schemeClr val="bg2"/>
            </a:solidFill>
            <a:prstDash val="solid"/>
          </a:ln>
        </p:spPr>
      </p:sp>
      <p:sp>
        <p:nvSpPr>
          <p:cNvPr id="5" name="text-390"/>
          <p:cNvSpPr txBox="1"/>
          <p:nvPr/>
        </p:nvSpPr>
        <p:spPr>
          <a:xfrm>
            <a:off x="640080" y="1207008"/>
            <a:ext cx="3657600" cy="2468880"/>
          </a:xfrm>
          <a:prstGeom prst="rect">
            <a:avLst/>
          </a:prstGeom>
          <a:noFill/>
          <a:ln/>
        </p:spPr>
        <p:txBody>
          <a:bodyPr wrap="square" lIns="0" tIns="0" rIns="0" bIns="0" rtlCol="0" anchor="t"/>
          <a:lstStyle/>
          <a:p>
            <a:pPr indent="0" marL="0">
              <a:spcAft>
                <a:spcPts val="800"/>
              </a:spcAft>
              <a:buNone/>
            </a:pPr>
            <a:r>
              <a:rPr lang="en-US" sz="1600" b="1" dirty="0">
                <a:solidFill>
                  <a:schemeClr val="accent4"/>
                </a:solidFill>
              </a:rPr>
              <a:t>Limits</a:t>
            </a:r>
            <a:endParaRPr lang="en-US" sz="1400" dirty="0"/>
          </a:p>
          <a:p>
            <a:pPr marL="342900" indent="-342900">
              <a:spcAft>
                <a:spcPts val="600"/>
              </a:spcAft>
              <a:buSzPct val="100000"/>
              <a:buChar char="•"/>
            </a:pPr>
            <a:r>
              <a:rPr lang="en-US" sz="1400" dirty="0">
                <a:solidFill>
                  <a:schemeClr val="tx1"/>
                </a:solidFill>
              </a:rPr>
              <a:t>Only identical copies removed; near-duplicates may remain</a:t>
            </a:r>
            <a:endParaRPr lang="en-US" sz="1400" dirty="0"/>
          </a:p>
          <a:p>
            <a:pPr marL="342900" indent="-342900">
              <a:spcAft>
                <a:spcPts val="600"/>
              </a:spcAft>
              <a:buSzPct val="100000"/>
              <a:buChar char="•"/>
            </a:pPr>
            <a:r>
              <a:rPr lang="en-US" sz="1400" dirty="0">
                <a:solidFill>
                  <a:schemeClr val="tx1"/>
                </a:solidFill>
              </a:rPr>
              <a:t>Lab-style photos: field performance untested</a:t>
            </a:r>
            <a:endParaRPr lang="en-US" sz="1400" dirty="0"/>
          </a:p>
          <a:p>
            <a:pPr marL="342900" indent="-342900">
              <a:spcAft>
                <a:spcPts val="600"/>
              </a:spcAft>
              <a:buSzPct val="100000"/>
              <a:buChar char="•"/>
            </a:pPr>
            <a:r>
              <a:rPr lang="en-US" sz="1400" dirty="0">
                <a:solidFill>
                  <a:schemeClr val="tx1"/>
                </a:solidFill>
              </a:rPr>
              <a:t>Fragile to noise and blur</a:t>
            </a:r>
            <a:endParaRPr lang="en-US" sz="1400" dirty="0"/>
          </a:p>
          <a:p>
            <a:pPr marL="342900" indent="-342900">
              <a:spcAft>
                <a:spcPts val="600"/>
              </a:spcAft>
              <a:buSzPct val="100000"/>
              <a:buChar char="•"/>
            </a:pPr>
            <a:r>
              <a:rPr lang="en-US" sz="1400" dirty="0">
                <a:solidFill>
                  <a:schemeClr val="tx1"/>
                </a:solidFill>
              </a:rPr>
              <a:t>Faithfulness about 58% against 50% for random</a:t>
            </a:r>
            <a:endParaRPr lang="en-US" sz="1400" dirty="0"/>
          </a:p>
          <a:p>
            <a:pPr marL="342900" indent="-342900">
              <a:spcAft>
                <a:spcPts val="600"/>
              </a:spcAft>
              <a:buSzPct val="100000"/>
              <a:buChar char="•"/>
            </a:pPr>
            <a:r>
              <a:rPr lang="en-US" sz="1400" dirty="0">
                <a:solidFill>
                  <a:schemeClr val="tx1"/>
                </a:solidFill>
              </a:rPr>
              <a:t>Expert ratings still pending</a:t>
            </a:r>
            <a:endParaRPr lang="en-US" sz="1400" dirty="0"/>
          </a:p>
        </p:txBody>
      </p:sp>
      <p:sp>
        <p:nvSpPr>
          <p:cNvPr id="6" name="card-391"/>
          <p:cNvSpPr/>
          <p:nvPr/>
        </p:nvSpPr>
        <p:spPr>
          <a:xfrm>
            <a:off x="4663440" y="1097280"/>
            <a:ext cx="4023360" cy="2606040"/>
          </a:xfrm>
          <a:prstGeom prst="roundRect">
            <a:avLst>
              <a:gd name="adj" fmla="val 2807"/>
            </a:avLst>
          </a:prstGeom>
          <a:solidFill>
            <a:schemeClr val="bg2"/>
          </a:solidFill>
          <a:ln w="12700">
            <a:solidFill>
              <a:schemeClr val="bg2"/>
            </a:solidFill>
            <a:prstDash val="solid"/>
          </a:ln>
        </p:spPr>
      </p:sp>
      <p:sp>
        <p:nvSpPr>
          <p:cNvPr id="7" name="text-392"/>
          <p:cNvSpPr txBox="1"/>
          <p:nvPr/>
        </p:nvSpPr>
        <p:spPr>
          <a:xfrm>
            <a:off x="4846320" y="1207008"/>
            <a:ext cx="3657600" cy="2468880"/>
          </a:xfrm>
          <a:prstGeom prst="rect">
            <a:avLst/>
          </a:prstGeom>
          <a:noFill/>
          <a:ln/>
        </p:spPr>
        <p:txBody>
          <a:bodyPr wrap="square" lIns="0" tIns="0" rIns="0" bIns="0" rtlCol="0" anchor="t"/>
          <a:lstStyle/>
          <a:p>
            <a:pPr indent="0" marL="0">
              <a:spcAft>
                <a:spcPts val="800"/>
              </a:spcAft>
              <a:buNone/>
            </a:pPr>
            <a:r>
              <a:rPr lang="en-US" sz="1600" b="1" dirty="0">
                <a:solidFill>
                  <a:schemeClr val="accent1"/>
                </a:solidFill>
              </a:rPr>
              <a:t>Next steps</a:t>
            </a:r>
            <a:endParaRPr lang="en-US" sz="1400" dirty="0"/>
          </a:p>
          <a:p>
            <a:pPr marL="342900" indent="-342900">
              <a:spcAft>
                <a:spcPts val="600"/>
              </a:spcAft>
              <a:buSzPct val="100000"/>
              <a:buChar char="•"/>
            </a:pPr>
            <a:r>
              <a:rPr lang="en-US" sz="1400" dirty="0">
                <a:solidFill>
                  <a:schemeClr val="tx1"/>
                </a:solidFill>
              </a:rPr>
              <a:t>Train on all 38 classes (about 54,300 images)</a:t>
            </a:r>
            <a:endParaRPr lang="en-US" sz="1400" dirty="0"/>
          </a:p>
          <a:p>
            <a:pPr marL="342900" indent="-342900">
              <a:spcAft>
                <a:spcPts val="600"/>
              </a:spcAft>
              <a:buSzPct val="100000"/>
              <a:buChar char="•"/>
            </a:pPr>
            <a:r>
              <a:rPr lang="en-US" sz="1400" dirty="0">
                <a:solidFill>
                  <a:schemeClr val="tx1"/>
                </a:solidFill>
              </a:rPr>
              <a:t>Add field photos, noise and blur augmentation</a:t>
            </a:r>
            <a:endParaRPr lang="en-US" sz="1400" dirty="0"/>
          </a:p>
          <a:p>
            <a:pPr marL="342900" indent="-342900">
              <a:spcAft>
                <a:spcPts val="600"/>
              </a:spcAft>
              <a:buSzPct val="100000"/>
              <a:buChar char="•"/>
            </a:pPr>
            <a:r>
              <a:rPr lang="en-US" sz="1400" dirty="0">
                <a:solidFill>
                  <a:schemeClr val="tx1"/>
                </a:solidFill>
              </a:rPr>
              <a:t>Detect near-duplicate photos</a:t>
            </a:r>
            <a:endParaRPr lang="en-US" sz="1400" dirty="0"/>
          </a:p>
          <a:p>
            <a:pPr marL="342900" indent="-342900">
              <a:spcAft>
                <a:spcPts val="600"/>
              </a:spcAft>
              <a:buSzPct val="100000"/>
              <a:buChar char="•"/>
            </a:pPr>
            <a:r>
              <a:rPr lang="en-US" sz="1400" dirty="0">
                <a:solidFill>
                  <a:schemeClr val="tx1"/>
                </a:solidFill>
              </a:rPr>
              <a:t>Expert lesion masks and expert ratings</a:t>
            </a:r>
            <a:endParaRPr lang="en-US" sz="1400" dirty="0"/>
          </a:p>
          <a:p>
            <a:pPr marL="342900" indent="-342900">
              <a:spcAft>
                <a:spcPts val="600"/>
              </a:spcAft>
              <a:buSzPct val="100000"/>
              <a:buChar char="•"/>
            </a:pPr>
            <a:r>
              <a:rPr lang="en-US" sz="1400" dirty="0">
                <a:solidFill>
                  <a:schemeClr val="tx1"/>
                </a:solidFill>
              </a:rPr>
              <a:t>Compare more backbones once trained</a:t>
            </a:r>
            <a:endParaRPr lang="en-US" sz="1400" dirty="0"/>
          </a:p>
        </p:txBody>
      </p:sp>
      <p:sp>
        <p:nvSpPr>
          <p:cNvPr id="8" name="road-393"/>
          <p:cNvSpPr/>
          <p:nvPr/>
        </p:nvSpPr>
        <p:spPr>
          <a:xfrm>
            <a:off x="457200" y="3931920"/>
            <a:ext cx="1965960" cy="685800"/>
          </a:xfrm>
          <a:prstGeom prst="homePlate">
            <a:avLst/>
          </a:prstGeom>
          <a:solidFill>
            <a:schemeClr val="tx2"/>
          </a:solidFill>
          <a:ln w="12700">
            <a:solidFill>
              <a:schemeClr val="bg1"/>
            </a:solidFill>
            <a:prstDash val="solid"/>
          </a:ln>
        </p:spPr>
      </p:sp>
      <p:sp>
        <p:nvSpPr>
          <p:cNvPr id="9" name="text-394"/>
          <p:cNvSpPr txBox="1"/>
          <p:nvPr/>
        </p:nvSpPr>
        <p:spPr>
          <a:xfrm>
            <a:off x="566928" y="3931920"/>
            <a:ext cx="1600200" cy="685800"/>
          </a:xfrm>
          <a:prstGeom prst="rect">
            <a:avLst/>
          </a:prstGeom>
          <a:noFill/>
          <a:ln/>
        </p:spPr>
        <p:txBody>
          <a:bodyPr wrap="square" lIns="0" tIns="0" rIns="0" bIns="0" rtlCol="0" anchor="ctr"/>
          <a:lstStyle/>
          <a:p>
            <a:pPr indent="0" marL="0">
              <a:buNone/>
            </a:pPr>
            <a:r>
              <a:rPr lang="en-US" sz="1300" b="1" dirty="0">
                <a:solidFill>
                  <a:schemeClr val="bg1"/>
                </a:solidFill>
              </a:rPr>
              <a:t>Now: 15 classes</a:t>
            </a:r>
            <a:endParaRPr lang="en-US" sz="1300" dirty="0"/>
          </a:p>
        </p:txBody>
      </p:sp>
      <p:sp>
        <p:nvSpPr>
          <p:cNvPr id="10" name="road-395"/>
          <p:cNvSpPr/>
          <p:nvPr/>
        </p:nvSpPr>
        <p:spPr>
          <a:xfrm>
            <a:off x="2542032" y="3931920"/>
            <a:ext cx="1965960" cy="685800"/>
          </a:xfrm>
          <a:prstGeom prst="homePlate">
            <a:avLst/>
          </a:prstGeom>
          <a:solidFill>
            <a:schemeClr val="accent1"/>
          </a:solidFill>
          <a:ln w="12700">
            <a:solidFill>
              <a:schemeClr val="bg1"/>
            </a:solidFill>
            <a:prstDash val="solid"/>
          </a:ln>
        </p:spPr>
      </p:sp>
      <p:sp>
        <p:nvSpPr>
          <p:cNvPr id="11" name="text-396"/>
          <p:cNvSpPr txBox="1"/>
          <p:nvPr/>
        </p:nvSpPr>
        <p:spPr>
          <a:xfrm>
            <a:off x="2651760" y="3931920"/>
            <a:ext cx="1600200" cy="685800"/>
          </a:xfrm>
          <a:prstGeom prst="rect">
            <a:avLst/>
          </a:prstGeom>
          <a:noFill/>
          <a:ln/>
        </p:spPr>
        <p:txBody>
          <a:bodyPr wrap="square" lIns="0" tIns="0" rIns="0" bIns="0" rtlCol="0" anchor="ctr"/>
          <a:lstStyle/>
          <a:p>
            <a:pPr indent="0" marL="0">
              <a:buNone/>
            </a:pPr>
            <a:r>
              <a:rPr lang="en-US" sz="1300" b="1" dirty="0">
                <a:solidFill>
                  <a:schemeClr val="bg1"/>
                </a:solidFill>
              </a:rPr>
              <a:t>Next: all 38 classes</a:t>
            </a:r>
            <a:endParaRPr lang="en-US" sz="1300" dirty="0"/>
          </a:p>
        </p:txBody>
      </p:sp>
      <p:sp>
        <p:nvSpPr>
          <p:cNvPr id="12" name="road-397"/>
          <p:cNvSpPr/>
          <p:nvPr/>
        </p:nvSpPr>
        <p:spPr>
          <a:xfrm>
            <a:off x="4626864" y="3931920"/>
            <a:ext cx="1965960" cy="685800"/>
          </a:xfrm>
          <a:prstGeom prst="homePlate">
            <a:avLst/>
          </a:prstGeom>
          <a:solidFill>
            <a:schemeClr val="accent3"/>
          </a:solidFill>
          <a:ln w="12700">
            <a:solidFill>
              <a:schemeClr val="bg1"/>
            </a:solidFill>
            <a:prstDash val="solid"/>
          </a:ln>
        </p:spPr>
      </p:sp>
      <p:sp>
        <p:nvSpPr>
          <p:cNvPr id="13" name="text-398"/>
          <p:cNvSpPr txBox="1"/>
          <p:nvPr/>
        </p:nvSpPr>
        <p:spPr>
          <a:xfrm>
            <a:off x="4736592" y="3931920"/>
            <a:ext cx="1600200" cy="685800"/>
          </a:xfrm>
          <a:prstGeom prst="rect">
            <a:avLst/>
          </a:prstGeom>
          <a:noFill/>
          <a:ln/>
        </p:spPr>
        <p:txBody>
          <a:bodyPr wrap="square" lIns="0" tIns="0" rIns="0" bIns="0" rtlCol="0" anchor="ctr"/>
          <a:lstStyle/>
          <a:p>
            <a:pPr indent="0" marL="0">
              <a:buNone/>
            </a:pPr>
            <a:r>
              <a:rPr lang="en-US" sz="1300" b="1" dirty="0">
                <a:solidFill>
                  <a:schemeClr val="bg1"/>
                </a:solidFill>
              </a:rPr>
              <a:t>Then: field photos</a:t>
            </a:r>
            <a:endParaRPr lang="en-US" sz="1300" dirty="0"/>
          </a:p>
        </p:txBody>
      </p:sp>
      <p:sp>
        <p:nvSpPr>
          <p:cNvPr id="14" name="road-399"/>
          <p:cNvSpPr/>
          <p:nvPr/>
        </p:nvSpPr>
        <p:spPr>
          <a:xfrm>
            <a:off x="6711696" y="3931920"/>
            <a:ext cx="1965960" cy="685800"/>
          </a:xfrm>
          <a:prstGeom prst="homePlate">
            <a:avLst/>
          </a:prstGeom>
          <a:solidFill>
            <a:schemeClr val="accent2"/>
          </a:solidFill>
          <a:ln w="12700">
            <a:solidFill>
              <a:schemeClr val="bg1"/>
            </a:solidFill>
            <a:prstDash val="solid"/>
          </a:ln>
        </p:spPr>
      </p:sp>
      <p:sp>
        <p:nvSpPr>
          <p:cNvPr id="15" name="text-400"/>
          <p:cNvSpPr txBox="1"/>
          <p:nvPr/>
        </p:nvSpPr>
        <p:spPr>
          <a:xfrm>
            <a:off x="6821424" y="3931920"/>
            <a:ext cx="1600200" cy="685800"/>
          </a:xfrm>
          <a:prstGeom prst="rect">
            <a:avLst/>
          </a:prstGeom>
          <a:noFill/>
          <a:ln/>
        </p:spPr>
        <p:txBody>
          <a:bodyPr wrap="square" lIns="0" tIns="0" rIns="0" bIns="0" rtlCol="0" anchor="ctr"/>
          <a:lstStyle/>
          <a:p>
            <a:pPr indent="0" marL="0">
              <a:buNone/>
            </a:pPr>
            <a:r>
              <a:rPr lang="en-US" sz="1300" b="1" dirty="0">
                <a:solidFill>
                  <a:schemeClr val="bg1"/>
                </a:solidFill>
              </a:rPr>
              <a:t>Finally: expert review</a:t>
            </a:r>
            <a:endParaRPr lang="en-US" sz="1300" dirty="0"/>
          </a:p>
        </p:txBody>
      </p:sp>
      <p:sp>
        <p:nvSpPr>
          <p:cNvPr id="25" name="Slide Number Placeholder 0"/>
          <p:cNvSpPr>
            <a:spLocks noGrp="1"/>
          </p:cNvSpPr>
          <p:nvPr>
            <p:ph type="sldNum" sz="quarter" idx="4294967295"/>
          </p:nvPr>
        </p:nvSpPr>
        <p:spPr>
          <a:xfrm>
            <a:off x="8229600" y="4828032"/>
            <a:ext cx="457200" cy="22860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defRPr>
            </a:lvl1pPr>
          </a:lstStyle>
          <a:p>
            <a:pPr algn="r"/>
            <a:fld id="{F7021451-1387-4CA6-816F-3879F97B5CBC}" type="slidenum">
              <a:rPr b="0" lang="en-US"/>
              <a:t>30</a:t>
            </a:fld>
            <a:endParaRPr lang="en-US"/>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name="Slide 31">
    <p:spTree>
      <p:nvGrpSpPr>
        <p:cNvPr id="1" name=""/>
        <p:cNvGrpSpPr/>
        <p:nvPr/>
      </p:nvGrpSpPr>
      <p:grpSpPr>
        <a:xfrm>
          <a:off x="0" y="0"/>
          <a:ext cx="0" cy="0"/>
          <a:chOff x="0" y="0"/>
          <a:chExt cx="0" cy="0"/>
        </a:xfrm>
      </p:grpSpPr>
      <p:sp>
        <p:nvSpPr>
          <p:cNvPr id="2" name="Text 0"/>
          <p:cNvSpPr/>
          <p:nvPr>
            <p:ph idx="100" type="title" hasCustomPrompt="1"/>
          </p:nvPr>
        </p:nvSpPr>
        <p:spPr>
          <a:xfrm>
            <a:off x="457200" y="256032"/>
            <a:ext cx="8229600" cy="685800"/>
          </a:xfrm>
          <a:prstGeom prst="rect">
            <a:avLst/>
          </a:prstGeom>
          <a:noFill/>
          <a:ln/>
        </p:spPr>
        <p:txBody>
          <a:bodyPr wrap="square" lIns="0" tIns="0" rIns="0" bIns="0" rtlCol="0" anchor="ctr"/>
          <a:lstStyle/>
          <a:p>
            <a:pPr algn="l" indent="0" marL="0">
              <a:buNone/>
            </a:pPr>
            <a:r>
              <a:rPr lang="en-US" sz="2800" b="1" dirty="0">
                <a:solidFill>
                  <a:schemeClr val="bg1"/>
                </a:solidFill>
              </a:rPr>
              <a:t>Takeaways</a:t>
            </a:r>
            <a:endParaRPr lang="en-US" sz="2800" dirty="0"/>
          </a:p>
        </p:txBody>
      </p:sp>
      <p:sp>
        <p:nvSpPr>
          <p:cNvPr id="4" name="card-401"/>
          <p:cNvSpPr/>
          <p:nvPr/>
        </p:nvSpPr>
        <p:spPr>
          <a:xfrm>
            <a:off x="457200" y="1143000"/>
            <a:ext cx="4023360" cy="1463040"/>
          </a:xfrm>
          <a:prstGeom prst="roundRect">
            <a:avLst>
              <a:gd name="adj" fmla="val 5000"/>
            </a:avLst>
          </a:prstGeom>
          <a:solidFill>
            <a:schemeClr val="tx2"/>
          </a:solidFill>
          <a:ln w="12700">
            <a:solidFill>
              <a:schemeClr val="tx2"/>
            </a:solidFill>
            <a:prstDash val="solid"/>
          </a:ln>
        </p:spPr>
      </p:sp>
      <p:sp>
        <p:nvSpPr>
          <p:cNvPr id="5" name="text-402"/>
          <p:cNvSpPr txBox="1"/>
          <p:nvPr/>
        </p:nvSpPr>
        <p:spPr>
          <a:xfrm>
            <a:off x="685800" y="1307592"/>
            <a:ext cx="3566160" cy="320040"/>
          </a:xfrm>
          <a:prstGeom prst="rect">
            <a:avLst/>
          </a:prstGeom>
          <a:noFill/>
          <a:ln/>
        </p:spPr>
        <p:txBody>
          <a:bodyPr wrap="square" lIns="0" tIns="0" rIns="0" bIns="0" rtlCol="0" anchor="t"/>
          <a:lstStyle/>
          <a:p>
            <a:pPr indent="0" marL="0">
              <a:buNone/>
            </a:pPr>
            <a:r>
              <a:rPr lang="en-US" sz="1700" b="1" dirty="0">
                <a:solidFill>
                  <a:schemeClr val="bg1"/>
                </a:solidFill>
                <a:latin typeface="Cambria" pitchFamily="34" charset="0"/>
                <a:ea typeface="Cambria" pitchFamily="34" charset="-122"/>
                <a:cs typeface="Cambria" pitchFamily="34" charset="-120"/>
              </a:rPr>
              <a:t>Honest data</a:t>
            </a:r>
            <a:endParaRPr lang="en-US" sz="1700" dirty="0"/>
          </a:p>
        </p:txBody>
      </p:sp>
      <p:sp>
        <p:nvSpPr>
          <p:cNvPr id="6" name="text-403"/>
          <p:cNvSpPr txBox="1"/>
          <p:nvPr/>
        </p:nvSpPr>
        <p:spPr>
          <a:xfrm>
            <a:off x="685800" y="1709928"/>
            <a:ext cx="3566160" cy="822960"/>
          </a:xfrm>
          <a:prstGeom prst="rect">
            <a:avLst/>
          </a:prstGeom>
          <a:noFill/>
          <a:ln/>
        </p:spPr>
        <p:txBody>
          <a:bodyPr wrap="square" lIns="0" tIns="0" rIns="0" bIns="0" rtlCol="0" anchor="t"/>
          <a:lstStyle/>
          <a:p>
            <a:pPr indent="0" marL="0">
              <a:buNone/>
            </a:pPr>
            <a:r>
              <a:rPr lang="en-US" sz="1400" dirty="0">
                <a:solidFill>
                  <a:schemeClr val="bg2"/>
                </a:solidFill>
              </a:rPr>
              <a:t>Found that 50% of files were duplicates, fixed it, retrained: 98.13% is the real number.</a:t>
            </a:r>
            <a:endParaRPr lang="en-US" sz="1400" dirty="0"/>
          </a:p>
        </p:txBody>
      </p:sp>
      <p:sp>
        <p:nvSpPr>
          <p:cNvPr id="7" name="card-404"/>
          <p:cNvSpPr/>
          <p:nvPr/>
        </p:nvSpPr>
        <p:spPr>
          <a:xfrm>
            <a:off x="4617720" y="1143000"/>
            <a:ext cx="4023360" cy="1463040"/>
          </a:xfrm>
          <a:prstGeom prst="roundRect">
            <a:avLst>
              <a:gd name="adj" fmla="val 5000"/>
            </a:avLst>
          </a:prstGeom>
          <a:solidFill>
            <a:schemeClr val="tx2"/>
          </a:solidFill>
          <a:ln w="12700">
            <a:solidFill>
              <a:schemeClr val="tx2"/>
            </a:solidFill>
            <a:prstDash val="solid"/>
          </a:ln>
        </p:spPr>
      </p:sp>
      <p:sp>
        <p:nvSpPr>
          <p:cNvPr id="8" name="text-405"/>
          <p:cNvSpPr txBox="1"/>
          <p:nvPr/>
        </p:nvSpPr>
        <p:spPr>
          <a:xfrm>
            <a:off x="4846320" y="1307592"/>
            <a:ext cx="3566160" cy="320040"/>
          </a:xfrm>
          <a:prstGeom prst="rect">
            <a:avLst/>
          </a:prstGeom>
          <a:noFill/>
          <a:ln/>
        </p:spPr>
        <p:txBody>
          <a:bodyPr wrap="square" lIns="0" tIns="0" rIns="0" bIns="0" rtlCol="0" anchor="t"/>
          <a:lstStyle/>
          <a:p>
            <a:pPr indent="0" marL="0">
              <a:buNone/>
            </a:pPr>
            <a:r>
              <a:rPr lang="en-US" sz="1700" b="1" dirty="0">
                <a:solidFill>
                  <a:schemeClr val="bg1"/>
                </a:solidFill>
                <a:latin typeface="Cambria" pitchFamily="34" charset="0"/>
                <a:ea typeface="Cambria" pitchFamily="34" charset="-122"/>
                <a:cs typeface="Cambria" pitchFamily="34" charset="-120"/>
              </a:rPr>
              <a:t>Small and accurate</a:t>
            </a:r>
            <a:endParaRPr lang="en-US" sz="1700" dirty="0"/>
          </a:p>
        </p:txBody>
      </p:sp>
      <p:sp>
        <p:nvSpPr>
          <p:cNvPr id="9" name="text-406"/>
          <p:cNvSpPr txBox="1"/>
          <p:nvPr/>
        </p:nvSpPr>
        <p:spPr>
          <a:xfrm>
            <a:off x="4846320" y="1709928"/>
            <a:ext cx="3566160" cy="822960"/>
          </a:xfrm>
          <a:prstGeom prst="rect">
            <a:avLst/>
          </a:prstGeom>
          <a:noFill/>
          <a:ln/>
        </p:spPr>
        <p:txBody>
          <a:bodyPr wrap="square" lIns="0" tIns="0" rIns="0" bIns="0" rtlCol="0" anchor="t"/>
          <a:lstStyle/>
          <a:p>
            <a:pPr indent="0" marL="0">
              <a:buNone/>
            </a:pPr>
            <a:r>
              <a:rPr lang="en-US" sz="1400" dirty="0">
                <a:solidFill>
                  <a:schemeClr val="bg2"/>
                </a:solidFill>
              </a:rPr>
              <a:t>EfficientNet-B0: 4.03 M parameters, 0.38 GFLOPs, 98.13% on unseen photos.</a:t>
            </a:r>
            <a:endParaRPr lang="en-US" sz="1400" dirty="0"/>
          </a:p>
        </p:txBody>
      </p:sp>
      <p:sp>
        <p:nvSpPr>
          <p:cNvPr id="10" name="card-407"/>
          <p:cNvSpPr/>
          <p:nvPr/>
        </p:nvSpPr>
        <p:spPr>
          <a:xfrm>
            <a:off x="457200" y="2743200"/>
            <a:ext cx="4023360" cy="1463040"/>
          </a:xfrm>
          <a:prstGeom prst="roundRect">
            <a:avLst>
              <a:gd name="adj" fmla="val 5000"/>
            </a:avLst>
          </a:prstGeom>
          <a:solidFill>
            <a:schemeClr val="tx2"/>
          </a:solidFill>
          <a:ln w="12700">
            <a:solidFill>
              <a:schemeClr val="tx2"/>
            </a:solidFill>
            <a:prstDash val="solid"/>
          </a:ln>
        </p:spPr>
      </p:sp>
      <p:sp>
        <p:nvSpPr>
          <p:cNvPr id="11" name="text-408"/>
          <p:cNvSpPr txBox="1"/>
          <p:nvPr/>
        </p:nvSpPr>
        <p:spPr>
          <a:xfrm>
            <a:off x="685800" y="2907792"/>
            <a:ext cx="3566160" cy="320040"/>
          </a:xfrm>
          <a:prstGeom prst="rect">
            <a:avLst/>
          </a:prstGeom>
          <a:noFill/>
          <a:ln/>
        </p:spPr>
        <p:txBody>
          <a:bodyPr wrap="square" lIns="0" tIns="0" rIns="0" bIns="0" rtlCol="0" anchor="t"/>
          <a:lstStyle/>
          <a:p>
            <a:pPr indent="0" marL="0">
              <a:buNone/>
            </a:pPr>
            <a:r>
              <a:rPr lang="en-US" sz="1700" b="1" dirty="0">
                <a:solidFill>
                  <a:schemeClr val="bg1"/>
                </a:solidFill>
                <a:latin typeface="Cambria" pitchFamily="34" charset="0"/>
                <a:ea typeface="Cambria" pitchFamily="34" charset="-122"/>
                <a:cs typeface="Cambria" pitchFamily="34" charset="-120"/>
              </a:rPr>
              <a:t>Explanations that are scored</a:t>
            </a:r>
            <a:endParaRPr lang="en-US" sz="1700" dirty="0"/>
          </a:p>
        </p:txBody>
      </p:sp>
      <p:sp>
        <p:nvSpPr>
          <p:cNvPr id="12" name="text-409"/>
          <p:cNvSpPr txBox="1"/>
          <p:nvPr/>
        </p:nvSpPr>
        <p:spPr>
          <a:xfrm>
            <a:off x="685800" y="3310128"/>
            <a:ext cx="3566160" cy="822960"/>
          </a:xfrm>
          <a:prstGeom prst="rect">
            <a:avLst/>
          </a:prstGeom>
          <a:noFill/>
          <a:ln/>
        </p:spPr>
        <p:txBody>
          <a:bodyPr wrap="square" lIns="0" tIns="0" rIns="0" bIns="0" rtlCol="0" anchor="t"/>
          <a:lstStyle/>
          <a:p>
            <a:pPr indent="0" marL="0">
              <a:buNone/>
            </a:pPr>
            <a:r>
              <a:rPr lang="en-US" sz="1400" dirty="0">
                <a:solidFill>
                  <a:schemeClr val="bg2"/>
                </a:solidFill>
              </a:rPr>
              <a:t>Seven engines compared with a random baseline on six metrics.</a:t>
            </a:r>
            <a:endParaRPr lang="en-US" sz="1400" dirty="0"/>
          </a:p>
        </p:txBody>
      </p:sp>
      <p:sp>
        <p:nvSpPr>
          <p:cNvPr id="13" name="card-410"/>
          <p:cNvSpPr/>
          <p:nvPr/>
        </p:nvSpPr>
        <p:spPr>
          <a:xfrm>
            <a:off x="4617720" y="2743200"/>
            <a:ext cx="4023360" cy="1463040"/>
          </a:xfrm>
          <a:prstGeom prst="roundRect">
            <a:avLst>
              <a:gd name="adj" fmla="val 5000"/>
            </a:avLst>
          </a:prstGeom>
          <a:solidFill>
            <a:schemeClr val="tx2"/>
          </a:solidFill>
          <a:ln w="12700">
            <a:solidFill>
              <a:schemeClr val="tx2"/>
            </a:solidFill>
            <a:prstDash val="solid"/>
          </a:ln>
        </p:spPr>
      </p:sp>
      <p:sp>
        <p:nvSpPr>
          <p:cNvPr id="14" name="text-411"/>
          <p:cNvSpPr txBox="1"/>
          <p:nvPr/>
        </p:nvSpPr>
        <p:spPr>
          <a:xfrm>
            <a:off x="4846320" y="2907792"/>
            <a:ext cx="3566160" cy="320040"/>
          </a:xfrm>
          <a:prstGeom prst="rect">
            <a:avLst/>
          </a:prstGeom>
          <a:noFill/>
          <a:ln/>
        </p:spPr>
        <p:txBody>
          <a:bodyPr wrap="square" lIns="0" tIns="0" rIns="0" bIns="0" rtlCol="0" anchor="t"/>
          <a:lstStyle/>
          <a:p>
            <a:pPr indent="0" marL="0">
              <a:buNone/>
            </a:pPr>
            <a:r>
              <a:rPr lang="en-US" sz="1700" b="1" dirty="0">
                <a:solidFill>
                  <a:schemeClr val="bg1"/>
                </a:solidFill>
                <a:latin typeface="Cambria" pitchFamily="34" charset="0"/>
                <a:ea typeface="Cambria" pitchFamily="34" charset="-122"/>
                <a:cs typeface="Cambria" pitchFamily="34" charset="-120"/>
              </a:rPr>
              <a:t>Calibrated confidence</a:t>
            </a:r>
            <a:endParaRPr lang="en-US" sz="1700" dirty="0"/>
          </a:p>
        </p:txBody>
      </p:sp>
      <p:sp>
        <p:nvSpPr>
          <p:cNvPr id="15" name="text-412"/>
          <p:cNvSpPr txBox="1"/>
          <p:nvPr/>
        </p:nvSpPr>
        <p:spPr>
          <a:xfrm>
            <a:off x="4846320" y="3310128"/>
            <a:ext cx="3566160" cy="822960"/>
          </a:xfrm>
          <a:prstGeom prst="rect">
            <a:avLst/>
          </a:prstGeom>
          <a:noFill/>
          <a:ln/>
        </p:spPr>
        <p:txBody>
          <a:bodyPr wrap="square" lIns="0" tIns="0" rIns="0" bIns="0" rtlCol="0" anchor="t"/>
          <a:lstStyle/>
          <a:p>
            <a:pPr indent="0" marL="0">
              <a:buNone/>
            </a:pPr>
            <a:r>
              <a:rPr lang="en-US" sz="1400" dirty="0">
                <a:solidFill>
                  <a:schemeClr val="bg2"/>
                </a:solidFill>
              </a:rPr>
              <a:t>Temperature scaling and MC-Dropout say how sure, and when not to trust.</a:t>
            </a:r>
            <a:endParaRPr lang="en-US" sz="1400" dirty="0"/>
          </a:p>
        </p:txBody>
      </p:sp>
      <p:sp>
        <p:nvSpPr>
          <p:cNvPr id="16" name="text-413"/>
          <p:cNvSpPr txBox="1"/>
          <p:nvPr/>
        </p:nvSpPr>
        <p:spPr>
          <a:xfrm>
            <a:off x="457200" y="4389120"/>
            <a:ext cx="8229600" cy="365760"/>
          </a:xfrm>
          <a:prstGeom prst="rect">
            <a:avLst/>
          </a:prstGeom>
          <a:noFill/>
          <a:ln/>
        </p:spPr>
        <p:txBody>
          <a:bodyPr wrap="square" lIns="0" tIns="0" rIns="0" bIns="0" rtlCol="0" anchor="t"/>
          <a:lstStyle/>
          <a:p>
            <a:pPr indent="0" marL="0">
              <a:buNone/>
            </a:pPr>
            <a:r>
              <a:rPr lang="en-US" sz="2000" b="1" dirty="0">
                <a:solidFill>
                  <a:schemeClr val="bg1"/>
                </a:solidFill>
              </a:rPr>
              <a:t>Thank you. Questions?</a:t>
            </a:r>
            <a:endParaRPr lang="en-US" sz="2000" dirty="0"/>
          </a:p>
        </p:txBody>
      </p:sp>
      <p:sp>
        <p:nvSpPr>
          <p:cNvPr id="25" name="Slide Number Placeholder 0"/>
          <p:cNvSpPr>
            <a:spLocks noGrp="1"/>
          </p:cNvSpPr>
          <p:nvPr>
            <p:ph type="sldNum" sz="quarter" idx="4294967295"/>
          </p:nvPr>
        </p:nvSpPr>
        <p:spPr>
          <a:xfrm>
            <a:off x="8229600" y="4828032"/>
            <a:ext cx="457200" cy="22860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defRPr>
            </a:lvl1pPr>
          </a:lstStyle>
          <a:p>
            <a:pPr algn="r"/>
            <a:fld id="{F7021451-1387-4CA6-816F-3879F97B5CBC}" type="slidenum">
              <a:rPr b="0" lang="en-US"/>
              <a:t>31</a:t>
            </a:fld>
            <a:endParaRPr lang="en-US"/>
          </a:p>
        </p:txBody>
      </p:sp>
    </p:spTree>
  </p:cSld>
  <p:clrMapOvr>
    <a:masterClrMapping/>
  </p:clrMapOvr>
</p:sld>
</file>

<file path=ppt/theme/theme1.xml><?xml version="1.0" encoding="utf-8"?>
<a:theme xmlns:a="http://schemas.openxmlformats.org/drawingml/2006/main" name="PhytoShield">
  <a:themeElements>
    <a:clrScheme name="PhytoShield">
      <a:dk1>
        <a:srgbClr val="13261C"/>
      </a:dk1>
      <a:lt1>
        <a:srgbClr val="FFFFFF"/>
      </a:lt1>
      <a:dk2>
        <a:srgbClr val="1F5F43"/>
      </a:dk2>
      <a:lt2>
        <a:srgbClr val="F1F6F3"/>
      </a:lt2>
      <a:accent1>
        <a:srgbClr val="1F8A5B"/>
      </a:accent1>
      <a:accent2>
        <a:srgbClr val="D99A16"/>
      </a:accent2>
      <a:accent3>
        <a:srgbClr val="2F7DA8"/>
      </a:accent3>
      <a:accent4>
        <a:srgbClr val="C94A36"/>
      </a:accent4>
      <a:accent5>
        <a:srgbClr val="6F58C2"/>
      </a:accent5>
      <a:accent6>
        <a:srgbClr val="6B7F75"/>
      </a:accent6>
      <a:hlink>
        <a:srgbClr val="1F8A5B"/>
      </a:hlink>
      <a:folHlink>
        <a:srgbClr val="6B7F75"/>
      </a:folHlink>
    </a:clrScheme>
    <a:fontScheme name="PhytoShield">
      <a:majorFont>
        <a:latin typeface="Cambria"/>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31</Slides>
  <Notes>31</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31</vt:i4>
      </vt:variant>
    </vt:vector>
  </HeadingPairs>
  <TitlesOfParts>
    <vt:vector size="34"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lpstr>Slide 27</vt:lpstr>
      <vt:lpstr>Slide 28</vt:lpstr>
      <vt:lpstr>Slide 29</vt:lpstr>
      <vt:lpstr>Slide 30</vt:lpstr>
      <vt:lpstr>Slide 31</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PhytoShield AI — Final Review</dc:title>
  <dc:subject>PptxGenJS Presentation</dc:subject>
  <dc:creator>Parth Sharma, Aarav Chatley</dc:creator>
  <cp:lastModifiedBy>Parth Sharma, Aarav Chatley</cp:lastModifiedBy>
  <cp:revision>1</cp:revision>
  <dcterms:created xsi:type="dcterms:W3CDTF">2026-10-26T09:36:08Z</dcterms:created>
  <dcterms:modified xsi:type="dcterms:W3CDTF">2026-10-26T09:36:08Z</dcterms:modified>
</cp:coreProperties>
</file>